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68" r:id="rId5"/>
    <p:sldId id="266" r:id="rId6"/>
    <p:sldId id="267" r:id="rId7"/>
    <p:sldId id="257" r:id="rId8"/>
    <p:sldId id="263" r:id="rId9"/>
    <p:sldId id="265" r:id="rId10"/>
    <p:sldId id="269" r:id="rId11"/>
    <p:sldId id="261" r:id="rId12"/>
    <p:sldId id="271" r:id="rId13"/>
    <p:sldId id="272" r:id="rId14"/>
    <p:sldId id="270" r:id="rId15"/>
    <p:sldId id="273" r:id="rId16"/>
    <p:sldId id="259" r:id="rId17"/>
    <p:sldId id="260" r:id="rId18"/>
    <p:sldId id="26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8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6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9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90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tags" Target="../tags/tag91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9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9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image" Target="../media/image19.png"/><Relationship Id="rId1" Type="http://schemas.openxmlformats.org/officeDocument/2006/relationships/tags" Target="../tags/tag9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10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7.xml"/><Relationship Id="rId7" Type="http://schemas.openxmlformats.org/officeDocument/2006/relationships/image" Target="../media/image14.png"/><Relationship Id="rId6" Type="http://schemas.openxmlformats.org/officeDocument/2006/relationships/tags" Target="../tags/tag10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27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28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28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29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image" Target="../media/image30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4737735"/>
            <a:ext cx="9799320" cy="1195070"/>
          </a:xfrm>
        </p:spPr>
        <p:txBody>
          <a:bodyPr>
            <a:normAutofit/>
          </a:bodyPr>
          <a:p>
            <a:endParaRPr lang="en-US" altLang="zh-CN" sz="16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" y="734695"/>
            <a:ext cx="11572875" cy="3543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0" y="4791710"/>
            <a:ext cx="6271895" cy="93535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预备概念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10970"/>
            <a:ext cx="10968990" cy="5304790"/>
          </a:xfrm>
        </p:spPr>
        <p:txBody>
          <a:bodyPr>
            <a:noAutofit/>
          </a:bodyPr>
          <a:p>
            <a:r>
              <a:rPr lang="en-US" altLang="zh-CN" sz="1400"/>
              <a:t>Multi-Agent Reinforcement Learning (</a:t>
            </a:r>
            <a:r>
              <a:rPr lang="zh-CN" altLang="en-US" sz="1400"/>
              <a:t>多智能体强化学习</a:t>
            </a:r>
            <a:r>
              <a:rPr lang="en-US" altLang="zh-CN" sz="1400" b="1">
                <a:sym typeface="+mn-ea"/>
              </a:rPr>
              <a:t>MARL</a:t>
            </a:r>
            <a:r>
              <a:rPr lang="en-US" altLang="zh-CN" sz="1400">
                <a:sym typeface="+mn-ea"/>
              </a:rPr>
              <a:t>)</a:t>
            </a:r>
            <a:endParaRPr lang="en-US" altLang="zh-CN" sz="1400"/>
          </a:p>
          <a:p>
            <a:r>
              <a:rPr lang="en-US" altLang="zh-CN" sz="1400"/>
              <a:t>The Centralized-Training Decentralized-Execution</a:t>
            </a:r>
            <a:r>
              <a:rPr lang="zh-CN" altLang="en-US" sz="1400"/>
              <a:t>（集中训练</a:t>
            </a:r>
            <a:r>
              <a:rPr lang="en-US" altLang="zh-CN" sz="1400"/>
              <a:t>-</a:t>
            </a:r>
            <a:r>
              <a:rPr lang="zh-CN" altLang="en-US" sz="1400"/>
              <a:t>去中心化执行</a:t>
            </a:r>
            <a:r>
              <a:rPr lang="en-US" altLang="zh-CN" sz="1400" b="1"/>
              <a:t>CTDE</a:t>
            </a:r>
            <a:r>
              <a:rPr lang="zh-CN" altLang="en-US" sz="1400"/>
              <a:t>）</a:t>
            </a:r>
            <a:r>
              <a:rPr lang="en-US" altLang="zh-CN" sz="1400"/>
              <a:t>——</a:t>
            </a:r>
            <a:r>
              <a:rPr lang="zh-CN" altLang="en-US" sz="1400"/>
              <a:t>实现</a:t>
            </a:r>
            <a:r>
              <a:rPr lang="en-US" altLang="zh-CN" sz="1400"/>
              <a:t>Multi-agent</a:t>
            </a:r>
            <a:r>
              <a:rPr lang="zh-CN" altLang="en-US" sz="1400" b="1">
                <a:solidFill>
                  <a:srgbClr val="FF0000"/>
                </a:solidFill>
              </a:rPr>
              <a:t>合作行为</a:t>
            </a:r>
            <a:r>
              <a:rPr lang="zh-CN" altLang="en-US" sz="1400"/>
              <a:t>的方法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  <a:p>
            <a:endParaRPr lang="en-US" altLang="zh-CN" sz="1400"/>
          </a:p>
          <a:p>
            <a:r>
              <a:rPr lang="en-US" altLang="zh-CN" sz="1400">
                <a:solidFill>
                  <a:schemeClr val="tx1"/>
                </a:solidFill>
              </a:rPr>
              <a:t>Critic</a:t>
            </a:r>
            <a:r>
              <a:rPr lang="zh-CN" altLang="en-US" sz="1400">
                <a:solidFill>
                  <a:schemeClr val="tx1"/>
                </a:solidFill>
              </a:rPr>
              <a:t>的输出用来指导</a:t>
            </a:r>
            <a:r>
              <a:rPr lang="en-US" altLang="zh-CN" sz="1400">
                <a:solidFill>
                  <a:schemeClr val="tx1"/>
                </a:solidFill>
              </a:rPr>
              <a:t>Policy</a:t>
            </a:r>
            <a:r>
              <a:rPr lang="zh-CN" altLang="en-US" sz="1400">
                <a:solidFill>
                  <a:schemeClr val="tx1"/>
                </a:solidFill>
              </a:rPr>
              <a:t>更新</a:t>
            </a:r>
            <a:endParaRPr lang="zh-CN" altLang="en-US" sz="1400">
              <a:solidFill>
                <a:schemeClr val="tx1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问题背景：</a:t>
            </a:r>
            <a:endParaRPr lang="zh-CN" altLang="en-US" sz="1400">
              <a:solidFill>
                <a:srgbClr val="FF0000"/>
              </a:solidFill>
            </a:endParaRPr>
          </a:p>
          <a:p>
            <a:pPr lvl="1"/>
            <a:r>
              <a:rPr lang="en-US" altLang="zh-CN" sz="1400">
                <a:solidFill>
                  <a:srgbClr val="FF0000"/>
                </a:solidFill>
              </a:rPr>
              <a:t>“credit assignment” problem</a:t>
            </a:r>
            <a:r>
              <a:rPr lang="zh-CN" altLang="en-US" sz="1400">
                <a:solidFill>
                  <a:srgbClr val="FF0000"/>
                </a:solidFill>
              </a:rPr>
              <a:t>信用分配问题：如何评估每个</a:t>
            </a:r>
            <a:r>
              <a:rPr lang="en-US" altLang="zh-CN" sz="1400">
                <a:solidFill>
                  <a:srgbClr val="FF0000"/>
                </a:solidFill>
              </a:rPr>
              <a:t>agent</a:t>
            </a:r>
            <a:r>
              <a:rPr lang="zh-CN" altLang="en-US" sz="1400">
                <a:solidFill>
                  <a:srgbClr val="FF0000"/>
                </a:solidFill>
              </a:rPr>
              <a:t>的行为对团队整体成败的贡献；</a:t>
            </a:r>
            <a:endParaRPr lang="zh-CN" altLang="en-US" sz="1400">
              <a:solidFill>
                <a:srgbClr val="FF0000"/>
              </a:solidFill>
            </a:endParaRPr>
          </a:p>
          <a:p>
            <a:pPr lvl="1"/>
            <a:r>
              <a:rPr lang="zh-CN" altLang="en-US" sz="1400">
                <a:solidFill>
                  <a:srgbClr val="FF0000"/>
                </a:solidFill>
              </a:rPr>
              <a:t>奖励稀疏问题</a:t>
            </a:r>
            <a:endParaRPr lang="zh-CN" altLang="en-US" sz="1400">
              <a:solidFill>
                <a:srgbClr val="FF0000"/>
              </a:solidFill>
            </a:endParaRPr>
          </a:p>
          <a:p>
            <a:endParaRPr lang="zh-CN" altLang="en-US" sz="14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590" y="2338705"/>
            <a:ext cx="3434080" cy="33013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690" y="2338705"/>
            <a:ext cx="4004310" cy="2921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9735" y="6040120"/>
            <a:ext cx="5215255" cy="81788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2922270" cy="4759325"/>
          </a:xfrm>
        </p:spPr>
        <p:txBody>
          <a:bodyPr/>
          <a:p>
            <a:r>
              <a:rPr lang="en-US" altLang="zh-CN" sz="1400" b="1"/>
              <a:t>Dec-POMDP</a:t>
            </a:r>
            <a:r>
              <a:rPr lang="zh-CN" altLang="en-US" sz="1400"/>
              <a:t>（分散式部分可观测马尔可夫决策过程）是一种</a:t>
            </a:r>
            <a:r>
              <a:rPr lang="en-US" altLang="zh-CN" sz="1400"/>
              <a:t> “</a:t>
            </a:r>
            <a:r>
              <a:rPr lang="zh-CN" altLang="en-US" sz="1400"/>
              <a:t>标准化的数学建模工具</a:t>
            </a:r>
            <a:r>
              <a:rPr lang="en-US" altLang="zh-CN" sz="1400"/>
              <a:t>”</a:t>
            </a:r>
            <a:r>
              <a:rPr lang="zh-CN" altLang="en-US" sz="1400"/>
              <a:t>，核心作用是把复杂的多智能体协作场景转化为可量化、可优化的数学问题。</a:t>
            </a:r>
            <a:endParaRPr lang="zh-CN" altLang="en-US" sz="1400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3881120" y="133350"/>
          <a:ext cx="7951470" cy="6591300"/>
        </p:xfrm>
        <a:graphic>
          <a:graphicData uri="http://schemas.openxmlformats.org/drawingml/2006/table">
            <a:tbl>
              <a:tblPr/>
              <a:tblGrid>
                <a:gridCol w="2650490"/>
                <a:gridCol w="2650490"/>
                <a:gridCol w="2650490"/>
              </a:tblGrid>
              <a:tr h="40576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多智能体场景中的实际概念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Dec-POMDP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中的数学符号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作用说明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所有智能体的 “能看到的信息”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联合观测空间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1×...×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ON</a:t>
                      </a:r>
                      <a:endParaRPr lang="en-US" altLang="zh-CN" sz="1000" b="0" i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定义每个智能体的局部观测范围（如机器人的摄像头数据）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所有智能体的 “真实状态”（含环境）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联合状态空间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1×...×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SN</a:t>
                      </a:r>
                      <a:endParaRPr lang="en-US" altLang="zh-CN" sz="1000" b="0" i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描述系统的客观完整信息（如机器人的电量、障碍物位置）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所有智能体的 “能做的动作”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联合动作空间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A=A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1×...×A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</a:t>
                      </a:r>
                      <a:endParaRPr lang="en-US" altLang="zh-CN" sz="1000" b="0" i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定义每个智能体的可执行动作（如 “前进”“抓取”）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智能体做动作后 “状态怎么变”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状态转移函数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×A→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endParaRPr lang="en-US" altLang="zh-CN" sz="1000" b="0" i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描述环境的动态规则（如机器人 “前进” 后位置更新）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20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 “看到的信息从哪来”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观测函数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endParaRPr lang="en-US" altLang="zh-CN" sz="1000" b="0" i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 “真实状态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智能体观测” 的映射（如电量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80%→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显示 “充足”）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 “完成任务拿到的奖励”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全局奖励函数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: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×A→R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量化协作结果的价值（如成功搬运得 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+ 100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智能体的 “决策规则”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b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联合策略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πθ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​=(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π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1,...,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πN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描述每个智能体 “观测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动作” 的决策逻辑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协作的 “最终目标”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优化目标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max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θ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​E(∑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ok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​,</a:t>
                      </a:r>
                      <a:r>
                        <a:rPr lang="en-US" altLang="zh-CN" sz="1000" b="0" i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ak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​))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定义训练方向：让团队累计奖励的期望最大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创新点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7275195" cy="4759325"/>
          </a:xfrm>
        </p:spPr>
        <p:txBody>
          <a:bodyPr>
            <a:normAutofit fontScale="90000" lnSpcReduction="10000"/>
          </a:bodyPr>
          <a:p>
            <a:r>
              <a:rPr lang="zh-CN" altLang="en-US"/>
              <a:t>论文提出：用</a:t>
            </a:r>
            <a:r>
              <a:rPr lang="en-US" altLang="zh-CN">
                <a:solidFill>
                  <a:srgbClr val="FF0000"/>
                </a:solidFill>
              </a:rPr>
              <a:t>LLM</a:t>
            </a:r>
            <a:r>
              <a:rPr lang="zh-CN" altLang="en-US"/>
              <a:t>来解决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“credit assignment” problem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信用分配问题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将</a:t>
            </a:r>
            <a:r>
              <a:rPr lang="zh-CN" altLang="en-US" b="1"/>
              <a:t>信用分配问题</a:t>
            </a:r>
            <a:r>
              <a:rPr lang="zh-CN" altLang="en-US"/>
              <a:t>转换成</a:t>
            </a:r>
            <a:r>
              <a:rPr lang="zh-CN" altLang="en-US" b="1">
                <a:solidFill>
                  <a:srgbClr val="FF0000"/>
                </a:solidFill>
              </a:rPr>
              <a:t>模式识别问题（</a:t>
            </a:r>
            <a:r>
              <a:rPr lang="en-US" altLang="zh-CN" b="1">
                <a:solidFill>
                  <a:srgbClr val="FF0000"/>
                </a:solidFill>
              </a:rPr>
              <a:t>LLM</a:t>
            </a:r>
            <a:r>
              <a:rPr lang="zh-CN" altLang="en-US" b="1">
                <a:solidFill>
                  <a:srgbClr val="FF0000"/>
                </a:solidFill>
              </a:rPr>
              <a:t>优势</a:t>
            </a:r>
            <a:r>
              <a:rPr lang="zh-CN" altLang="en-US" b="1">
                <a:solidFill>
                  <a:srgbClr val="FF0000"/>
                </a:solidFill>
              </a:rPr>
              <a:t>所在）</a:t>
            </a:r>
            <a:r>
              <a:rPr lang="zh-CN" altLang="en-US"/>
              <a:t>：</a:t>
            </a:r>
            <a:endParaRPr lang="zh-CN" altLang="en-US"/>
          </a:p>
          <a:p>
            <a:pPr lvl="1"/>
            <a:r>
              <a:rPr lang="en-US" altLang="zh-CN"/>
              <a:t>Sequence improvement</a:t>
            </a:r>
            <a:r>
              <a:rPr lang="zh-CN" altLang="en-US"/>
              <a:t>（序列改进）：分析动作序列，看如何提升整体团队表现。</a:t>
            </a:r>
            <a:endParaRPr lang="zh-CN" altLang="en-US"/>
          </a:p>
          <a:p>
            <a:pPr lvl="1"/>
            <a:r>
              <a:rPr lang="en-US" altLang="zh-CN"/>
              <a:t>Attribution</a:t>
            </a:r>
            <a:r>
              <a:rPr lang="zh-CN" altLang="en-US"/>
              <a:t>（归因）：分析每个</a:t>
            </a:r>
            <a:r>
              <a:rPr lang="en-US" altLang="zh-CN"/>
              <a:t> agent </a:t>
            </a:r>
            <a:r>
              <a:rPr lang="zh-CN" altLang="en-US"/>
              <a:t>的行为对团队奖励的贡献。</a:t>
            </a:r>
            <a:endParaRPr lang="zh-CN" altLang="en-US"/>
          </a:p>
          <a:p>
            <a:pPr lvl="1"/>
            <a:endParaRPr lang="zh-CN" altLang="en-US"/>
          </a:p>
          <a:p>
            <a:r>
              <a:rPr lang="zh-CN" altLang="en-US"/>
              <a:t>提出两个框架</a:t>
            </a:r>
            <a:r>
              <a:rPr lang="en-US" altLang="zh-CN" b="1">
                <a:solidFill>
                  <a:srgbClr val="FF0000"/>
                </a:solidFill>
              </a:rPr>
              <a:t>LLM-MCA</a:t>
            </a:r>
            <a:r>
              <a:rPr lang="zh-CN" altLang="en-US"/>
              <a:t>和</a:t>
            </a:r>
            <a:r>
              <a:rPr lang="en-US" altLang="zh-CN" b="1">
                <a:solidFill>
                  <a:srgbClr val="FF0000"/>
                </a:solidFill>
              </a:rPr>
              <a:t>LLM-TACA</a:t>
            </a:r>
            <a:endParaRPr lang="en-US" altLang="zh-CN" b="1">
              <a:solidFill>
                <a:srgbClr val="FF0000"/>
              </a:solidFill>
            </a:endParaRPr>
          </a:p>
          <a:p>
            <a:pPr lvl="1"/>
            <a:r>
              <a:rPr lang="en-US" altLang="zh-CN" b="1">
                <a:solidFill>
                  <a:srgbClr val="FF0000"/>
                </a:solidFill>
              </a:rPr>
              <a:t>LLM-MCA</a:t>
            </a:r>
            <a:r>
              <a:rPr lang="zh-CN" altLang="en-US" b="1">
                <a:solidFill>
                  <a:srgbClr val="FF0000"/>
                </a:solidFill>
              </a:rPr>
              <a:t>：</a:t>
            </a:r>
            <a:endParaRPr lang="zh-CN" altLang="en-US" b="1">
              <a:solidFill>
                <a:srgbClr val="FF0000"/>
              </a:solidFill>
            </a:endParaRPr>
          </a:p>
          <a:p>
            <a:pPr lvl="2"/>
            <a:r>
              <a:rPr lang="en-US">
                <a:solidFill>
                  <a:schemeClr val="tx1"/>
                </a:solidFill>
              </a:rPr>
              <a:t>LLM-Critic</a:t>
            </a:r>
            <a:r>
              <a:rPr lang="zh-CN" altLang="en-US">
                <a:solidFill>
                  <a:schemeClr val="tx1"/>
                </a:solidFill>
              </a:rPr>
              <a:t>根据每个</a:t>
            </a:r>
            <a:r>
              <a:rPr lang="en-US" altLang="zh-CN">
                <a:solidFill>
                  <a:schemeClr val="tx1"/>
                </a:solidFill>
              </a:rPr>
              <a:t>agent</a:t>
            </a:r>
            <a:r>
              <a:rPr lang="zh-CN" altLang="en-US">
                <a:solidFill>
                  <a:schemeClr val="tx1"/>
                </a:solidFill>
              </a:rPr>
              <a:t>在场景中的个体贡献对环境奖励进行数值分解。然后，根据这些反馈更新</a:t>
            </a:r>
            <a:r>
              <a:rPr lang="en-US" altLang="zh-CN">
                <a:solidFill>
                  <a:schemeClr val="tx1"/>
                </a:solidFill>
              </a:rPr>
              <a:t>agent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Policy.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 b="1">
                <a:solidFill>
                  <a:srgbClr val="FF0000"/>
                </a:solidFill>
              </a:rPr>
              <a:t>LLM-TACA</a:t>
            </a:r>
            <a:r>
              <a:rPr lang="zh-CN" altLang="en-US" b="1">
                <a:solidFill>
                  <a:srgbClr val="FF0000"/>
                </a:solidFill>
              </a:rPr>
              <a:t>：</a:t>
            </a:r>
            <a:endParaRPr lang="zh-CN" altLang="en-US" b="1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chemeClr val="tx1"/>
                </a:solidFill>
              </a:rPr>
              <a:t>扩展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，其中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sym typeface="+mn-ea"/>
              </a:rPr>
              <a:t>LLM-Critic</a:t>
            </a:r>
            <a:r>
              <a:rPr lang="zh-CN" altLang="en-US">
                <a:solidFill>
                  <a:schemeClr val="tx1"/>
                </a:solidFill>
              </a:rPr>
              <a:t>通过直接向场景中的每个代理策略传递一个中介目标来执行</a:t>
            </a:r>
            <a:r>
              <a:rPr lang="zh-CN" altLang="en-US" b="1">
                <a:solidFill>
                  <a:schemeClr val="tx1"/>
                </a:solidFill>
              </a:rPr>
              <a:t>显式任务分配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390" r="16164" b="-390"/>
          <a:stretch>
            <a:fillRect/>
          </a:stretch>
        </p:blipFill>
        <p:spPr>
          <a:xfrm>
            <a:off x="7883525" y="2011045"/>
            <a:ext cx="4308475" cy="37471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LLM-MCA: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/>
              <a:t>使用</a:t>
            </a:r>
            <a:r>
              <a:rPr lang="en-US" altLang="zh-CN"/>
              <a:t>LLM</a:t>
            </a:r>
            <a:r>
              <a:rPr lang="zh-CN" altLang="en-US"/>
              <a:t>作为</a:t>
            </a:r>
            <a:r>
              <a:rPr lang="en-US" altLang="zh-CN"/>
              <a:t>Centralized Critic</a:t>
            </a:r>
            <a:r>
              <a:rPr lang="zh-CN" altLang="en-US"/>
              <a:t>，并结合</a:t>
            </a:r>
            <a:r>
              <a:rPr lang="zh-CN" altLang="en-US" b="1"/>
              <a:t>环境的文本上下文</a:t>
            </a:r>
            <a:r>
              <a:rPr lang="zh-CN" altLang="en-US"/>
              <a:t>、</a:t>
            </a:r>
            <a:r>
              <a:rPr lang="zh-CN" altLang="en-US" b="1"/>
              <a:t>协议问题的定义</a:t>
            </a:r>
            <a:r>
              <a:rPr lang="zh-CN" altLang="en-US"/>
              <a:t>以及其</a:t>
            </a:r>
            <a:r>
              <a:rPr lang="zh-CN" altLang="en-US" b="1"/>
              <a:t>角色描述</a:t>
            </a:r>
            <a:r>
              <a:rPr lang="zh-CN" altLang="en-US"/>
              <a:t>来实例化它。然后，我们</a:t>
            </a:r>
            <a:r>
              <a:rPr lang="zh-CN" altLang="en-US" b="1">
                <a:solidFill>
                  <a:srgbClr val="FF0000"/>
                </a:solidFill>
              </a:rPr>
              <a:t>定期</a:t>
            </a:r>
            <a:r>
              <a:rPr lang="zh-CN" altLang="en-US"/>
              <a:t>向</a:t>
            </a:r>
            <a:r>
              <a:rPr lang="en-US" altLang="zh-CN">
                <a:sym typeface="+mn-ea"/>
              </a:rPr>
              <a:t>Critic</a:t>
            </a:r>
            <a:r>
              <a:rPr lang="zh-CN" altLang="en-US"/>
              <a:t>提供</a:t>
            </a:r>
            <a:r>
              <a:rPr lang="zh-CN" altLang="en-US" b="1"/>
              <a:t>联合观察、联合行动以及来自环境的全局奖励</a:t>
            </a:r>
            <a:r>
              <a:rPr lang="zh-CN" altLang="en-US"/>
              <a:t>。作为回报，我们的</a:t>
            </a:r>
            <a:r>
              <a:rPr lang="en-US" altLang="zh-CN"/>
              <a:t>LLM </a:t>
            </a:r>
            <a:r>
              <a:rPr lang="en-US" altLang="zh-CN">
                <a:sym typeface="+mn-ea"/>
              </a:rPr>
              <a:t>Centralized Critic</a:t>
            </a:r>
            <a:r>
              <a:rPr lang="zh-CN" altLang="en-US"/>
              <a:t>会为每位</a:t>
            </a:r>
            <a:r>
              <a:rPr lang="en-US" altLang="zh-CN"/>
              <a:t>agent</a:t>
            </a:r>
            <a:r>
              <a:rPr lang="zh-CN" altLang="en-US"/>
              <a:t>提供个性化的数值反馈和这些</a:t>
            </a:r>
            <a:r>
              <a:rPr lang="zh-CN" altLang="en-US"/>
              <a:t>反馈的解释。我们使用解析器函数，将</a:t>
            </a:r>
            <a:r>
              <a:rPr lang="en-US" altLang="zh-CN"/>
              <a:t>LLM</a:t>
            </a:r>
            <a:r>
              <a:rPr lang="zh-CN" altLang="en-US"/>
              <a:t>的反馈映射到轨迹中每个时间步的每个代理的数值奖励值。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LLM-TACA: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/>
              <a:t>扩展方法，调整了对</a:t>
            </a:r>
            <a:r>
              <a:rPr lang="en-US" altLang="zh-CN"/>
              <a:t>LLM</a:t>
            </a:r>
            <a:r>
              <a:rPr lang="zh-CN" altLang="en-US"/>
              <a:t>的查询以及解析器函数，使得在训练过程中，每个代理都能从</a:t>
            </a:r>
            <a:r>
              <a:rPr lang="en-US" altLang="zh-CN">
                <a:sym typeface="+mn-ea"/>
              </a:rPr>
              <a:t>LLM </a:t>
            </a:r>
            <a:r>
              <a:rPr lang="en-US" altLang="zh-CN">
                <a:sym typeface="+mn-ea"/>
              </a:rPr>
              <a:t>Centralized Criti</a:t>
            </a:r>
            <a:r>
              <a:rPr lang="zh-CN" altLang="en-US"/>
              <a:t>获得显式任务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4667885" cy="705485"/>
          </a:xfrm>
        </p:spPr>
        <p:txBody>
          <a:bodyPr>
            <a:noAutofit/>
          </a:bodyPr>
          <a:p>
            <a:r>
              <a:rPr lang="en-US" altLang="zh-CN" sz="2800"/>
              <a:t>LLM-MCA</a:t>
            </a:r>
            <a:r>
              <a:rPr lang="zh-CN" altLang="en-US" sz="2800"/>
              <a:t>和</a:t>
            </a:r>
            <a:r>
              <a:rPr lang="en-US" altLang="zh-CN" sz="2800"/>
              <a:t>LLM-TACA</a:t>
            </a:r>
            <a:r>
              <a:rPr lang="zh-CN" altLang="en-US" sz="2800"/>
              <a:t>方法的整体架构图</a:t>
            </a:r>
            <a:endParaRPr lang="zh-CN" alt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608330" y="1490345"/>
                <a:ext cx="4592320" cy="5264785"/>
              </a:xfrm>
            </p:spPr>
            <p:txBody>
              <a:bodyPr>
                <a:normAutofit fontScale="70000"/>
              </a:bodyPr>
              <a:p>
                <a:r>
                  <a:rPr lang="zh-CN" altLang="en-US"/>
                  <a:t>在</a:t>
                </a:r>
                <a:r>
                  <a:rPr lang="en-US" altLang="zh-CN"/>
                  <a:t> CTDE </a:t>
                </a:r>
                <a:r>
                  <a:rPr lang="zh-CN" altLang="en-US"/>
                  <a:t>框架下，每个</a:t>
                </a:r>
                <a:r>
                  <a:rPr lang="en-US" altLang="zh-CN"/>
                  <a:t> agent </a:t>
                </a:r>
                <a:r>
                  <a:rPr lang="zh-CN" altLang="en-US"/>
                  <a:t>仍然只基于自己的</a:t>
                </a:r>
                <a:r>
                  <a:rPr lang="en-US" altLang="zh-CN"/>
                  <a:t> observation </a:t>
                </a:r>
                <a:r>
                  <a:rPr lang="zh-CN" altLang="en-US"/>
                  <a:t>做决策；但在训练时，一个集中式的</a:t>
                </a:r>
                <a:r>
                  <a:rPr lang="en-US" altLang="zh-CN"/>
                  <a:t> LLM-Critic </a:t>
                </a:r>
                <a:r>
                  <a:rPr lang="zh-CN" altLang="en-US"/>
                  <a:t>回看整个轨迹，把</a:t>
                </a:r>
                <a:r>
                  <a:rPr lang="en-US" altLang="zh-CN"/>
                  <a:t>“</a:t>
                </a:r>
                <a:r>
                  <a:rPr lang="zh-CN" altLang="en-US"/>
                  <a:t>团队奖励</a:t>
                </a:r>
                <a:r>
                  <a:rPr lang="en-US" altLang="zh-CN"/>
                  <a:t>”</a:t>
                </a:r>
                <a:r>
                  <a:rPr lang="zh-CN" altLang="en-US"/>
                  <a:t>拆解成</a:t>
                </a:r>
                <a:r>
                  <a:rPr lang="en-US" altLang="zh-CN"/>
                  <a:t>“</a:t>
                </a:r>
                <a:r>
                  <a:rPr lang="zh-CN" altLang="en-US"/>
                  <a:t>每个</a:t>
                </a:r>
                <a:r>
                  <a:rPr lang="en-US" altLang="zh-CN"/>
                  <a:t> agent </a:t>
                </a:r>
                <a:r>
                  <a:rPr lang="zh-CN" altLang="en-US"/>
                  <a:t>各自的奖励</a:t>
                </a:r>
                <a:r>
                  <a:rPr lang="en-US" altLang="zh-CN"/>
                  <a:t>”</a:t>
                </a:r>
                <a:r>
                  <a:rPr lang="zh-CN" altLang="en-US"/>
                  <a:t>，再分别用来更新各自的策略。</a:t>
                </a:r>
                <a:endParaRPr lang="zh-CN" altLang="en-US"/>
              </a:p>
              <a:p>
                <a:r>
                  <a:rPr lang="zh-CN" altLang="en-US"/>
                  <a:t>每个</a:t>
                </a:r>
                <a:r>
                  <a:rPr lang="en-US" altLang="zh-CN"/>
                  <a:t>agent</a:t>
                </a:r>
                <a:r>
                  <a:rPr lang="zh-CN" altLang="en-US"/>
                  <a:t>：</a:t>
                </a:r>
                <a:endParaRPr lang="zh-CN" altLang="en-US"/>
              </a:p>
              <a:p>
                <a:pPr lvl="1"/>
                <a:r>
                  <a:rPr lang="en-US" altLang="zh-CN"/>
                  <a:t>observation</a:t>
                </a:r>
                <a:r>
                  <a:rPr lang="zh-CN" altLang="en-US"/>
                  <a:t>：观测（自身当前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/>
                  <a:t>）</a:t>
                </a:r>
                <a:endParaRPr lang="zh-CN" altLang="en-US"/>
              </a:p>
              <a:p>
                <a:pPr lvl="1"/>
                <a:r>
                  <a:rPr lang="en-US" altLang="zh-CN"/>
                  <a:t>policy</a:t>
                </a:r>
                <a:r>
                  <a:rPr lang="zh-CN" altLang="en-US"/>
                  <a:t>：根据当前观测决定动作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zh-CN" altLang="en-US"/>
              </a:p>
              <a:p>
                <a:pPr lvl="1"/>
                <a:r>
                  <a:rPr lang="en-US" altLang="zh-CN"/>
                  <a:t>reward</a:t>
                </a:r>
                <a:r>
                  <a:rPr lang="zh-CN" altLang="en-US"/>
                  <a:t>：执行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后得到的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individual feedback</a:t>
                </a:r>
                <a:endParaRPr lang="zh-CN" altLang="en-US"/>
              </a:p>
              <a:p>
                <a:endParaRPr lang="zh-CN" altLang="en-US"/>
              </a:p>
              <a:p>
                <a:r>
                  <a:rPr lang="en-US" altLang="zh-CN"/>
                  <a:t>GlobalReward</a:t>
                </a:r>
                <a:r>
                  <a:rPr lang="zh-CN" altLang="en-US"/>
                  <a:t>：</a:t>
                </a:r>
                <a:endParaRPr lang="zh-CN" altLang="en-US"/>
              </a:p>
              <a:p>
                <a:pPr lvl="1"/>
                <a:r>
                  <a:rPr lang="en-US" altLang="zh-CN"/>
                  <a:t>+5</a:t>
                </a:r>
                <a:endParaRPr lang="en-US" altLang="zh-CN"/>
              </a:p>
              <a:p>
                <a:r>
                  <a:rPr lang="en-US" altLang="zh-CN"/>
                  <a:t>LLM—Critic</a:t>
                </a:r>
                <a:r>
                  <a:rPr lang="zh-CN" altLang="en-US"/>
                  <a:t>：（</a:t>
                </a:r>
                <a:r>
                  <a:rPr lang="en-US" altLang="zh-CN" sz="1700" b="1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“Agreement Problem”</a:t>
                </a:r>
                <a:r>
                  <a:rPr lang="zh-CN" altLang="en-US" sz="1700" b="1">
                    <a:solidFill>
                      <a:schemeClr val="accen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协议</a:t>
                </a:r>
                <a:r>
                  <a:rPr lang="zh-CN" altLang="en-US"/>
                  <a:t>）</a:t>
                </a:r>
                <a:endParaRPr lang="zh-CN" altLang="en-US"/>
              </a:p>
              <a:p>
                <a:pPr lvl="1"/>
                <a:r>
                  <a:rPr lang="en-US" altLang="zh-CN"/>
                  <a:t>Agent A: +6</a:t>
                </a:r>
                <a:endParaRPr lang="en-US" altLang="zh-CN"/>
              </a:p>
              <a:p>
                <a:pPr lvl="1"/>
                <a:r>
                  <a:rPr lang="en-US" altLang="zh-CN"/>
                  <a:t>Agent B: +3</a:t>
                </a:r>
                <a:endParaRPr lang="en-US" altLang="zh-CN"/>
              </a:p>
              <a:p>
                <a:pPr lvl="1"/>
                <a:r>
                  <a:rPr lang="en-US" altLang="zh-CN"/>
                  <a:t>Agent C: -4</a:t>
                </a:r>
                <a:endParaRPr lang="zh-CN" altLang="en-US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608330" y="1490345"/>
                <a:ext cx="4592320" cy="5264785"/>
              </a:xfr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b="33559"/>
          <a:stretch>
            <a:fillRect/>
          </a:stretch>
        </p:blipFill>
        <p:spPr>
          <a:xfrm>
            <a:off x="5223510" y="0"/>
            <a:ext cx="6633210" cy="4590415"/>
          </a:xfrm>
          <a:prstGeom prst="rect">
            <a:avLst/>
          </a:prstGeom>
        </p:spPr>
      </p:pic>
      <p:sp>
        <p:nvSpPr>
          <p:cNvPr id="4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468620" y="4445635"/>
            <a:ext cx="6496685" cy="1901825"/>
          </a:xfrm>
          <a:prstGeom prst="rect">
            <a:avLst/>
          </a:prstGeom>
        </p:spPr>
        <p:txBody>
          <a:bodyPr vert="horz" lIns="90000" tIns="46800" rIns="90000" bIns="4680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>
                <a:sym typeface="+mn-ea"/>
              </a:rPr>
              <a:t>使用</a:t>
            </a:r>
            <a:r>
              <a:rPr lang="en-US" altLang="zh-CN" sz="1200">
                <a:sym typeface="+mn-ea"/>
              </a:rPr>
              <a:t>LLM</a:t>
            </a:r>
            <a:r>
              <a:rPr lang="zh-CN" altLang="en-US" sz="1200">
                <a:sym typeface="+mn-ea"/>
              </a:rPr>
              <a:t>作为</a:t>
            </a:r>
            <a:r>
              <a:rPr lang="en-US" altLang="zh-CN" sz="1200">
                <a:sym typeface="+mn-ea"/>
              </a:rPr>
              <a:t>Centralized Critic</a:t>
            </a:r>
            <a:r>
              <a:rPr lang="zh-CN" altLang="en-US" sz="1200">
                <a:sym typeface="+mn-ea"/>
              </a:rPr>
              <a:t>，并结合</a:t>
            </a:r>
            <a:r>
              <a:rPr lang="zh-CN" altLang="en-US" sz="1200" b="1">
                <a:sym typeface="+mn-ea"/>
              </a:rPr>
              <a:t>环境的文本上下文</a:t>
            </a:r>
            <a:r>
              <a:rPr lang="zh-CN" altLang="en-US" sz="1200">
                <a:sym typeface="+mn-ea"/>
              </a:rPr>
              <a:t>、</a:t>
            </a:r>
            <a:r>
              <a:rPr lang="zh-CN" altLang="en-US" sz="1200" b="1">
                <a:sym typeface="+mn-ea"/>
              </a:rPr>
              <a:t>协议问题的定义</a:t>
            </a:r>
            <a:r>
              <a:rPr lang="zh-CN" altLang="en-US" sz="1200">
                <a:sym typeface="+mn-ea"/>
              </a:rPr>
              <a:t>以及其</a:t>
            </a:r>
            <a:r>
              <a:rPr lang="zh-CN" altLang="en-US" sz="1200" b="1">
                <a:sym typeface="+mn-ea"/>
              </a:rPr>
              <a:t>角色描述</a:t>
            </a:r>
            <a:r>
              <a:rPr lang="zh-CN" altLang="en-US" sz="1200">
                <a:sym typeface="+mn-ea"/>
              </a:rPr>
              <a:t>来实例化它。然后，我们</a:t>
            </a:r>
            <a:r>
              <a:rPr lang="zh-CN" altLang="en-US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定期</a:t>
            </a:r>
            <a:r>
              <a:rPr lang="zh-CN" altLang="en-US" sz="1200">
                <a:sym typeface="+mn-ea"/>
              </a:rPr>
              <a:t>向</a:t>
            </a:r>
            <a:r>
              <a:rPr lang="en-US" altLang="zh-CN" sz="1200">
                <a:sym typeface="+mn-ea"/>
              </a:rPr>
              <a:t>Critic</a:t>
            </a:r>
            <a:r>
              <a:rPr lang="zh-CN" altLang="en-US" sz="1200">
                <a:sym typeface="+mn-ea"/>
              </a:rPr>
              <a:t>提供</a:t>
            </a:r>
            <a:r>
              <a:rPr lang="zh-CN" altLang="en-US" sz="1200" b="1">
                <a:sym typeface="+mn-ea"/>
              </a:rPr>
              <a:t>联合观察、联合行动以及来自环境的全局奖励</a:t>
            </a:r>
            <a:r>
              <a:rPr lang="zh-CN" altLang="en-US" sz="1200">
                <a:sym typeface="+mn-ea"/>
              </a:rPr>
              <a:t>。作为回报，我们的</a:t>
            </a:r>
            <a:r>
              <a:rPr lang="en-US" altLang="zh-CN" sz="1200">
                <a:sym typeface="+mn-ea"/>
              </a:rPr>
              <a:t>LLM </a:t>
            </a:r>
            <a:r>
              <a:rPr lang="en-US" altLang="zh-CN" sz="1200">
                <a:sym typeface="+mn-ea"/>
              </a:rPr>
              <a:t>Centralized Critic</a:t>
            </a:r>
            <a:r>
              <a:rPr lang="zh-CN" altLang="en-US" sz="1200">
                <a:sym typeface="+mn-ea"/>
              </a:rPr>
              <a:t>会为每个</a:t>
            </a:r>
            <a:r>
              <a:rPr lang="en-US" altLang="zh-CN" sz="1200">
                <a:sym typeface="+mn-ea"/>
              </a:rPr>
              <a:t>agent</a:t>
            </a:r>
            <a:r>
              <a:rPr lang="zh-CN" altLang="en-US" sz="1200">
                <a:sym typeface="+mn-ea"/>
              </a:rPr>
              <a:t>提供个性化的数值反馈和这些反馈的解释（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“Agreement Problem”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协议</a:t>
            </a:r>
            <a:r>
              <a:rPr lang="zh-CN" altLang="en-US" sz="1200">
                <a:sym typeface="+mn-ea"/>
              </a:rPr>
              <a:t>）。我们使用解析器函数，将</a:t>
            </a:r>
            <a:r>
              <a:rPr lang="en-US" altLang="zh-CN" sz="1200">
                <a:sym typeface="+mn-ea"/>
              </a:rPr>
              <a:t>LLM</a:t>
            </a:r>
            <a:r>
              <a:rPr lang="zh-CN" altLang="en-US" sz="1200">
                <a:sym typeface="+mn-ea"/>
              </a:rPr>
              <a:t>的反馈映射到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轨迹中每个时间步的每个代理的数值奖励值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1200">
                <a:sym typeface="+mn-ea"/>
              </a:rPr>
              <a:t>扩展方法，调整了对</a:t>
            </a:r>
            <a:r>
              <a:rPr lang="en-US" altLang="zh-CN" sz="1200">
                <a:sym typeface="+mn-ea"/>
              </a:rPr>
              <a:t>LLM</a:t>
            </a:r>
            <a:r>
              <a:rPr lang="zh-CN" altLang="en-US" sz="1200">
                <a:sym typeface="+mn-ea"/>
              </a:rPr>
              <a:t>的查询以及解析器函数，使得在训练过程中，每个</a:t>
            </a:r>
            <a:r>
              <a:rPr lang="en-US" altLang="zh-CN" sz="1200">
                <a:sym typeface="+mn-ea"/>
              </a:rPr>
              <a:t>agent</a:t>
            </a:r>
            <a:r>
              <a:rPr lang="zh-CN" altLang="en-US" sz="1200">
                <a:sym typeface="+mn-ea"/>
              </a:rPr>
              <a:t>都能从</a:t>
            </a:r>
            <a:r>
              <a:rPr lang="en-US" altLang="zh-CN" sz="1200">
                <a:sym typeface="+mn-ea"/>
              </a:rPr>
              <a:t>LLM Centralized Criti</a:t>
            </a:r>
            <a:r>
              <a:rPr lang="zh-CN" altLang="en-US" sz="1200">
                <a:sym typeface="+mn-ea"/>
              </a:rPr>
              <a:t>获得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显式任务</a:t>
            </a:r>
            <a:endParaRPr lang="zh-CN" altLang="en-US" sz="120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5349875"/>
            <a:ext cx="10968990" cy="1430655"/>
          </a:xfrm>
        </p:spPr>
        <p:txBody>
          <a:bodyPr>
            <a:normAutofit fontScale="80000"/>
          </a:bodyPr>
          <a:p>
            <a:r>
              <a:rPr lang="zh-CN" altLang="en-US" sz="1600">
                <a:sym typeface="+mn-ea"/>
              </a:rPr>
              <a:t>训练一组</a:t>
            </a:r>
            <a:r>
              <a:rPr lang="zh-CN" altLang="en-US" sz="1600" b="1">
                <a:sym typeface="+mn-ea"/>
              </a:rPr>
              <a:t>去中心化的智能体策略</a:t>
            </a:r>
            <a:r>
              <a:rPr lang="zh-CN" altLang="en-US" sz="1600">
                <a:sym typeface="+mn-ea"/>
              </a:rPr>
              <a:t>（</a:t>
            </a:r>
            <a:r>
              <a:rPr lang="en-US" altLang="zh-CN" sz="1600">
                <a:sym typeface="+mn-ea"/>
              </a:rPr>
              <a:t>Final Decentralized Policies</a:t>
            </a:r>
            <a:r>
              <a:rPr lang="zh-CN" altLang="en-US" sz="1600">
                <a:sym typeface="+mn-ea"/>
              </a:rPr>
              <a:t>），使得它们在部署时，每个智能体只需依赖自己的局部观测就能做出最优决策，但</a:t>
            </a:r>
            <a:r>
              <a:rPr lang="zh-CN" altLang="en-US" sz="1600" b="1">
                <a:sym typeface="+mn-ea"/>
              </a:rPr>
              <a:t>训练过程是中心化的</a:t>
            </a:r>
            <a:r>
              <a:rPr lang="zh-CN" altLang="en-US" sz="1600">
                <a:sym typeface="+mn-ea"/>
              </a:rPr>
              <a:t>，由一个</a:t>
            </a:r>
            <a:r>
              <a:rPr lang="en-US" altLang="zh-CN" sz="1600">
                <a:sym typeface="+mn-ea"/>
              </a:rPr>
              <a:t>LLM-Critic</a:t>
            </a:r>
            <a:r>
              <a:rPr lang="zh-CN" altLang="en-US" sz="1600">
                <a:sym typeface="+mn-ea"/>
              </a:rPr>
              <a:t>提供指导：</a:t>
            </a:r>
            <a:endParaRPr lang="zh-CN" altLang="en-US" sz="1600"/>
          </a:p>
          <a:p>
            <a:r>
              <a:rPr lang="zh-CN" altLang="en-US" sz="1600"/>
              <a:t>集中式训练过程允许</a:t>
            </a:r>
            <a:r>
              <a:rPr lang="zh-CN" altLang="en-US" sz="1600" b="1">
                <a:solidFill>
                  <a:srgbClr val="FF0000"/>
                </a:solidFill>
              </a:rPr>
              <a:t>一次性向</a:t>
            </a:r>
            <a:r>
              <a:rPr lang="en-US" altLang="zh-CN" sz="1600" b="1">
                <a:solidFill>
                  <a:srgbClr val="FF0000"/>
                </a:solidFill>
              </a:rPr>
              <a:t>LLM - critic</a:t>
            </a:r>
            <a:r>
              <a:rPr lang="zh-CN" altLang="en-US" sz="1600" b="1">
                <a:solidFill>
                  <a:srgbClr val="FF0000"/>
                </a:solidFill>
              </a:rPr>
              <a:t>提供整批轨迹</a:t>
            </a:r>
            <a:r>
              <a:rPr lang="en-US" altLang="zh-CN" sz="1600"/>
              <a:t>，LLM-critic</a:t>
            </a:r>
            <a:r>
              <a:rPr lang="zh-CN" altLang="en-US" sz="1600"/>
              <a:t>为每个</a:t>
            </a:r>
            <a:r>
              <a:rPr lang="en-US" altLang="zh-CN" sz="1600"/>
              <a:t>agent</a:t>
            </a:r>
            <a:r>
              <a:rPr lang="zh-CN" altLang="en-US" sz="1600"/>
              <a:t>生成个性化的反馈，用这些反馈来更新他们的政策。经过培训后，不再需要</a:t>
            </a:r>
            <a:r>
              <a:rPr lang="en-US" altLang="zh-CN" sz="1600"/>
              <a:t>LLM - critic</a:t>
            </a:r>
            <a:r>
              <a:rPr lang="zh-CN" altLang="en-US" sz="1600"/>
              <a:t>，直接部署经过培训的、分散的</a:t>
            </a:r>
            <a:r>
              <a:rPr lang="en-US" altLang="zh-CN" sz="1600"/>
              <a:t>agent-plicy</a:t>
            </a:r>
            <a:r>
              <a:rPr lang="zh-CN" altLang="en-US" sz="1600"/>
              <a:t>政策。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608330"/>
            <a:ext cx="11075670" cy="4531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700" y="2205355"/>
            <a:ext cx="866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定期</a:t>
            </a:r>
            <a:endParaRPr lang="zh-CN" altLang="en-US" sz="2000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6149975" cy="705485"/>
          </a:xfrm>
        </p:spPr>
        <p:txBody>
          <a:bodyPr/>
          <a:p>
            <a:r>
              <a:rPr lang="zh-CN" altLang="en-US" sz="2800">
                <a:sym typeface="+mn-ea"/>
              </a:rPr>
              <a:t>训练</a:t>
            </a:r>
            <a:r>
              <a:rPr lang="zh-CN" altLang="en-US" sz="2800" b="1">
                <a:sym typeface="+mn-ea"/>
              </a:rPr>
              <a:t>去中心化的智能体策略</a:t>
            </a:r>
            <a:endParaRPr lang="zh-CN" altLang="en-US" sz="2800" b="1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6160770" y="99060"/>
                <a:ext cx="6127115" cy="6631305"/>
              </a:xfrm>
            </p:spPr>
            <p:txBody>
              <a:bodyPr>
                <a:noAutofit/>
              </a:bodyPr>
              <a:p>
                <a:r>
                  <a:rPr lang="en-US" altLang="zh-CN" sz="1200"/>
                  <a:t>1. </a:t>
                </a:r>
                <a:r>
                  <a:rPr lang="zh-CN" altLang="en-US" sz="1200"/>
                  <a:t>初始化策略（默认的去中心化策略网络，基于</a:t>
                </a:r>
                <a:r>
                  <a:rPr lang="en-US" altLang="zh-CN" sz="1200"/>
                  <a:t> </a:t>
                </a:r>
                <a:r>
                  <a:rPr lang="en-US" altLang="zh-CN" sz="1200" b="1"/>
                  <a:t>Double DQN </a:t>
                </a:r>
                <a:r>
                  <a:rPr lang="zh-CN" altLang="en-US" sz="1200"/>
                  <a:t>的</a:t>
                </a:r>
                <a:r>
                  <a:rPr lang="en-US" altLang="zh-CN" sz="1200"/>
                  <a:t> Q </a:t>
                </a:r>
                <a:r>
                  <a:rPr lang="zh-CN" altLang="en-US" sz="1200"/>
                  <a:t>网络）</a:t>
                </a:r>
                <a:endParaRPr lang="zh-CN" altLang="en-US" sz="1200"/>
              </a:p>
              <a:p>
                <a:r>
                  <a:rPr lang="en-US" altLang="zh-CN" sz="1200"/>
                  <a:t>2. </a:t>
                </a:r>
                <a:r>
                  <a:rPr lang="zh-CN" altLang="en-US" sz="1200"/>
                  <a:t>执行多轮交互</a:t>
                </a:r>
                <a:endParaRPr lang="zh-CN" altLang="en-US" sz="1200"/>
              </a:p>
              <a:p>
                <a:pPr lvl="1"/>
                <a:r>
                  <a:rPr lang="zh-CN" altLang="en-US" sz="1065"/>
                  <a:t>在环境中运行多个</a:t>
                </a:r>
                <a:r>
                  <a:rPr lang="en-US" altLang="zh-CN" sz="1065"/>
                  <a:t> episode</a:t>
                </a:r>
                <a:r>
                  <a:rPr lang="zh-CN" altLang="en-US" sz="1065"/>
                  <a:t>（例如</a:t>
                </a:r>
                <a:r>
                  <a:rPr lang="en-US" altLang="zh-CN" sz="1065"/>
                  <a:t> 50 </a:t>
                </a:r>
                <a:r>
                  <a:rPr lang="zh-CN" altLang="en-US" sz="1065"/>
                  <a:t>个</a:t>
                </a:r>
                <a:r>
                  <a:rPr lang="en-US" altLang="zh-CN" sz="1065"/>
                  <a:t> episode</a:t>
                </a:r>
                <a:r>
                  <a:rPr lang="zh-CN" altLang="en-US" sz="1065"/>
                  <a:t>）；</a:t>
                </a:r>
                <a:endParaRPr lang="zh-CN" altLang="en-US" sz="1065"/>
              </a:p>
              <a:p>
                <a:pPr lvl="1"/>
                <a:r>
                  <a:rPr lang="zh-CN" altLang="en-US" sz="1065"/>
                  <a:t>每个</a:t>
                </a:r>
                <a:r>
                  <a:rPr lang="en-US" altLang="zh-CN" sz="1065"/>
                  <a:t> episode </a:t>
                </a:r>
                <a:r>
                  <a:rPr lang="zh-CN" altLang="en-US" sz="1065"/>
                  <a:t>包含</a:t>
                </a:r>
                <a:r>
                  <a:rPr lang="en-US" altLang="zh-CN" sz="1065"/>
                  <a:t> T=25 </a:t>
                </a:r>
                <a:r>
                  <a:rPr lang="zh-CN" altLang="en-US" sz="1065"/>
                  <a:t>时间步；</a:t>
                </a:r>
                <a:endParaRPr lang="zh-CN" altLang="en-US" sz="1065"/>
              </a:p>
              <a:p>
                <a:pPr lvl="1"/>
                <a:r>
                  <a:rPr lang="zh-CN" altLang="en-US" sz="1065"/>
                  <a:t>每一步</a:t>
                </a:r>
                <a:r>
                  <a:rPr lang="en-US" altLang="zh-CN" sz="1065"/>
                  <a:t>k</a:t>
                </a:r>
                <a:r>
                  <a:rPr lang="zh-CN" altLang="en-US" sz="1065"/>
                  <a:t>，每个智能体</a:t>
                </a:r>
                <a:r>
                  <a:rPr lang="en-US" altLang="zh-CN" sz="1065"/>
                  <a:t>i</a:t>
                </a:r>
                <a:r>
                  <a:rPr lang="zh-CN" altLang="en-US" sz="1065"/>
                  <a:t>根据其局部观测（</a:t>
                </a:r>
                <a:r>
                  <a:rPr lang="en-US" altLang="zh-CN" sz="1065"/>
                  <a:t>observation</a:t>
                </a:r>
                <a:r>
                  <a:rPr lang="zh-CN" altLang="en-US" sz="1065"/>
                  <a:t>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</m:t>
                        </m:r>
                      </m:e>
                      <m:sub>
                        <m: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选择（</a:t>
                </a:r>
                <a:r>
                  <a:rPr lang="en-US" altLang="zh-CN" sz="1065">
                    <a:latin typeface="Cambria Math" panose="02040503050406030204" charset="0"/>
                    <a:cs typeface="Cambria Math" panose="02040503050406030204" charset="0"/>
                  </a:rPr>
                  <a:t>action</a:t>
                </a:r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1065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p>
                    </m:sSubSup>
                  </m:oMath>
                </a14:m>
                <a:endParaRPr lang="en-US" altLang="zh-CN" sz="1065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环境返回：</a:t>
                </a:r>
                <a:endParaRPr lang="zh-CN" altLang="en-US" sz="1065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3. 50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条轨迹构成一个批次</a:t>
                </a:r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batch</a:t>
                </a:r>
                <a:endParaRPr lang="en-US" altLang="zh-CN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4. 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将整个批次</a:t>
                </a:r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+BasePrompt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输入</a:t>
                </a:r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LLM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（</a:t>
                </a:r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Gemma-7B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），</a:t>
                </a:r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LLM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回溯分析每条轨迹，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输出：</a:t>
                </a:r>
                <a:endParaRPr lang="zh-CN" altLang="en-US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endParaRPr lang="zh-CN" altLang="en-US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r>
                  <a:rPr lang="en-US" altLang="zh-CN" sz="1200">
                    <a:latin typeface="Cambria Math" panose="02040503050406030204" charset="0"/>
                    <a:cs typeface="Cambria Math" panose="02040503050406030204" charset="0"/>
                  </a:rPr>
                  <a:t>5.</a:t>
                </a:r>
                <a:r>
                  <a:rPr lang="zh-CN" altLang="en-US" sz="1200">
                    <a:latin typeface="Cambria Math" panose="02040503050406030204" charset="0"/>
                    <a:cs typeface="Cambria Math" panose="02040503050406030204" charset="0"/>
                  </a:rPr>
                  <a:t>更新策略</a:t>
                </a:r>
                <a:endParaRPr lang="zh-CN" altLang="en-US" sz="12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解析器（</a:t>
                </a:r>
                <a:r>
                  <a:rPr lang="en-US" altLang="zh-CN" sz="1065">
                    <a:latin typeface="Cambria Math" panose="02040503050406030204" charset="0"/>
                    <a:cs typeface="Cambria Math" panose="02040503050406030204" charset="0"/>
                  </a:rPr>
                  <a:t>Parser</a:t>
                </a:r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）从</a:t>
                </a:r>
                <a:r>
                  <a:rPr lang="en-US" altLang="zh-CN" sz="1065">
                    <a:latin typeface="Cambria Math" panose="02040503050406030204" charset="0"/>
                    <a:cs typeface="Cambria Math" panose="02040503050406030204" charset="0"/>
                  </a:rPr>
                  <a:t> LLM </a:t>
                </a:r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输出中提取数值信用；</a:t>
                </a:r>
                <a:endParaRPr lang="zh-CN" altLang="en-US" sz="1065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r>
                  <a:rPr lang="zh-CN" altLang="en-US" sz="1065">
                    <a:latin typeface="Cambria Math" panose="02040503050406030204" charset="0"/>
                    <a:cs typeface="Cambria Math" panose="02040503050406030204" charset="0"/>
                  </a:rPr>
                  <a:t>用这些信用作为稠密奖励信号，更新每个智能体的策略网络；</a:t>
                </a:r>
                <a:endParaRPr lang="zh-CN" altLang="en-US" sz="1065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r>
                  <a:rPr lang="zh-CN" altLang="en-US" sz="1065" b="1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注意：更新是批量进行的，不是每步更新。</a:t>
                </a:r>
                <a:endParaRPr lang="zh-CN" altLang="en-US" sz="1065" b="1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28600" lvl="0" indent="-228600">
                  <a:buFont typeface="Arial" panose="020B0604020202020204" pitchFamily="34" charset="0"/>
                  <a:buChar char="●"/>
                </a:pPr>
                <a:r>
                  <a:rPr lang="en-US" altLang="zh-CN" sz="12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6. </a:t>
                </a:r>
                <a:r>
                  <a:rPr lang="zh-CN" altLang="en-US" sz="1200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重复循环</a:t>
                </a:r>
                <a:endParaRPr lang="zh-CN" altLang="en-US" sz="1200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685800" lvl="1" indent="-228600">
                  <a:buFont typeface="Arial" panose="020B0604020202020204" pitchFamily="34" charset="0"/>
                  <a:buChar char="●"/>
                </a:pPr>
                <a:r>
                  <a:rPr lang="zh-CN" altLang="en-US" sz="1065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用更新后的策略，再次执行多轮</a:t>
                </a:r>
                <a:r>
                  <a:rPr lang="en-US" altLang="zh-CN" sz="1065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episode</a:t>
                </a:r>
                <a:r>
                  <a:rPr lang="zh-CN" altLang="en-US" sz="1065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，生成新</a:t>
                </a:r>
                <a:r>
                  <a:rPr lang="en-US" altLang="zh-CN" sz="1065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batch</a:t>
                </a:r>
                <a:r>
                  <a:rPr lang="zh-CN" altLang="en-US" sz="1065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；</a:t>
                </a:r>
                <a:endParaRPr lang="zh-CN" altLang="en-US" sz="1065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685800" lvl="1" indent="-228600">
                  <a:buFont typeface="Arial" panose="020B0604020202020204" pitchFamily="34" charset="0"/>
                  <a:buChar char="●"/>
                </a:pPr>
                <a:r>
                  <a:rPr lang="zh-CN" altLang="en-US" sz="1065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如此循环，直到策略收敛。</a:t>
                </a:r>
                <a:endParaRPr lang="zh-CN" altLang="en-US" sz="1065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6160770" y="99060"/>
                <a:ext cx="6127115" cy="6631305"/>
              </a:xfrm>
              <a:blipFill rotWithShape="1">
                <a:blip r:embed="rId4"/>
                <a:stretch>
                  <a:fillRect r="-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6502" r="45895" b="26457"/>
          <a:stretch>
            <a:fillRect/>
          </a:stretch>
        </p:blipFill>
        <p:spPr>
          <a:xfrm>
            <a:off x="182245" y="1610995"/>
            <a:ext cx="5751830" cy="36360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935" y="1867535"/>
            <a:ext cx="3853815" cy="13131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1415" y="3965575"/>
            <a:ext cx="4301490" cy="80454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" y="2486660"/>
            <a:ext cx="8041005" cy="2330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735" y="1906270"/>
            <a:ext cx="5215255" cy="817880"/>
          </a:xfrm>
          <a:prstGeom prst="rect">
            <a:avLst/>
          </a:prstGeom>
          <a:ln w="28575" cmpd="thickThin">
            <a:solidFill>
              <a:schemeClr val="accent1">
                <a:shade val="50000"/>
              </a:schemeClr>
            </a:solidFill>
            <a:prstDash val="sysDot"/>
          </a:ln>
        </p:spPr>
      </p:pic>
      <p:sp>
        <p:nvSpPr>
          <p:cNvPr id="7" name="文本框 6"/>
          <p:cNvSpPr txBox="1"/>
          <p:nvPr/>
        </p:nvSpPr>
        <p:spPr>
          <a:xfrm>
            <a:off x="6904355" y="4949190"/>
            <a:ext cx="5156835" cy="737235"/>
          </a:xfrm>
          <a:prstGeom prst="rect">
            <a:avLst/>
          </a:prstGeom>
          <a:ln w="22225">
            <a:solidFill>
              <a:schemeClr val="accent1"/>
            </a:solidFill>
            <a:prstDash val="dash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观察智能体的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全局奖励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序列，判断每个智能体对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团队共识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的贡献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促进共识的智能体分高信用，破坏共识的分低信用。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箭头连接符 7"/>
          <p:cNvCxnSpPr>
            <a:stCxn id="6" idx="2"/>
          </p:cNvCxnSpPr>
          <p:nvPr/>
        </p:nvCxnSpPr>
        <p:spPr>
          <a:xfrm>
            <a:off x="9377680" y="2724150"/>
            <a:ext cx="9525" cy="2092960"/>
          </a:xfrm>
          <a:prstGeom prst="straightConnector1">
            <a:avLst/>
          </a:prstGeom>
          <a:ln w="31750">
            <a:solidFill>
              <a:srgbClr val="FF0000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66750" y="762000"/>
            <a:ext cx="8293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协议</a:t>
            </a:r>
            <a:endParaRPr lang="zh-CN" altLang="en-US" sz="2000" b="1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2400"/>
              <a:t>BasePrompt</a:t>
            </a:r>
            <a:endParaRPr lang="en-US" altLang="zh-CN" sz="2400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1485" y="3184525"/>
            <a:ext cx="5116830" cy="35128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rcRect t="77870"/>
          <a:stretch>
            <a:fillRect/>
          </a:stretch>
        </p:blipFill>
        <p:spPr>
          <a:xfrm>
            <a:off x="532130" y="1490345"/>
            <a:ext cx="4955540" cy="1517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8490" y="0"/>
            <a:ext cx="6372860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756920"/>
            <a:ext cx="10968990" cy="5492750"/>
          </a:xfrm>
        </p:spPr>
        <p:txBody>
          <a:bodyPr/>
          <a:p>
            <a:r>
              <a:rPr lang="en-US" altLang="zh-CN" b="1">
                <a:sym typeface="+mn-ea"/>
              </a:rPr>
              <a:t>Environment Information</a:t>
            </a: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145" y="3744595"/>
            <a:ext cx="9534525" cy="2505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421765"/>
            <a:ext cx="6126480" cy="21437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805180"/>
            <a:ext cx="10968990" cy="5444490"/>
          </a:xfrm>
        </p:spPr>
        <p:txBody>
          <a:bodyPr/>
          <a:p>
            <a:r>
              <a:rPr lang="en-US" altLang="zh-CN" b="1"/>
              <a:t>Input Description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4650740"/>
            <a:ext cx="9248775" cy="208597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3333115" y="271780"/>
          <a:ext cx="8736330" cy="4251325"/>
        </p:xfrm>
        <a:graphic>
          <a:graphicData uri="http://schemas.openxmlformats.org/drawingml/2006/table">
            <a:tbl>
              <a:tblPr/>
              <a:tblGrid>
                <a:gridCol w="4368165"/>
                <a:gridCol w="4368165"/>
              </a:tblGrid>
              <a:tr h="83693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每个时间步，会给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LLM “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全局奖励” 和名为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observations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numpy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数组（全局观测）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每一步都会告诉你：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团队当前拿到的集体奖励（比如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+ 10/0/-5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整个场景的完整观测数据（用数组存）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41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observations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数组的维度定义：依次是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Bob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位置、目标点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位置、目标点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位置、镜片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位置、镜片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位置；每个位置由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个数字组成（即坐标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x,y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比如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observations = [1,2, 3,4, 5,6, 7,8, 9,10, 11,12] →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代表：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(1,2)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Bob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(3,4)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、目标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(5,6)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、目标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(7,8)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、镜片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(9,10)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、镜片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(11,12)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额外给名为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holding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numpy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数组，用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True/False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表示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是否持有镜片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比如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holding = [True, False] → Bob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拿着镜片，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没拿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36295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额外给名为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actions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的二维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numpy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数组，描述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Bob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和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执行的动作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每个数字对应一个动作（比如下文的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=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上移、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=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下移），比如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actions = [0,1] → Bob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向上移，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向下移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定义动作编码规则：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Bob/Alice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个可选动作，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=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上移、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=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下移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……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2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把智能体的 “动作” 转化为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LLM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易处理的数字（避免自然语言歧义）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1767" marR="171767" marT="114617" marB="114617" anchor="ctr" anchorCtr="0">
                    <a:lnL w="1079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728980"/>
            <a:ext cx="10968990" cy="5520690"/>
          </a:xfrm>
        </p:spPr>
        <p:txBody>
          <a:bodyPr/>
          <a:p>
            <a:r>
              <a:rPr lang="en-US" altLang="zh-CN" b="1"/>
              <a:t>Definations</a:t>
            </a:r>
            <a:r>
              <a:rPr lang="zh-CN" altLang="en-US" b="1"/>
              <a:t>：</a:t>
            </a:r>
            <a:endParaRPr lang="zh-CN" altLang="en-US" b="1"/>
          </a:p>
          <a:p>
            <a:pPr lvl="1"/>
            <a:r>
              <a:rPr lang="zh-CN" altLang="en-US"/>
              <a:t>稀疏奖励</a:t>
            </a:r>
            <a:endParaRPr lang="zh-CN" altLang="en-US"/>
          </a:p>
          <a:p>
            <a:pPr lvl="1"/>
            <a:r>
              <a:rPr lang="en-US" altLang="zh-CN"/>
              <a:t>Agreement Problem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867" b="75377"/>
          <a:stretch>
            <a:fillRect/>
          </a:stretch>
        </p:blipFill>
        <p:spPr>
          <a:xfrm>
            <a:off x="1728470" y="2377440"/>
            <a:ext cx="8344535" cy="1216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3874135"/>
            <a:ext cx="9048750" cy="2438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757555"/>
            <a:ext cx="10968990" cy="5492115"/>
          </a:xfrm>
        </p:spPr>
        <p:txBody>
          <a:bodyPr/>
          <a:p>
            <a:r>
              <a:rPr lang="en-US" altLang="zh-CN"/>
              <a:t>Task Query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3710305"/>
            <a:ext cx="9163050" cy="2600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190" y="1528445"/>
            <a:ext cx="6549390" cy="207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477135" y="6245225"/>
            <a:ext cx="5204460" cy="552450"/>
          </a:xfrm>
        </p:spPr>
        <p:txBody>
          <a:bodyPr/>
          <a:p>
            <a:pPr marL="0" indent="0">
              <a:buNone/>
            </a:pPr>
            <a:r>
              <a:rPr lang="en-US" altLang="zh-CN" sz="1400" b="1">
                <a:solidFill>
                  <a:srgbClr val="FF0000"/>
                </a:solidFill>
              </a:rPr>
              <a:t>LLM-MCA</a:t>
            </a:r>
            <a:r>
              <a:rPr lang="zh-CN" altLang="en-US" sz="1400" b="1">
                <a:solidFill>
                  <a:srgbClr val="FF0000"/>
                </a:solidFill>
              </a:rPr>
              <a:t>的优化目标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1954"/>
          <a:stretch>
            <a:fillRect/>
          </a:stretch>
        </p:blipFill>
        <p:spPr>
          <a:xfrm>
            <a:off x="608330" y="876935"/>
            <a:ext cx="5921375" cy="52857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5484495"/>
            <a:ext cx="4491355" cy="7607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595" y="64770"/>
            <a:ext cx="4911725" cy="4177665"/>
          </a:xfrm>
          <a:prstGeom prst="rect">
            <a:avLst/>
          </a:prstGeom>
        </p:spPr>
      </p:pic>
      <p:pic>
        <p:nvPicPr>
          <p:cNvPr id="9" name="内容占位符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185660" y="4215765"/>
            <a:ext cx="3761105" cy="258191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30" y="1313815"/>
            <a:ext cx="7186295" cy="524383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810885" y="3169285"/>
            <a:ext cx="3688715" cy="517525"/>
          </a:xfrm>
          <a:prstGeom prst="rect">
            <a:avLst/>
          </a:prstGeom>
          <a:noFill/>
          <a:ln w="2222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1800"/>
              <a:t>Example output from LLM-TACA </a:t>
            </a:r>
            <a:endParaRPr lang="en-US" altLang="zh-CN" sz="1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240020" cy="4759325"/>
          </a:xfrm>
        </p:spPr>
        <p:txBody>
          <a:bodyPr>
            <a:normAutofit fontScale="90000"/>
          </a:bodyPr>
          <a:p>
            <a:r>
              <a:rPr lang="en-US" altLang="zh-CN" sz="1200"/>
              <a:t>1. </a:t>
            </a:r>
            <a:r>
              <a:rPr lang="zh-CN" altLang="en-US" sz="1200"/>
              <a:t>评价逻辑（先明确分配依据）</a:t>
            </a:r>
            <a:endParaRPr lang="zh-CN" altLang="en-US" sz="1200"/>
          </a:p>
          <a:p>
            <a:r>
              <a:rPr lang="zh-CN" altLang="en-US" sz="1200" b="1"/>
              <a:t>时间信用分配：</a:t>
            </a:r>
            <a:r>
              <a:rPr lang="zh-CN" altLang="en-US" sz="1200"/>
              <a:t>全局奖励稀疏（只有最后才给高奖励），所以把更多信用追溯到</a:t>
            </a:r>
            <a:r>
              <a:rPr lang="en-US" altLang="zh-CN" sz="1200"/>
              <a:t> “</a:t>
            </a:r>
            <a:r>
              <a:rPr lang="zh-CN" altLang="en-US" sz="1200"/>
              <a:t>早期的关键动作</a:t>
            </a:r>
            <a:r>
              <a:rPr lang="en-US" altLang="zh-CN" sz="1200"/>
              <a:t>”</a:t>
            </a:r>
            <a:r>
              <a:rPr lang="zh-CN" altLang="en-US" sz="1200"/>
              <a:t>；</a:t>
            </a:r>
            <a:endParaRPr lang="zh-CN" altLang="en-US" sz="1200"/>
          </a:p>
          <a:p>
            <a:r>
              <a:rPr lang="zh-CN" altLang="en-US" sz="1200" b="1"/>
              <a:t>结构化信用分配：</a:t>
            </a:r>
            <a:r>
              <a:rPr lang="zh-CN" altLang="en-US" sz="1200"/>
              <a:t>按每个智能体的实际贡献打分；</a:t>
            </a:r>
            <a:endParaRPr lang="zh-CN" altLang="en-US" sz="1200"/>
          </a:p>
          <a:p>
            <a:r>
              <a:rPr lang="zh-CN" altLang="en-US" sz="1200" b="1"/>
              <a:t>协作评价</a:t>
            </a:r>
            <a:r>
              <a:rPr lang="zh-CN" altLang="en-US" sz="1200"/>
              <a:t>：</a:t>
            </a:r>
            <a:r>
              <a:rPr lang="en-US" altLang="zh-CN" sz="1200"/>
              <a:t>Assignment Problem</a:t>
            </a:r>
            <a:r>
              <a:rPr lang="zh-CN" altLang="en-US" sz="1200"/>
              <a:t>；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2. </a:t>
            </a:r>
            <a:r>
              <a:rPr lang="zh-CN" altLang="en-US" sz="1200"/>
              <a:t>分配规则（基于评价依据，给执行规则）</a:t>
            </a:r>
            <a:endParaRPr lang="zh-CN" altLang="en-US" sz="1200"/>
          </a:p>
          <a:p>
            <a:r>
              <a:rPr lang="zh-CN" altLang="en-US" sz="1200"/>
              <a:t>信用分配规则：</a:t>
            </a:r>
            <a:endParaRPr lang="zh-CN" altLang="en-US" sz="1200"/>
          </a:p>
          <a:p>
            <a:pPr lvl="1"/>
            <a:r>
              <a:rPr lang="zh-CN" altLang="en-US" sz="1065"/>
              <a:t>前期动作是关键，给前期动作高分；</a:t>
            </a:r>
            <a:endParaRPr lang="zh-CN" altLang="en-US" sz="1065"/>
          </a:p>
          <a:p>
            <a:pPr lvl="1"/>
            <a:r>
              <a:rPr lang="zh-CN" altLang="en-US" sz="1065"/>
              <a:t>协作有效</a:t>
            </a:r>
            <a:r>
              <a:rPr lang="en-US" altLang="en-US" sz="1065"/>
              <a:t>→</a:t>
            </a:r>
            <a:r>
              <a:rPr lang="zh-CN" altLang="en-US" sz="1065"/>
              <a:t>都给正奖励；</a:t>
            </a:r>
            <a:endParaRPr lang="zh-CN" altLang="en-US" sz="1065"/>
          </a:p>
          <a:p>
            <a:pPr lvl="1"/>
            <a:r>
              <a:rPr lang="zh-CN" altLang="en-US" sz="1065"/>
              <a:t>低效</a:t>
            </a:r>
            <a:r>
              <a:rPr lang="en-US" altLang="zh-CN" sz="1065"/>
              <a:t> / </a:t>
            </a:r>
            <a:r>
              <a:rPr lang="zh-CN" altLang="en-US" sz="1065"/>
              <a:t>阻碍队友</a:t>
            </a:r>
            <a:r>
              <a:rPr lang="en-US" altLang="en-US" sz="1065"/>
              <a:t>→</a:t>
            </a:r>
            <a:r>
              <a:rPr lang="zh-CN" altLang="en-US" sz="1065"/>
              <a:t>给惩罚。</a:t>
            </a:r>
            <a:endParaRPr lang="zh-CN" altLang="en-US" sz="1065"/>
          </a:p>
          <a:p>
            <a:r>
              <a:rPr lang="zh-CN" altLang="en-US" sz="1200"/>
              <a:t>任务分配规则：</a:t>
            </a:r>
            <a:endParaRPr lang="zh-CN" altLang="en-US" sz="1200"/>
          </a:p>
          <a:p>
            <a:pPr lvl="1"/>
            <a:r>
              <a:rPr lang="zh-CN" altLang="en-US" sz="1065"/>
              <a:t>按苹果位置</a:t>
            </a:r>
            <a:r>
              <a:rPr lang="en-US" altLang="zh-CN" sz="1065"/>
              <a:t> / </a:t>
            </a:r>
            <a:r>
              <a:rPr lang="zh-CN" altLang="en-US" sz="1065"/>
              <a:t>难度拆分任务；</a:t>
            </a:r>
            <a:endParaRPr lang="zh-CN" altLang="en-US" sz="1065"/>
          </a:p>
          <a:p>
            <a:pPr lvl="1"/>
            <a:r>
              <a:rPr lang="zh-CN" altLang="en-US" sz="1065"/>
              <a:t>需要协作的苹果</a:t>
            </a:r>
            <a:r>
              <a:rPr lang="en-US" altLang="en-US" sz="1065"/>
              <a:t>→</a:t>
            </a:r>
            <a:r>
              <a:rPr lang="zh-CN" altLang="en-US" sz="1065"/>
              <a:t>优先协助之前失误的智能体；</a:t>
            </a:r>
            <a:endParaRPr lang="zh-CN" altLang="en-US" sz="1065"/>
          </a:p>
          <a:p>
            <a:pPr lvl="1"/>
            <a:r>
              <a:rPr lang="zh-CN" altLang="en-US" sz="1065"/>
              <a:t>不需要协作的苹果</a:t>
            </a:r>
            <a:r>
              <a:rPr lang="en-US" altLang="en-US" sz="1065"/>
              <a:t>→</a:t>
            </a:r>
            <a:r>
              <a:rPr lang="zh-CN" altLang="en-US" sz="1065"/>
              <a:t>各自去最近的目标。</a:t>
            </a:r>
            <a:endParaRPr lang="zh-CN" altLang="en-US" sz="1065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05" y="0"/>
            <a:ext cx="63614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240020" cy="4759325"/>
          </a:xfrm>
        </p:spPr>
        <p:txBody>
          <a:bodyPr>
            <a:normAutofit/>
          </a:bodyPr>
          <a:p>
            <a:r>
              <a:rPr lang="en-US" altLang="zh-CN" sz="1065"/>
              <a:t>3. </a:t>
            </a:r>
            <a:r>
              <a:rPr lang="zh-CN" altLang="en-US" sz="1065"/>
              <a:t>具体结果（输出</a:t>
            </a:r>
            <a:r>
              <a:rPr lang="en-US" altLang="zh-CN" sz="1065"/>
              <a:t> “</a:t>
            </a:r>
            <a:r>
              <a:rPr lang="zh-CN" altLang="en-US" sz="1065"/>
              <a:t>智能体可用的数值化内容</a:t>
            </a:r>
            <a:r>
              <a:rPr lang="en-US" altLang="zh-CN" sz="1065"/>
              <a:t>”,</a:t>
            </a:r>
            <a:r>
              <a:rPr lang="zh-CN" altLang="en-US" sz="1065"/>
              <a:t>直接用于智能体策略更新：</a:t>
            </a:r>
            <a:endParaRPr lang="zh-CN" altLang="en-US" sz="1065"/>
          </a:p>
          <a:p>
            <a:r>
              <a:rPr lang="zh-CN" altLang="en-US" sz="1065"/>
              <a:t>信用分配（</a:t>
            </a:r>
            <a:r>
              <a:rPr lang="en-US" altLang="zh-CN" sz="1065"/>
              <a:t>alice_credit/bob_credit</a:t>
            </a:r>
            <a:r>
              <a:rPr lang="zh-CN" altLang="en-US" sz="1065"/>
              <a:t>）：</a:t>
            </a:r>
            <a:endParaRPr lang="zh-CN" altLang="en-US" sz="1065"/>
          </a:p>
          <a:p>
            <a:pPr lvl="1"/>
            <a:r>
              <a:rPr lang="zh-CN" altLang="en-US" sz="945"/>
              <a:t>用</a:t>
            </a:r>
            <a:r>
              <a:rPr lang="en-US" altLang="zh-CN" sz="945"/>
              <a:t> Numpy </a:t>
            </a:r>
            <a:r>
              <a:rPr lang="zh-CN" altLang="en-US" sz="945"/>
              <a:t>数组给出每个时间步的信用分（比如</a:t>
            </a:r>
            <a:r>
              <a:rPr lang="en-US" altLang="zh-CN" sz="945"/>
              <a:t>alice_credit = [3,1,...]</a:t>
            </a:r>
            <a:r>
              <a:rPr lang="zh-CN" altLang="en-US" sz="945"/>
              <a:t>，时间步</a:t>
            </a:r>
            <a:r>
              <a:rPr lang="en-US" altLang="zh-CN" sz="945"/>
              <a:t> 4 </a:t>
            </a:r>
            <a:r>
              <a:rPr lang="zh-CN" altLang="en-US" sz="945"/>
              <a:t>的</a:t>
            </a:r>
            <a:r>
              <a:rPr lang="en-US" altLang="zh-CN" sz="945"/>
              <a:t> “3” </a:t>
            </a:r>
            <a:r>
              <a:rPr lang="zh-CN" altLang="en-US" sz="945"/>
              <a:t>对应关键动作）；</a:t>
            </a:r>
            <a:endParaRPr lang="zh-CN" altLang="en-US" sz="945"/>
          </a:p>
          <a:p>
            <a:pPr lvl="1"/>
            <a:r>
              <a:rPr lang="zh-CN" altLang="en-US" sz="945"/>
              <a:t>数组长度对应任务的时间步数量，确保每个动作都有对应的反馈。</a:t>
            </a:r>
            <a:endParaRPr lang="zh-CN" altLang="en-US" sz="945"/>
          </a:p>
          <a:p>
            <a:r>
              <a:rPr lang="zh-CN" altLang="en-US" sz="1065"/>
              <a:t>任务分配（</a:t>
            </a:r>
            <a:r>
              <a:rPr lang="en-US" altLang="zh-CN" sz="1065"/>
              <a:t>task_alice/task_bob</a:t>
            </a:r>
            <a:r>
              <a:rPr lang="zh-CN" altLang="en-US" sz="1065"/>
              <a:t>）：</a:t>
            </a:r>
            <a:endParaRPr lang="zh-CN" altLang="en-US" sz="1065"/>
          </a:p>
          <a:p>
            <a:pPr lvl="1"/>
            <a:r>
              <a:rPr lang="zh-CN" altLang="en-US" sz="945"/>
              <a:t>用</a:t>
            </a:r>
            <a:r>
              <a:rPr lang="en-US" altLang="zh-CN" sz="945"/>
              <a:t> Numpy </a:t>
            </a:r>
            <a:r>
              <a:rPr lang="zh-CN" altLang="en-US" sz="945"/>
              <a:t>数组给出下一个时间步的目标（比如</a:t>
            </a:r>
            <a:r>
              <a:rPr lang="en-US" altLang="zh-CN" sz="945"/>
              <a:t>task_alice = [[0,4]]</a:t>
            </a:r>
            <a:r>
              <a:rPr lang="zh-CN" altLang="en-US" sz="945"/>
              <a:t>，对应</a:t>
            </a:r>
            <a:r>
              <a:rPr lang="en-US" altLang="zh-CN" sz="945"/>
              <a:t> “</a:t>
            </a:r>
            <a:r>
              <a:rPr lang="zh-CN" altLang="en-US" sz="945"/>
              <a:t>去</a:t>
            </a:r>
            <a:r>
              <a:rPr lang="en-US" altLang="zh-CN" sz="945"/>
              <a:t> (0,4) </a:t>
            </a:r>
            <a:r>
              <a:rPr lang="zh-CN" altLang="en-US" sz="945"/>
              <a:t>采集苹果</a:t>
            </a:r>
            <a:r>
              <a:rPr lang="en-US" altLang="zh-CN" sz="945"/>
              <a:t>”</a:t>
            </a:r>
            <a:r>
              <a:rPr lang="zh-CN" altLang="en-US" sz="945"/>
              <a:t>）；</a:t>
            </a:r>
            <a:endParaRPr lang="zh-CN" altLang="en-US" sz="945"/>
          </a:p>
          <a:p>
            <a:pPr lvl="1"/>
            <a:r>
              <a:rPr lang="zh-CN" altLang="en-US" sz="945"/>
              <a:t>目标是</a:t>
            </a:r>
            <a:r>
              <a:rPr lang="en-US" altLang="zh-CN" sz="945"/>
              <a:t> “</a:t>
            </a:r>
            <a:r>
              <a:rPr lang="zh-CN" altLang="en-US" sz="945"/>
              <a:t>避免过协作</a:t>
            </a:r>
            <a:r>
              <a:rPr lang="en-US" altLang="zh-CN" sz="945"/>
              <a:t>”</a:t>
            </a:r>
            <a:r>
              <a:rPr lang="zh-CN" altLang="en-US" sz="945"/>
              <a:t>，所以给</a:t>
            </a:r>
            <a:r>
              <a:rPr lang="en-US" altLang="zh-CN" sz="945"/>
              <a:t> Alice </a:t>
            </a:r>
            <a:r>
              <a:rPr lang="zh-CN" altLang="en-US" sz="945"/>
              <a:t>和</a:t>
            </a:r>
            <a:r>
              <a:rPr lang="en-US" altLang="zh-CN" sz="945"/>
              <a:t> Bob </a:t>
            </a:r>
            <a:r>
              <a:rPr lang="zh-CN" altLang="en-US" sz="945"/>
              <a:t>分配不同位置。</a:t>
            </a:r>
            <a:endParaRPr lang="zh-CN" altLang="en-US" sz="945"/>
          </a:p>
          <a:p>
            <a:pPr marL="457200" lvl="1" indent="0">
              <a:buNone/>
            </a:pPr>
            <a:endParaRPr lang="zh-CN" altLang="en-US" sz="945"/>
          </a:p>
          <a:p>
            <a:pPr lvl="0"/>
            <a:r>
              <a:rPr lang="en-US" altLang="zh-CN" sz="1055"/>
              <a:t>4. </a:t>
            </a:r>
            <a:r>
              <a:rPr lang="zh-CN" altLang="en-US" sz="1055"/>
              <a:t>解释说明（</a:t>
            </a:r>
            <a:r>
              <a:rPr lang="en-US" altLang="zh-CN" sz="1055"/>
              <a:t>LLM </a:t>
            </a:r>
            <a:r>
              <a:rPr lang="zh-CN" altLang="en-US" sz="1055"/>
              <a:t>的</a:t>
            </a:r>
            <a:r>
              <a:rPr lang="en-US" altLang="zh-CN" sz="1055"/>
              <a:t> “</a:t>
            </a:r>
            <a:r>
              <a:rPr lang="zh-CN" altLang="en-US" sz="1055"/>
              <a:t>可解释性输出</a:t>
            </a:r>
            <a:r>
              <a:rPr lang="en-US" altLang="zh-CN" sz="1055"/>
              <a:t>”)</a:t>
            </a:r>
            <a:endParaRPr lang="zh-CN" altLang="en-US" sz="1055"/>
          </a:p>
          <a:p>
            <a:pPr lvl="0"/>
            <a:r>
              <a:rPr lang="zh-CN" altLang="en-US" sz="1055"/>
              <a:t>信用分配解释：</a:t>
            </a:r>
            <a:endParaRPr lang="zh-CN" altLang="en-US" sz="1055"/>
          </a:p>
          <a:p>
            <a:pPr lvl="1"/>
            <a:r>
              <a:rPr lang="en-US" altLang="zh-CN" sz="935"/>
              <a:t>Alice </a:t>
            </a:r>
            <a:r>
              <a:rPr lang="zh-CN" altLang="en-US" sz="935"/>
              <a:t>后期贡献更大</a:t>
            </a:r>
            <a:r>
              <a:rPr lang="en-US" altLang="en-US" sz="935"/>
              <a:t>→</a:t>
            </a:r>
            <a:r>
              <a:rPr lang="zh-CN" altLang="en-US" sz="935"/>
              <a:t>分更高；</a:t>
            </a:r>
            <a:r>
              <a:rPr lang="en-US" altLang="zh-CN" sz="935"/>
              <a:t>Bob </a:t>
            </a:r>
            <a:r>
              <a:rPr lang="zh-CN" altLang="en-US" sz="935"/>
              <a:t>参与了协作</a:t>
            </a:r>
            <a:r>
              <a:rPr lang="en-US" altLang="en-US" sz="935"/>
              <a:t>→</a:t>
            </a:r>
            <a:r>
              <a:rPr lang="zh-CN" altLang="en-US" sz="935"/>
              <a:t>也有公平奖励；</a:t>
            </a:r>
            <a:endParaRPr lang="zh-CN" altLang="en-US" sz="935"/>
          </a:p>
          <a:p>
            <a:pPr lvl="0"/>
            <a:r>
              <a:rPr lang="zh-CN" altLang="en-US" sz="1055"/>
              <a:t>任务分配解释：</a:t>
            </a:r>
            <a:endParaRPr lang="zh-CN" altLang="en-US" sz="1055"/>
          </a:p>
          <a:p>
            <a:pPr lvl="1"/>
            <a:r>
              <a:rPr lang="zh-CN" altLang="en-US" sz="935"/>
              <a:t>让两人去不同苹果位置，防止扎堆，提升效率。</a:t>
            </a:r>
            <a:endParaRPr lang="zh-CN" altLang="en-US" sz="935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605" y="0"/>
            <a:ext cx="63614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sz="2400"/>
              <a:t>Experience</a:t>
            </a:r>
            <a:endParaRPr lang="en-US" altLang="zh-CN" sz="2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sz="1200"/>
              <a:t>Baseline:</a:t>
            </a:r>
            <a:endParaRPr lang="en-US" altLang="zh-CN" sz="1200"/>
          </a:p>
          <a:p>
            <a:pPr lvl="1"/>
            <a:r>
              <a:rPr lang="en-US" altLang="zh-CN" sz="1200"/>
              <a:t>LICA (Learning Implicit Credit Assignment for Cooperative Multi-Agent Reinforcement Learning)</a:t>
            </a:r>
            <a:endParaRPr lang="en-US" altLang="zh-CN" sz="1200"/>
          </a:p>
          <a:p>
            <a:pPr lvl="1"/>
            <a:r>
              <a:rPr lang="en-US" altLang="zh-CN" sz="1200"/>
              <a:t>MAPPO (Multi-Agent PPO)</a:t>
            </a:r>
            <a:endParaRPr lang="en-US" altLang="zh-CN" sz="1200"/>
          </a:p>
          <a:p>
            <a:pPr lvl="1"/>
            <a:r>
              <a:rPr lang="en-US" altLang="zh-CN" sz="1200"/>
              <a:t>QMIX</a:t>
            </a:r>
            <a:endParaRPr lang="en-US" altLang="zh-CN" sz="1200"/>
          </a:p>
          <a:p>
            <a:r>
              <a:rPr lang="en-US" altLang="zh-CN" sz="1200"/>
              <a:t>Benchmark:</a:t>
            </a: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5" y="3221355"/>
            <a:ext cx="11531600" cy="30283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2605" y="1521460"/>
            <a:ext cx="10968990" cy="44107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TABLE_ENDDRAG_ORIGIN_RECT" val="626*456"/>
  <p:tag name="TABLE_ENDDRAG_RECT" val="312*23*626*45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4235</Words>
  <Application>WPS 演示</Application>
  <PresentationFormat>宽屏</PresentationFormat>
  <Paragraphs>220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微软雅黑</vt:lpstr>
      <vt:lpstr>Cambria Math</vt:lpstr>
      <vt:lpstr>Arial Unicode MS</vt:lpstr>
      <vt:lpstr>Calibri</vt:lpstr>
      <vt:lpstr>WPS</vt:lpstr>
      <vt:lpstr>PowerPoint 演示文稿</vt:lpstr>
      <vt:lpstr>预备概念</vt:lpstr>
      <vt:lpstr>PowerPoint 演示文稿</vt:lpstr>
      <vt:lpstr>创新点</vt:lpstr>
      <vt:lpstr>PowerPoint 演示文稿</vt:lpstr>
      <vt:lpstr>LLM-MCA和LLM-TACA方法的整体架构图</vt:lpstr>
      <vt:lpstr>PowerPoint 演示文稿</vt:lpstr>
      <vt:lpstr>训练去中心化的智能体策略</vt:lpstr>
      <vt:lpstr>PowerPoint 演示文稿</vt:lpstr>
      <vt:lpstr>BasePrompt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 output from LLM-TACA </vt:lpstr>
      <vt:lpstr>PowerPoint 演示文稿</vt:lpstr>
      <vt:lpstr>Experience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七</cp:lastModifiedBy>
  <cp:revision>170</cp:revision>
  <dcterms:created xsi:type="dcterms:W3CDTF">2019-06-19T02:08:00Z</dcterms:created>
  <dcterms:modified xsi:type="dcterms:W3CDTF">2026-01-29T06:32:40Z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9796465973C346E3AB433CF2D1DD86BE_11</vt:lpwstr>
  </property>
</Properties>
</file>