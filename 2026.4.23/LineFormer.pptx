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5200015"/>
            <a:ext cx="10968990" cy="1049655"/>
          </a:xfrm>
        </p:spPr>
        <p:txBody>
          <a:bodyPr/>
          <a:p>
            <a:pPr marL="0" indent="0" algn="ctr">
              <a:buNone/>
            </a:pPr>
            <a:r>
              <a:rPr lang="en-US" altLang="zh-CN"/>
              <a:t>ICDAR </a:t>
            </a:r>
            <a:endParaRPr lang="en-US" altLang="zh-CN"/>
          </a:p>
          <a:p>
            <a:pPr marL="0" indent="0" algn="ctr">
              <a:buNone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940" y="1054735"/>
            <a:ext cx="9458325" cy="39744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背景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en-US" sz="1400"/>
              <a:t>为什么要做折线图数据提取？</a:t>
            </a:r>
            <a:endParaRPr lang="zh-CN" altLang="en-US" sz="1400"/>
          </a:p>
          <a:p>
            <a:pPr lvl="1"/>
            <a:r>
              <a:rPr lang="zh-CN" altLang="en-US" sz="1200"/>
              <a:t>大量科研论文</a:t>
            </a:r>
            <a:r>
              <a:rPr lang="en-US" altLang="zh-CN" sz="1200"/>
              <a:t>/</a:t>
            </a:r>
            <a:r>
              <a:rPr lang="zh-CN" altLang="en-US" sz="1200"/>
              <a:t>报告以图表形式展示数据</a:t>
            </a:r>
            <a:endParaRPr lang="zh-CN" altLang="en-US" sz="1200"/>
          </a:p>
          <a:p>
            <a:pPr lvl="1"/>
            <a:r>
              <a:rPr lang="zh-CN" altLang="en-US" sz="1200"/>
              <a:t>原始数据不可获取</a:t>
            </a:r>
            <a:endParaRPr lang="zh-CN" altLang="en-US" sz="1200"/>
          </a:p>
          <a:p>
            <a:pPr lvl="1"/>
            <a:r>
              <a:rPr lang="zh-CN" altLang="en-US" sz="1200"/>
              <a:t>需要自动恢复结构化数据（</a:t>
            </a:r>
            <a:r>
              <a:rPr lang="en-US" altLang="zh-CN" sz="1200"/>
              <a:t>table / array</a:t>
            </a:r>
            <a:r>
              <a:rPr lang="zh-CN" altLang="en-US" sz="1200"/>
              <a:t>）</a:t>
            </a:r>
            <a:endParaRPr lang="en-US" altLang="zh-CN" sz="1200"/>
          </a:p>
          <a:p>
            <a:endParaRPr lang="zh-CN" altLang="en-US" sz="1400"/>
          </a:p>
          <a:p>
            <a:r>
              <a:rPr lang="zh-CN" altLang="en-US" sz="1400"/>
              <a:t>本质任务：图像</a:t>
            </a:r>
            <a:r>
              <a:rPr lang="en-US" altLang="zh-CN" sz="1400"/>
              <a:t> </a:t>
            </a:r>
            <a:r>
              <a:rPr lang="en-US" altLang="en-US" sz="1400"/>
              <a:t>→</a:t>
            </a:r>
            <a:r>
              <a:rPr lang="en-US" altLang="zh-CN" sz="1400"/>
              <a:t> </a:t>
            </a:r>
            <a:r>
              <a:rPr lang="zh-CN" altLang="en-US" sz="1400"/>
              <a:t>曲线</a:t>
            </a:r>
            <a:r>
              <a:rPr lang="en-US" altLang="zh-CN" sz="1400"/>
              <a:t> </a:t>
            </a:r>
            <a:r>
              <a:rPr lang="en-US" altLang="en-US" sz="1400"/>
              <a:t>→</a:t>
            </a:r>
            <a:r>
              <a:rPr lang="en-US" altLang="zh-CN" sz="1400"/>
              <a:t> </a:t>
            </a:r>
            <a:r>
              <a:rPr lang="zh-CN" altLang="en-US" sz="1400"/>
              <a:t>数值序列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传统方法</a:t>
            </a:r>
            <a:r>
              <a:rPr lang="zh-CN" altLang="en-US" sz="1400"/>
              <a:t>存在的问题：</a:t>
            </a:r>
            <a:endParaRPr lang="en-US" altLang="zh-CN" sz="1400"/>
          </a:p>
          <a:p>
            <a:pPr lvl="1"/>
            <a:r>
              <a:rPr lang="zh-CN" altLang="en-US" sz="1200"/>
              <a:t>依赖图例（</a:t>
            </a:r>
            <a:r>
              <a:rPr lang="en-US" altLang="zh-CN" sz="1200"/>
              <a:t>Legend</a:t>
            </a:r>
            <a:r>
              <a:rPr lang="zh-CN" altLang="en-US" sz="1200"/>
              <a:t>）等辅助信息。</a:t>
            </a:r>
            <a:endParaRPr lang="en-US" altLang="zh-CN" sz="1200"/>
          </a:p>
          <a:p>
            <a:pPr lvl="1"/>
            <a:r>
              <a:rPr lang="zh-CN" altLang="en-US" sz="1200"/>
              <a:t>对曲线交叉、颜色相似或图表样式变化不够鲁棒。</a:t>
            </a:r>
            <a:endParaRPr lang="en-US" altLang="zh-CN" sz="1200"/>
          </a:p>
          <a:p>
            <a:pPr lvl="1"/>
            <a:r>
              <a:rPr lang="zh-CN" altLang="en-US" sz="1200"/>
              <a:t>流程过于复杂，通常包含多个独立的预处理步骤。</a:t>
            </a:r>
            <a:endParaRPr lang="zh-CN" altLang="en-US" sz="1200"/>
          </a:p>
          <a:p>
            <a:pPr lvl="0"/>
            <a:endParaRPr lang="zh-CN" altLang="en-US" sz="1350"/>
          </a:p>
          <a:p>
            <a:pPr lvl="0"/>
            <a:r>
              <a:rPr lang="en-US" altLang="zh-CN" sz="1350"/>
              <a:t>LineFormer </a:t>
            </a:r>
            <a:r>
              <a:rPr lang="zh-CN" altLang="en-US" sz="1350"/>
              <a:t>核心思想：</a:t>
            </a:r>
            <a:r>
              <a:rPr lang="en-US" altLang="zh-CN" sz="1350"/>
              <a:t> </a:t>
            </a:r>
            <a:r>
              <a:rPr lang="zh-CN" altLang="en-US" sz="1350"/>
              <a:t>抛弃复杂的流水线，直接使用</a:t>
            </a:r>
            <a:r>
              <a:rPr lang="zh-CN" altLang="en-US" sz="1350">
                <a:solidFill>
                  <a:srgbClr val="FF0000"/>
                </a:solidFill>
              </a:rPr>
              <a:t>端到端的实例分割</a:t>
            </a:r>
            <a:r>
              <a:rPr lang="zh-CN" altLang="en-US" sz="1350"/>
              <a:t>来处理。</a:t>
            </a:r>
            <a:endParaRPr lang="zh-CN" altLang="en-US" sz="135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425" y="346075"/>
            <a:ext cx="6652895" cy="3245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framework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1200"/>
              <a:t>模型选型：</a:t>
            </a:r>
            <a:r>
              <a:rPr lang="en-US" altLang="zh-CN" sz="1200"/>
              <a:t> </a:t>
            </a:r>
            <a:r>
              <a:rPr lang="zh-CN" altLang="en-US" sz="1200"/>
              <a:t>基于改进的</a:t>
            </a:r>
            <a:r>
              <a:rPr lang="en-US" altLang="zh-CN" sz="1200"/>
              <a:t> Mask2Former</a:t>
            </a:r>
            <a:endParaRPr lang="en-US" altLang="zh-CN" sz="1200"/>
          </a:p>
          <a:p>
            <a:endParaRPr lang="en-US" altLang="zh-CN" sz="1200"/>
          </a:p>
          <a:p>
            <a:r>
              <a:rPr lang="zh-CN" altLang="en-US" sz="1200"/>
              <a:t>三大核心组件：</a:t>
            </a:r>
            <a:endParaRPr lang="zh-CN" altLang="en-US" sz="1200"/>
          </a:p>
          <a:p>
            <a:pPr lvl="1"/>
            <a:r>
              <a:rPr lang="en-US" altLang="zh-CN" sz="1000">
                <a:solidFill>
                  <a:srgbClr val="FF0000"/>
                </a:solidFill>
              </a:rPr>
              <a:t>Pixel-level Module: </a:t>
            </a:r>
            <a:r>
              <a:rPr lang="zh-CN" altLang="en-US" sz="1000">
                <a:solidFill>
                  <a:srgbClr val="FF0000"/>
                </a:solidFill>
              </a:rPr>
              <a:t>提取高清特征图</a:t>
            </a:r>
            <a:endParaRPr lang="zh-CN" altLang="en-US" sz="1000">
              <a:solidFill>
                <a:srgbClr val="FF0000"/>
              </a:solidFill>
            </a:endParaRPr>
          </a:p>
          <a:p>
            <a:pPr lvl="1"/>
            <a:r>
              <a:rPr lang="en-US" altLang="zh-CN" sz="1000"/>
              <a:t>Transformer Decoder: </a:t>
            </a:r>
            <a:r>
              <a:rPr lang="zh-CN" altLang="en-US" sz="1000"/>
              <a:t>使用</a:t>
            </a:r>
            <a:r>
              <a:rPr lang="en-US" altLang="zh-CN" sz="1000"/>
              <a:t>N</a:t>
            </a:r>
            <a:r>
              <a:rPr lang="zh-CN" altLang="en-US" sz="1000"/>
              <a:t>个可学习的</a:t>
            </a:r>
            <a:r>
              <a:rPr lang="en-US" altLang="zh-CN" sz="1000"/>
              <a:t>Query</a:t>
            </a:r>
            <a:endParaRPr lang="en-US" altLang="zh-CN" sz="1000"/>
          </a:p>
          <a:p>
            <a:pPr marL="2286000" lvl="5" indent="0">
              <a:buNone/>
            </a:pPr>
            <a:r>
              <a:rPr lang="en-US" altLang="zh-CN" sz="10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</a:rPr>
              <a:t>  </a:t>
            </a:r>
            <a:r>
              <a:rPr lang="zh-CN" altLang="en-US" sz="10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</a:rPr>
              <a:t>来代表不同的曲线实例</a:t>
            </a:r>
            <a:endParaRPr lang="zh-CN" altLang="en-US" sz="1000" spc="150">
              <a:solidFill>
                <a:schemeClr val="tx1">
                  <a:lumMod val="65000"/>
                  <a:lumOff val="35000"/>
                </a:schemeClr>
              </a:solidFill>
              <a:uFillTx/>
            </a:endParaRPr>
          </a:p>
          <a:p>
            <a:pPr marL="2286000" lvl="5" indent="0">
              <a:buNone/>
            </a:pPr>
            <a:endParaRPr lang="zh-CN" altLang="en-US" sz="1000" spc="150">
              <a:solidFill>
                <a:schemeClr val="tx1">
                  <a:lumMod val="65000"/>
                  <a:lumOff val="35000"/>
                </a:schemeClr>
              </a:solidFill>
              <a:uFillTx/>
            </a:endParaRPr>
          </a:p>
          <a:p>
            <a:pPr lvl="1"/>
            <a:r>
              <a:rPr lang="en-US" altLang="zh-CN" sz="1000"/>
              <a:t>Segmentation Module: </a:t>
            </a:r>
            <a:r>
              <a:rPr lang="zh-CN" altLang="en-US" sz="1000"/>
              <a:t>预测每条线的</a:t>
            </a:r>
            <a:r>
              <a:rPr lang="en-US" altLang="zh-CN" sz="1000"/>
              <a:t>Mask</a:t>
            </a:r>
            <a:endParaRPr lang="en-US" altLang="zh-CN" sz="1000"/>
          </a:p>
          <a:p>
            <a:pPr lvl="1"/>
            <a:endParaRPr lang="zh-CN" altLang="en-US" sz="1000"/>
          </a:p>
          <a:p>
            <a:r>
              <a:rPr lang="zh-CN" altLang="en-US" sz="1200"/>
              <a:t>输出目标：每个</a:t>
            </a:r>
            <a:r>
              <a:rPr lang="en-US" altLang="zh-CN" sz="1200"/>
              <a:t>Query</a:t>
            </a:r>
            <a:r>
              <a:rPr lang="zh-CN" altLang="en-US" sz="1200"/>
              <a:t>输出两个结果：</a:t>
            </a:r>
            <a:endParaRPr lang="zh-CN" altLang="en-US" sz="1200"/>
          </a:p>
          <a:p>
            <a:pPr lvl="1"/>
            <a:r>
              <a:rPr lang="zh-CN" altLang="en-US" sz="1000"/>
              <a:t>分类：</a:t>
            </a:r>
            <a:r>
              <a:rPr lang="en-US" altLang="zh-CN" sz="1000"/>
              <a:t> </a:t>
            </a:r>
            <a:r>
              <a:rPr lang="zh-CN" altLang="en-US" sz="1000"/>
              <a:t>确定该</a:t>
            </a:r>
            <a:r>
              <a:rPr lang="en-US" altLang="zh-CN" sz="1000"/>
              <a:t> Query </a:t>
            </a:r>
            <a:r>
              <a:rPr lang="zh-CN" altLang="en-US" sz="1000"/>
              <a:t>捕捉的是</a:t>
            </a:r>
            <a:r>
              <a:rPr lang="en-US" altLang="zh-CN" sz="1000"/>
              <a:t>“</a:t>
            </a:r>
            <a:r>
              <a:rPr lang="zh-CN" altLang="en-US" sz="1000"/>
              <a:t>线</a:t>
            </a:r>
            <a:r>
              <a:rPr lang="en-US" altLang="zh-CN" sz="1000"/>
              <a:t>”</a:t>
            </a:r>
            <a:r>
              <a:rPr lang="zh-CN" altLang="en-US" sz="1000"/>
              <a:t>还是</a:t>
            </a:r>
            <a:r>
              <a:rPr lang="en-US" altLang="zh-CN" sz="1000"/>
              <a:t>“</a:t>
            </a:r>
            <a:r>
              <a:rPr lang="zh-CN" altLang="en-US" sz="1000"/>
              <a:t>背景</a:t>
            </a:r>
            <a:r>
              <a:rPr lang="en-US" altLang="zh-CN" sz="1000"/>
              <a:t>”</a:t>
            </a:r>
            <a:endParaRPr lang="zh-CN" altLang="en-US" sz="1000"/>
          </a:p>
          <a:p>
            <a:pPr lvl="1"/>
            <a:r>
              <a:rPr lang="en-US" altLang="zh-CN" sz="1000"/>
              <a:t>Mask</a:t>
            </a:r>
            <a:r>
              <a:rPr lang="zh-CN" altLang="en-US" sz="1000"/>
              <a:t>：</a:t>
            </a:r>
            <a:r>
              <a:rPr lang="en-US" altLang="zh-CN" sz="1000"/>
              <a:t> </a:t>
            </a:r>
            <a:r>
              <a:rPr lang="zh-CN" altLang="en-US" sz="1000"/>
              <a:t>对应曲线的像素级掩码</a:t>
            </a:r>
            <a:endParaRPr lang="zh-CN" altLang="en-US" sz="1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2756" r="8352"/>
          <a:stretch>
            <a:fillRect/>
          </a:stretch>
        </p:blipFill>
        <p:spPr>
          <a:xfrm>
            <a:off x="4733925" y="979170"/>
            <a:ext cx="7412355" cy="48539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8650"/>
            <a:ext cx="10969200" cy="705600"/>
          </a:xfrm>
        </p:spPr>
        <p:txBody>
          <a:bodyPr/>
          <a:p>
            <a:r>
              <a:rPr lang="en-US" altLang="zh-CN"/>
              <a:t>backbone</a:t>
            </a:r>
            <a:r>
              <a:rPr lang="zh-CN" altLang="en-US"/>
              <a:t>：</a:t>
            </a:r>
            <a:r>
              <a:rPr lang="en-US" altLang="zh-CN"/>
              <a:t>swin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4596130"/>
            <a:ext cx="10968990" cy="1920875"/>
          </a:xfrm>
        </p:spPr>
        <p:txBody>
          <a:bodyPr>
            <a:noAutofit/>
          </a:bodyPr>
          <a:p>
            <a:r>
              <a:rPr lang="zh-CN" altLang="en-US" sz="1000"/>
              <a:t>将图片输入到</a:t>
            </a:r>
            <a:r>
              <a:rPr lang="en-US" altLang="zh-CN" sz="1000"/>
              <a:t>Patch Partition</a:t>
            </a:r>
            <a:r>
              <a:rPr lang="zh-CN" altLang="en-US" sz="1000"/>
              <a:t>模块中进行分块，即每</a:t>
            </a:r>
            <a:r>
              <a:rPr lang="en-US" altLang="zh-CN" sz="1000"/>
              <a:t>4x4</a:t>
            </a:r>
            <a:r>
              <a:rPr lang="zh-CN" altLang="en-US" sz="1000"/>
              <a:t>相邻的像素为一个</a:t>
            </a:r>
            <a:r>
              <a:rPr lang="en-US" altLang="zh-CN" sz="1000"/>
              <a:t>Patch</a:t>
            </a:r>
            <a:r>
              <a:rPr lang="zh-CN" altLang="en-US" sz="1000"/>
              <a:t>，然后在</a:t>
            </a:r>
            <a:r>
              <a:rPr lang="en-US" altLang="zh-CN" sz="1000"/>
              <a:t>channel</a:t>
            </a:r>
            <a:r>
              <a:rPr lang="zh-CN" altLang="en-US" sz="1000"/>
              <a:t>方向展平（</a:t>
            </a:r>
            <a:r>
              <a:rPr lang="en-US" altLang="zh-CN" sz="1000"/>
              <a:t>flatten</a:t>
            </a:r>
            <a:r>
              <a:rPr lang="zh-CN" altLang="en-US" sz="1000"/>
              <a:t>）。</a:t>
            </a:r>
            <a:endParaRPr lang="zh-CN" altLang="en-US" sz="1000"/>
          </a:p>
          <a:p>
            <a:pPr lvl="1"/>
            <a:r>
              <a:rPr lang="zh-CN" altLang="en-US" sz="910">
                <a:solidFill>
                  <a:srgbClr val="FF0000"/>
                </a:solidFill>
              </a:rPr>
              <a:t>假设输入的是</a:t>
            </a:r>
            <a:r>
              <a:rPr lang="en-US" altLang="zh-CN" sz="910">
                <a:solidFill>
                  <a:srgbClr val="FF0000"/>
                </a:solidFill>
              </a:rPr>
              <a:t>RGB</a:t>
            </a:r>
            <a:r>
              <a:rPr lang="zh-CN" altLang="en-US" sz="910">
                <a:solidFill>
                  <a:srgbClr val="FF0000"/>
                </a:solidFill>
              </a:rPr>
              <a:t>三通道图片</a:t>
            </a:r>
            <a:r>
              <a:rPr lang="en-US" altLang="zh-CN" sz="910">
                <a:solidFill>
                  <a:srgbClr val="FF0000"/>
                </a:solidFill>
              </a:rPr>
              <a:t>[512, 512, 3]</a:t>
            </a:r>
            <a:r>
              <a:rPr lang="zh-CN" altLang="en-US" sz="910">
                <a:solidFill>
                  <a:srgbClr val="FF0000"/>
                </a:solidFill>
              </a:rPr>
              <a:t>，那么每个</a:t>
            </a:r>
            <a:r>
              <a:rPr lang="en-US" altLang="zh-CN" sz="910">
                <a:solidFill>
                  <a:srgbClr val="FF0000"/>
                </a:solidFill>
              </a:rPr>
              <a:t>patch</a:t>
            </a:r>
            <a:r>
              <a:rPr lang="zh-CN" altLang="en-US" sz="910">
                <a:solidFill>
                  <a:srgbClr val="FF0000"/>
                </a:solidFill>
              </a:rPr>
              <a:t>就有</a:t>
            </a:r>
            <a:r>
              <a:rPr lang="en-US" altLang="zh-CN" sz="910">
                <a:solidFill>
                  <a:srgbClr val="FF0000"/>
                </a:solidFill>
              </a:rPr>
              <a:t>4x4=16</a:t>
            </a:r>
            <a:r>
              <a:rPr lang="zh-CN" altLang="en-US" sz="910">
                <a:solidFill>
                  <a:srgbClr val="FF0000"/>
                </a:solidFill>
              </a:rPr>
              <a:t>个像素，然后每个像素有</a:t>
            </a:r>
            <a:r>
              <a:rPr lang="en-US" altLang="zh-CN" sz="910">
                <a:solidFill>
                  <a:srgbClr val="FF0000"/>
                </a:solidFill>
              </a:rPr>
              <a:t>R</a:t>
            </a:r>
            <a:r>
              <a:rPr lang="zh-CN" altLang="en-US" sz="910">
                <a:solidFill>
                  <a:srgbClr val="FF0000"/>
                </a:solidFill>
              </a:rPr>
              <a:t>、</a:t>
            </a:r>
            <a:r>
              <a:rPr lang="en-US" altLang="zh-CN" sz="910">
                <a:solidFill>
                  <a:srgbClr val="FF0000"/>
                </a:solidFill>
              </a:rPr>
              <a:t>G</a:t>
            </a:r>
            <a:r>
              <a:rPr lang="zh-CN" altLang="en-US" sz="910">
                <a:solidFill>
                  <a:srgbClr val="FF0000"/>
                </a:solidFill>
              </a:rPr>
              <a:t>、</a:t>
            </a:r>
            <a:r>
              <a:rPr lang="en-US" altLang="zh-CN" sz="910">
                <a:solidFill>
                  <a:srgbClr val="FF0000"/>
                </a:solidFill>
              </a:rPr>
              <a:t>B</a:t>
            </a:r>
            <a:r>
              <a:rPr lang="zh-CN" altLang="en-US" sz="910">
                <a:solidFill>
                  <a:srgbClr val="FF0000"/>
                </a:solidFill>
              </a:rPr>
              <a:t>三个值所以展平后是</a:t>
            </a:r>
            <a:r>
              <a:rPr lang="en-US" altLang="zh-CN" sz="910">
                <a:solidFill>
                  <a:srgbClr val="FF0000"/>
                </a:solidFill>
              </a:rPr>
              <a:t>16x3=48</a:t>
            </a:r>
            <a:r>
              <a:rPr lang="zh-CN" altLang="en-US" sz="910">
                <a:solidFill>
                  <a:srgbClr val="FF0000"/>
                </a:solidFill>
              </a:rPr>
              <a:t>，所以通过</a:t>
            </a:r>
            <a:r>
              <a:rPr lang="en-US" altLang="zh-CN" sz="910">
                <a:solidFill>
                  <a:srgbClr val="FF0000"/>
                </a:solidFill>
              </a:rPr>
              <a:t>Patch Partition</a:t>
            </a:r>
            <a:r>
              <a:rPr lang="zh-CN" altLang="en-US" sz="910">
                <a:solidFill>
                  <a:srgbClr val="FF0000"/>
                </a:solidFill>
              </a:rPr>
              <a:t>后图像</a:t>
            </a:r>
            <a:r>
              <a:rPr lang="en-US" altLang="zh-CN" sz="910">
                <a:solidFill>
                  <a:srgbClr val="FF0000"/>
                </a:solidFill>
              </a:rPr>
              <a:t>shape</a:t>
            </a:r>
            <a:r>
              <a:rPr lang="zh-CN" altLang="en-US" sz="910">
                <a:solidFill>
                  <a:srgbClr val="FF0000"/>
                </a:solidFill>
              </a:rPr>
              <a:t>由</a:t>
            </a:r>
            <a:r>
              <a:rPr lang="en-US" altLang="zh-CN" sz="910">
                <a:solidFill>
                  <a:srgbClr val="FF0000"/>
                </a:solidFill>
              </a:rPr>
              <a:t> [H, W, 3]</a:t>
            </a:r>
            <a:r>
              <a:rPr lang="zh-CN" altLang="en-US" sz="910">
                <a:solidFill>
                  <a:srgbClr val="FF0000"/>
                </a:solidFill>
              </a:rPr>
              <a:t>变成了</a:t>
            </a:r>
            <a:r>
              <a:rPr lang="en-US" altLang="zh-CN" sz="910">
                <a:solidFill>
                  <a:srgbClr val="FF0000"/>
                </a:solidFill>
              </a:rPr>
              <a:t> [H/4, W/4, 48]</a:t>
            </a:r>
            <a:r>
              <a:rPr lang="zh-CN" altLang="en-US" sz="910">
                <a:solidFill>
                  <a:srgbClr val="FF0000"/>
                </a:solidFill>
              </a:rPr>
              <a:t>。</a:t>
            </a:r>
            <a:endParaRPr lang="zh-CN" altLang="en-US" sz="910">
              <a:solidFill>
                <a:srgbClr val="FF0000"/>
              </a:solidFill>
            </a:endParaRPr>
          </a:p>
          <a:p>
            <a:r>
              <a:rPr lang="zh-CN" altLang="en-US" sz="1000"/>
              <a:t>通过</a:t>
            </a:r>
            <a:r>
              <a:rPr lang="en-US" altLang="zh-CN" sz="1000"/>
              <a:t>Linear Embeding</a:t>
            </a:r>
            <a:r>
              <a:rPr lang="zh-CN" altLang="en-US" sz="1000"/>
              <a:t>层对每个像素的</a:t>
            </a:r>
            <a:r>
              <a:rPr lang="en-US" altLang="zh-CN" sz="1000"/>
              <a:t>channel</a:t>
            </a:r>
            <a:r>
              <a:rPr lang="zh-CN" altLang="en-US" sz="1000"/>
              <a:t>数据做线性变换，由</a:t>
            </a:r>
            <a:r>
              <a:rPr lang="en-US" altLang="zh-CN" sz="1000"/>
              <a:t>48</a:t>
            </a:r>
            <a:r>
              <a:rPr lang="zh-CN" altLang="en-US" sz="1000"/>
              <a:t>变成</a:t>
            </a:r>
            <a:r>
              <a:rPr lang="en-US" altLang="zh-CN" sz="1000"/>
              <a:t>C</a:t>
            </a:r>
            <a:r>
              <a:rPr lang="zh-CN" altLang="en-US" sz="1000"/>
              <a:t>（</a:t>
            </a:r>
            <a:r>
              <a:rPr lang="en-US" altLang="zh-CN" sz="1000">
                <a:solidFill>
                  <a:srgbClr val="FF0000"/>
                </a:solidFill>
              </a:rPr>
              <a:t>96</a:t>
            </a:r>
            <a:r>
              <a:rPr lang="zh-CN" altLang="en-US" sz="1000"/>
              <a:t>），即图像</a:t>
            </a:r>
            <a:r>
              <a:rPr lang="en-US" altLang="zh-CN" sz="1000"/>
              <a:t>shape</a:t>
            </a:r>
            <a:r>
              <a:rPr lang="zh-CN" altLang="en-US" sz="1000"/>
              <a:t>再由</a:t>
            </a:r>
            <a:r>
              <a:rPr lang="en-US" altLang="zh-CN" sz="1000"/>
              <a:t> [H/4, W/4, 48]</a:t>
            </a:r>
            <a:r>
              <a:rPr lang="zh-CN" altLang="en-US" sz="1000"/>
              <a:t>变成了</a:t>
            </a:r>
            <a:r>
              <a:rPr lang="en-US" altLang="zh-CN" sz="1000"/>
              <a:t> [H/4, W/4, C]</a:t>
            </a:r>
            <a:r>
              <a:rPr lang="zh-CN" altLang="en-US" sz="1000"/>
              <a:t>（</a:t>
            </a:r>
            <a:r>
              <a:rPr lang="en-US" altLang="zh-CN" sz="1000">
                <a:solidFill>
                  <a:srgbClr val="FF0000"/>
                </a:solidFill>
              </a:rPr>
              <a:t>[128, 128, 96]</a:t>
            </a:r>
            <a:r>
              <a:rPr lang="zh-CN" altLang="en-US" sz="1000"/>
              <a:t>）。</a:t>
            </a:r>
            <a:r>
              <a:rPr lang="zh-CN" altLang="en-US" sz="1000">
                <a:solidFill>
                  <a:srgbClr val="FF0000"/>
                </a:solidFill>
              </a:rPr>
              <a:t>在</a:t>
            </a:r>
            <a:r>
              <a:rPr lang="en-US" altLang="zh-CN" sz="1000">
                <a:solidFill>
                  <a:srgbClr val="FF0000"/>
                </a:solidFill>
              </a:rPr>
              <a:t>lineformer</a:t>
            </a:r>
            <a:r>
              <a:rPr lang="zh-CN" altLang="en-US" sz="1000">
                <a:solidFill>
                  <a:srgbClr val="FF0000"/>
                </a:solidFill>
              </a:rPr>
              <a:t>中</a:t>
            </a:r>
            <a:r>
              <a:rPr lang="en-US" altLang="zh-CN" sz="1000">
                <a:solidFill>
                  <a:srgbClr val="FF0000"/>
                </a:solidFill>
              </a:rPr>
              <a:t>Patch Partition</a:t>
            </a:r>
            <a:r>
              <a:rPr lang="zh-CN" altLang="en-US" sz="1000">
                <a:solidFill>
                  <a:srgbClr val="FF0000"/>
                </a:solidFill>
              </a:rPr>
              <a:t>和</a:t>
            </a:r>
            <a:r>
              <a:rPr lang="en-US" altLang="zh-CN" sz="1000">
                <a:solidFill>
                  <a:srgbClr val="FF0000"/>
                </a:solidFill>
              </a:rPr>
              <a:t>Linear Embeding</a:t>
            </a:r>
            <a:r>
              <a:rPr lang="zh-CN" altLang="en-US" sz="1000">
                <a:solidFill>
                  <a:srgbClr val="FF0000"/>
                </a:solidFill>
              </a:rPr>
              <a:t>直接通过一个卷积层实现的。</a:t>
            </a:r>
            <a:endParaRPr lang="en-US" altLang="zh-CN" sz="1000"/>
          </a:p>
          <a:p>
            <a:r>
              <a:rPr lang="zh-CN" altLang="en-US" sz="1000"/>
              <a:t>通过四个</a:t>
            </a:r>
            <a:r>
              <a:rPr lang="en-US" altLang="zh-CN" sz="1000"/>
              <a:t>Stage</a:t>
            </a:r>
            <a:r>
              <a:rPr lang="zh-CN" altLang="en-US" sz="1000"/>
              <a:t>构建不同大小的特征图，除了</a:t>
            </a:r>
            <a:r>
              <a:rPr lang="en-US" altLang="zh-CN" sz="1000"/>
              <a:t>Stage1</a:t>
            </a:r>
            <a:r>
              <a:rPr lang="zh-CN" altLang="en-US" sz="1000"/>
              <a:t>中先通过一个</a:t>
            </a:r>
            <a:r>
              <a:rPr lang="en-US" altLang="zh-CN" sz="1000"/>
              <a:t>Linear Embeding</a:t>
            </a:r>
            <a:r>
              <a:rPr lang="zh-CN" altLang="en-US" sz="1000"/>
              <a:t>层外，剩下三个</a:t>
            </a:r>
            <a:r>
              <a:rPr lang="en-US" altLang="zh-CN" sz="1000"/>
              <a:t>stage</a:t>
            </a:r>
            <a:r>
              <a:rPr lang="zh-CN" altLang="en-US" sz="1000"/>
              <a:t>都是先通过一个</a:t>
            </a:r>
            <a:r>
              <a:rPr lang="en-US" altLang="zh-CN" sz="1000"/>
              <a:t>Patch Merging</a:t>
            </a:r>
            <a:r>
              <a:rPr lang="zh-CN" altLang="en-US" sz="1000"/>
              <a:t>层进行下采样，像</a:t>
            </a:r>
            <a:r>
              <a:rPr lang="en-US" altLang="zh-CN" sz="1000"/>
              <a:t>CNN</a:t>
            </a:r>
            <a:r>
              <a:rPr lang="zh-CN" altLang="en-US" sz="1000"/>
              <a:t>一样逐层扩大感受野，以便获取到全局的信息。为产生一个层次化表示</a:t>
            </a:r>
            <a:r>
              <a:rPr lang="en-US" altLang="zh-CN" sz="1000"/>
              <a:t> (Hierarchical Representation)</a:t>
            </a:r>
            <a:r>
              <a:rPr lang="zh-CN" altLang="en-US" sz="1000"/>
              <a:t>，随着网络的加深，</a:t>
            </a:r>
            <a:r>
              <a:rPr lang="en-US" altLang="zh-CN" sz="1000"/>
              <a:t>tokens</a:t>
            </a:r>
            <a:r>
              <a:rPr lang="zh-CN" altLang="en-US" sz="1000"/>
              <a:t>数逐渐通过</a:t>
            </a:r>
            <a:r>
              <a:rPr lang="en-US" altLang="zh-CN" sz="1000"/>
              <a:t>Patch Meraging</a:t>
            </a:r>
            <a:r>
              <a:rPr lang="zh-CN" altLang="en-US" sz="1000"/>
              <a:t>被减少，其维度扩大。每个</a:t>
            </a:r>
            <a:r>
              <a:rPr lang="en-US" altLang="zh-CN" sz="1000"/>
              <a:t>Stage</a:t>
            </a:r>
            <a:r>
              <a:rPr lang="zh-CN" altLang="en-US" sz="1000"/>
              <a:t>都会改变张量的维度，从而形成一种层次化的表征。</a:t>
            </a:r>
            <a:endParaRPr lang="zh-CN" altLang="en-US" sz="1000"/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-317" y="585470"/>
            <a:ext cx="11820525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8580"/>
            <a:ext cx="10968990" cy="864235"/>
          </a:xfrm>
        </p:spPr>
        <p:txBody>
          <a:bodyPr/>
          <a:p>
            <a:r>
              <a:rPr lang="en-US" altLang="zh-CN"/>
              <a:t>pixel decoder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37515" y="825500"/>
            <a:ext cx="11389995" cy="5691505"/>
          </a:xfrm>
        </p:spPr>
        <p:txBody>
          <a:bodyPr>
            <a:noAutofit/>
          </a:bodyPr>
          <a:p>
            <a:r>
              <a:rPr lang="en-US" altLang="zh-CN" sz="1200"/>
              <a:t>Pixel Decoder </a:t>
            </a:r>
            <a:r>
              <a:rPr lang="zh-CN" altLang="en-US" sz="1200"/>
              <a:t>接收来自</a:t>
            </a:r>
            <a:r>
              <a:rPr lang="en-US" altLang="zh-CN" sz="1200"/>
              <a:t> Swin Transformer </a:t>
            </a:r>
            <a:r>
              <a:rPr lang="zh-CN" altLang="en-US" sz="1200"/>
              <a:t>不同阶段的输出（即</a:t>
            </a:r>
            <a:r>
              <a:rPr lang="en-US" altLang="zh-CN" sz="1200"/>
              <a:t>swin</a:t>
            </a:r>
            <a:r>
              <a:rPr lang="zh-CN" altLang="en-US" sz="1200"/>
              <a:t>输出的的</a:t>
            </a:r>
            <a:r>
              <a:rPr lang="en-US" altLang="zh-CN" sz="1200"/>
              <a:t> Stage1</a:t>
            </a:r>
            <a:r>
              <a:rPr lang="zh-CN" altLang="en-US" sz="1200"/>
              <a:t>到</a:t>
            </a:r>
            <a:r>
              <a:rPr lang="en-US" altLang="zh-CN" sz="1200"/>
              <a:t>Stage4</a:t>
            </a:r>
            <a:r>
              <a:rPr lang="zh-CN" altLang="en-US" sz="1200"/>
              <a:t>）。</a:t>
            </a:r>
            <a:endParaRPr lang="zh-CN" altLang="en-US" sz="1200"/>
          </a:p>
          <a:p>
            <a:r>
              <a:rPr lang="zh-CN" altLang="en-US" sz="1200"/>
              <a:t>低层（</a:t>
            </a:r>
            <a:r>
              <a:rPr lang="en-US" altLang="zh-CN" sz="1200"/>
              <a:t>Stage 1/2</a:t>
            </a:r>
            <a:r>
              <a:rPr lang="zh-CN" altLang="en-US" sz="1200"/>
              <a:t>）：分辨率高（</a:t>
            </a:r>
            <a:r>
              <a:rPr lang="en-US" altLang="zh-CN" sz="1200"/>
              <a:t>H/4, W/4</a:t>
            </a:r>
            <a:r>
              <a:rPr lang="zh-CN" altLang="en-US" sz="1200"/>
              <a:t>），充满了边缘、纹理等物理细节，但它不知道哪条线属于哪个实例。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[128, 128, 96], [64,64,182]</a:t>
            </a:r>
            <a:endParaRPr lang="zh-CN" altLang="en-US" sz="1200"/>
          </a:p>
          <a:p>
            <a:r>
              <a:rPr lang="zh-CN" altLang="en-US" sz="1200"/>
              <a:t>高层（</a:t>
            </a:r>
            <a:r>
              <a:rPr lang="en-US" altLang="zh-CN" sz="1200"/>
              <a:t>Stage 3/4</a:t>
            </a:r>
            <a:r>
              <a:rPr lang="zh-CN" altLang="en-US" sz="1200"/>
              <a:t>）：分辨率低（</a:t>
            </a:r>
            <a:r>
              <a:rPr lang="en-US" altLang="zh-CN" sz="1200"/>
              <a:t>H/32, W/32</a:t>
            </a:r>
            <a:r>
              <a:rPr lang="zh-CN" altLang="en-US" sz="1200"/>
              <a:t>），语义极强，知道图表的整体结构。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[32, 32, 384], [16,16,768]</a:t>
            </a:r>
            <a:endParaRPr lang="zh-CN" altLang="en-US" sz="1200"/>
          </a:p>
          <a:p>
            <a:endParaRPr lang="zh-CN" altLang="en-US" sz="1200"/>
          </a:p>
          <a:p>
            <a:r>
              <a:rPr lang="en-US" altLang="zh-CN" sz="1200"/>
              <a:t>A. </a:t>
            </a:r>
            <a:r>
              <a:rPr lang="zh-CN" altLang="en-US" sz="1200"/>
              <a:t>维度对齐</a:t>
            </a:r>
            <a:r>
              <a:rPr lang="en-US" altLang="zh-CN" sz="1200"/>
              <a:t> (Lateral Connections)</a:t>
            </a:r>
            <a:endParaRPr lang="en-US" altLang="zh-CN" sz="1200"/>
          </a:p>
          <a:p>
            <a:pPr marL="0" indent="457200">
              <a:buNone/>
            </a:pPr>
            <a:r>
              <a:rPr lang="en-US" altLang="zh-CN" sz="1200"/>
              <a:t>Swin</a:t>
            </a:r>
            <a:r>
              <a:rPr lang="zh-CN" altLang="en-US" sz="1200"/>
              <a:t>输出的各层通道数是不统一的。</a:t>
            </a:r>
            <a:r>
              <a:rPr lang="en-US" altLang="zh-CN" sz="1200"/>
              <a:t>Pixel Decoder</a:t>
            </a:r>
            <a:r>
              <a:rPr lang="zh-CN" altLang="en-US" sz="1200"/>
              <a:t>首先用</a:t>
            </a:r>
            <a:r>
              <a:rPr lang="en-US" altLang="zh-CN" sz="1200"/>
              <a:t> 1*1</a:t>
            </a:r>
            <a:r>
              <a:rPr lang="zh-CN" altLang="en-US" sz="1200"/>
              <a:t>卷积将所有层级的通道数统一（例如统一到</a:t>
            </a:r>
            <a:r>
              <a:rPr lang="en-US" altLang="zh-CN" sz="1200"/>
              <a:t> 256</a:t>
            </a:r>
            <a:r>
              <a:rPr lang="zh-CN" altLang="en-US" sz="1200"/>
              <a:t>）。这就像是把不同粗细的电线，通过转接头（卷积）变成统一规格。</a:t>
            </a:r>
            <a:endParaRPr lang="zh-CN" altLang="en-US" sz="1200"/>
          </a:p>
          <a:p>
            <a:endParaRPr lang="zh-CN" altLang="en-US" sz="1200"/>
          </a:p>
          <a:p>
            <a:r>
              <a:rPr lang="en-US" altLang="zh-CN" sz="1200"/>
              <a:t>B. </a:t>
            </a:r>
            <a:r>
              <a:rPr lang="zh-CN" altLang="en-US" sz="1200"/>
              <a:t>自上而下的上采样</a:t>
            </a:r>
            <a:r>
              <a:rPr lang="en-US" altLang="zh-CN" sz="1200"/>
              <a:t> (Top-down Refinement)</a:t>
            </a:r>
            <a:endParaRPr lang="en-US" altLang="zh-CN" sz="1200"/>
          </a:p>
          <a:p>
            <a:pPr lvl="1"/>
            <a:r>
              <a:rPr lang="zh-CN" altLang="en-US" sz="990"/>
              <a:t>这是得到</a:t>
            </a:r>
            <a:r>
              <a:rPr lang="en-US" altLang="zh-CN" sz="990"/>
              <a:t>“</a:t>
            </a:r>
            <a:r>
              <a:rPr lang="zh-CN" altLang="en-US" sz="990"/>
              <a:t>高清</a:t>
            </a:r>
            <a:r>
              <a:rPr lang="en-US" altLang="zh-CN" sz="990"/>
              <a:t>”</a:t>
            </a:r>
            <a:r>
              <a:rPr lang="zh-CN" altLang="en-US" sz="990"/>
              <a:t>特征的核心逻辑：</a:t>
            </a:r>
            <a:endParaRPr lang="zh-CN" altLang="en-US" sz="990"/>
          </a:p>
          <a:p>
            <a:pPr lvl="1"/>
            <a:r>
              <a:rPr lang="zh-CN" altLang="en-US" sz="990"/>
              <a:t>起始点：从最深、最模糊的特征图（</a:t>
            </a:r>
            <a:r>
              <a:rPr lang="en-US" altLang="zh-CN" sz="990"/>
              <a:t>1/32</a:t>
            </a:r>
            <a:r>
              <a:rPr lang="zh-CN" altLang="en-US" sz="990"/>
              <a:t>）开始</a:t>
            </a:r>
            <a:endParaRPr lang="zh-CN" altLang="en-US" sz="990"/>
          </a:p>
          <a:p>
            <a:pPr lvl="1"/>
            <a:r>
              <a:rPr lang="zh-CN" altLang="en-US" sz="990"/>
              <a:t>操作：对该层进行</a:t>
            </a:r>
            <a:r>
              <a:rPr lang="en-US" altLang="zh-CN" sz="990"/>
              <a:t>2</a:t>
            </a:r>
            <a:r>
              <a:rPr lang="zh-CN" altLang="en-US" sz="990"/>
              <a:t>倍上采样（通常使用双线性插值或转置卷积），使其分辨率对齐上一层（</a:t>
            </a:r>
            <a:r>
              <a:rPr lang="en-US" altLang="zh-CN" sz="990"/>
              <a:t>1/16</a:t>
            </a:r>
            <a:r>
              <a:rPr lang="zh-CN" altLang="en-US" sz="990"/>
              <a:t>）。</a:t>
            </a:r>
            <a:endParaRPr lang="zh-CN" altLang="en-US" sz="990"/>
          </a:p>
          <a:p>
            <a:pPr lvl="1"/>
            <a:r>
              <a:rPr lang="zh-CN" altLang="en-US" sz="990"/>
              <a:t>融合：</a:t>
            </a:r>
            <a:r>
              <a:rPr lang="en-US" altLang="zh-CN" sz="990"/>
              <a:t> </a:t>
            </a:r>
            <a:r>
              <a:rPr lang="zh-CN" altLang="en-US" sz="990"/>
              <a:t>将上采样后的特征与上一层经过侧边连接的特征进行</a:t>
            </a:r>
            <a:r>
              <a:rPr lang="en-US" altLang="zh-CN" sz="990"/>
              <a:t>Element-wise Sum</a:t>
            </a:r>
            <a:r>
              <a:rPr lang="zh-CN" altLang="en-US" sz="990"/>
              <a:t>（按元素相加）。</a:t>
            </a:r>
            <a:endParaRPr lang="zh-CN" altLang="en-US" sz="990"/>
          </a:p>
          <a:p>
            <a:pPr lvl="1"/>
            <a:r>
              <a:rPr lang="zh-CN" altLang="en-US" sz="990"/>
              <a:t>循环：</a:t>
            </a:r>
            <a:r>
              <a:rPr lang="en-US" altLang="zh-CN" sz="990"/>
              <a:t> </a:t>
            </a:r>
            <a:r>
              <a:rPr lang="zh-CN" altLang="en-US" sz="990"/>
              <a:t>这个过程一直持续到最底层的</a:t>
            </a:r>
            <a:r>
              <a:rPr lang="en-US" altLang="zh-CN" sz="990"/>
              <a:t> 1/4 </a:t>
            </a:r>
            <a:r>
              <a:rPr lang="zh-CN" altLang="en-US" sz="990"/>
              <a:t>分辨率。</a:t>
            </a:r>
            <a:endParaRPr lang="zh-CN" altLang="en-US" sz="990"/>
          </a:p>
          <a:p>
            <a:pPr lvl="0"/>
            <a:r>
              <a:rPr lang="zh-CN" altLang="en-US" sz="1200"/>
              <a:t>输出：</a:t>
            </a:r>
            <a:r>
              <a:rPr lang="en-US" altLang="zh-CN" sz="1200">
                <a:solidFill>
                  <a:srgbClr val="FF0000"/>
                </a:solidFill>
              </a:rPr>
              <a:t> [256, 128, 128]</a:t>
            </a:r>
            <a:endParaRPr lang="en-US" altLang="zh-CN" sz="1200"/>
          </a:p>
          <a:p>
            <a:endParaRPr lang="zh-CN" altLang="en-US" sz="1200"/>
          </a:p>
          <a:p>
            <a:r>
              <a:rPr lang="en-US" altLang="zh-CN" sz="1200"/>
              <a:t>C. </a:t>
            </a:r>
            <a:r>
              <a:rPr lang="zh-CN" altLang="en-US" sz="1200"/>
              <a:t>特征平滑</a:t>
            </a:r>
            <a:r>
              <a:rPr lang="en-US" altLang="zh-CN" sz="1200"/>
              <a:t> (Post-convolution)</a:t>
            </a:r>
            <a:r>
              <a:rPr lang="zh-CN" altLang="en-US" sz="1200"/>
              <a:t>在每一层融合后，通常会跟一个</a:t>
            </a:r>
            <a:r>
              <a:rPr lang="en-US" altLang="zh-CN" sz="1200"/>
              <a:t> 3*3 </a:t>
            </a:r>
            <a:r>
              <a:rPr lang="zh-CN" altLang="en-US" sz="1200"/>
              <a:t>的卷积。</a:t>
            </a:r>
            <a:endParaRPr lang="zh-CN" altLang="en-US" sz="1200"/>
          </a:p>
          <a:p>
            <a:r>
              <a:rPr lang="zh-CN" altLang="en-US" sz="1200"/>
              <a:t>作用：</a:t>
            </a:r>
            <a:r>
              <a:rPr lang="en-US" altLang="zh-CN" sz="1200"/>
              <a:t> </a:t>
            </a:r>
            <a:r>
              <a:rPr lang="zh-CN" altLang="en-US" sz="1200"/>
              <a:t>消除上采样产生的</a:t>
            </a:r>
            <a:r>
              <a:rPr lang="en-US" altLang="zh-CN" sz="1200"/>
              <a:t>“</a:t>
            </a:r>
            <a:r>
              <a:rPr lang="zh-CN" altLang="en-US" sz="1200"/>
              <a:t>棋盘效应</a:t>
            </a:r>
            <a:r>
              <a:rPr lang="en-US" altLang="zh-CN" sz="1200"/>
              <a:t>”</a:t>
            </a:r>
            <a:r>
              <a:rPr lang="zh-CN" altLang="en-US" sz="1200"/>
              <a:t>或对齐误差，让线条的特征在空间上更加平滑、连续。</a:t>
            </a:r>
            <a:endParaRPr lang="zh-CN" altLang="en-US" sz="12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l="30262" t="1029" r="30761" b="53294"/>
          <a:stretch>
            <a:fillRect/>
          </a:stretch>
        </p:blipFill>
        <p:spPr>
          <a:xfrm>
            <a:off x="7718425" y="3662045"/>
            <a:ext cx="4109085" cy="28028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8580"/>
            <a:ext cx="10968990" cy="864235"/>
          </a:xfrm>
        </p:spPr>
        <p:txBody>
          <a:bodyPr/>
          <a:p>
            <a:r>
              <a:rPr lang="en-US" altLang="zh-CN"/>
              <a:t>transformer decoder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932815"/>
            <a:ext cx="10968990" cy="5584190"/>
          </a:xfrm>
        </p:spPr>
        <p:txBody>
          <a:bodyPr>
            <a:noAutofit/>
          </a:bodyPr>
          <a:p>
            <a:r>
              <a:rPr lang="en-US" altLang="zh-CN" sz="1200"/>
              <a:t>1. </a:t>
            </a:r>
            <a:r>
              <a:rPr lang="zh-CN" altLang="en-US" sz="1200"/>
              <a:t>输入：</a:t>
            </a:r>
            <a:endParaRPr lang="zh-CN" altLang="en-US" sz="1200"/>
          </a:p>
          <a:p>
            <a:pPr lvl="1"/>
            <a:r>
              <a:rPr lang="zh-CN" altLang="en-US" sz="1000"/>
              <a:t>特征（</a:t>
            </a:r>
            <a:r>
              <a:rPr lang="en-US" altLang="zh-CN" sz="1000"/>
              <a:t>Memory</a:t>
            </a:r>
            <a:r>
              <a:rPr lang="zh-CN" altLang="en-US" sz="1000"/>
              <a:t>）：来自</a:t>
            </a:r>
            <a:r>
              <a:rPr lang="en-US" altLang="zh-CN" sz="1000"/>
              <a:t>Pixel Decoder</a:t>
            </a:r>
            <a:r>
              <a:rPr lang="zh-CN" altLang="en-US" sz="1000"/>
              <a:t>的多尺度输出。</a:t>
            </a:r>
            <a:endParaRPr lang="zh-CN" altLang="en-US" sz="1000"/>
          </a:p>
          <a:p>
            <a:pPr lvl="1"/>
            <a:r>
              <a:rPr lang="zh-CN" altLang="en-US" sz="1000">
                <a:solidFill>
                  <a:srgbClr val="FF0000"/>
                </a:solidFill>
              </a:rPr>
              <a:t>注意：</a:t>
            </a:r>
            <a:r>
              <a:rPr lang="en-US" altLang="zh-CN" sz="1000">
                <a:solidFill>
                  <a:srgbClr val="FF0000"/>
                </a:solidFill>
              </a:rPr>
              <a:t>Decoder</a:t>
            </a:r>
            <a:r>
              <a:rPr lang="zh-CN" altLang="en-US" sz="1000">
                <a:solidFill>
                  <a:srgbClr val="FF0000"/>
                </a:solidFill>
              </a:rPr>
              <a:t>为了思考得快，通常不直接用</a:t>
            </a:r>
            <a:r>
              <a:rPr lang="en-US" altLang="zh-CN" sz="1000">
                <a:solidFill>
                  <a:srgbClr val="FF0000"/>
                </a:solidFill>
              </a:rPr>
              <a:t>128</a:t>
            </a:r>
            <a:r>
              <a:rPr lang="zh-CN" altLang="en-US" sz="1000">
                <a:solidFill>
                  <a:srgbClr val="FF0000"/>
                </a:solidFill>
              </a:rPr>
              <a:t>的图，而是用更小的图来定位。</a:t>
            </a:r>
            <a:endParaRPr lang="zh-CN" altLang="en-US" sz="1000">
              <a:solidFill>
                <a:srgbClr val="FF0000"/>
              </a:solidFill>
            </a:endParaRPr>
          </a:p>
          <a:p>
            <a:pPr lvl="1"/>
            <a:r>
              <a:rPr lang="zh-CN" altLang="en-US" sz="1000"/>
              <a:t>查询向量（</a:t>
            </a:r>
            <a:r>
              <a:rPr lang="en-US" altLang="zh-CN" sz="1000"/>
              <a:t>Object Queries</a:t>
            </a:r>
            <a:r>
              <a:rPr lang="zh-CN" altLang="en-US" sz="1000"/>
              <a:t>）：</a:t>
            </a:r>
            <a:r>
              <a:rPr lang="en-US" altLang="zh-CN" sz="1000"/>
              <a:t>N</a:t>
            </a:r>
            <a:r>
              <a:rPr lang="zh-CN" altLang="en-US" sz="1000"/>
              <a:t>个（</a:t>
            </a:r>
            <a:r>
              <a:rPr lang="en-US" altLang="zh-CN" sz="1000"/>
              <a:t>100</a:t>
            </a:r>
            <a:r>
              <a:rPr lang="zh-CN" altLang="en-US" sz="1000"/>
              <a:t>个）</a:t>
            </a:r>
            <a:r>
              <a:rPr lang="en-US" altLang="zh-CN" sz="1000"/>
              <a:t>[256]</a:t>
            </a:r>
            <a:r>
              <a:rPr lang="zh-CN" altLang="en-US" sz="1000"/>
              <a:t>维的随机向量。</a:t>
            </a:r>
            <a:endParaRPr lang="zh-CN" altLang="en-US" sz="1000"/>
          </a:p>
          <a:p>
            <a:pPr lvl="1"/>
            <a:r>
              <a:rPr lang="zh-CN" altLang="en-US" sz="1000"/>
              <a:t>位置编码：特征图上的像素点分别在什么位置</a:t>
            </a:r>
            <a:endParaRPr lang="zh-CN" altLang="en-US" sz="1000"/>
          </a:p>
          <a:p>
            <a:r>
              <a:rPr lang="en-US" altLang="zh-CN" sz="1200"/>
              <a:t>2. </a:t>
            </a:r>
            <a:r>
              <a:rPr lang="zh-CN" altLang="en-US" sz="1200"/>
              <a:t>交互阶段：</a:t>
            </a:r>
            <a:endParaRPr lang="zh-CN" altLang="en-US" sz="1200"/>
          </a:p>
          <a:p>
            <a:r>
              <a:rPr lang="en-US" altLang="zh-CN" sz="1200"/>
              <a:t>LineFormer </a:t>
            </a:r>
            <a:r>
              <a:rPr lang="zh-CN" altLang="en-US" sz="1200"/>
              <a:t>的</a:t>
            </a:r>
            <a:r>
              <a:rPr lang="en-US" altLang="zh-CN" sz="1200"/>
              <a:t> Decoder </a:t>
            </a:r>
            <a:r>
              <a:rPr lang="zh-CN" altLang="en-US" sz="1200"/>
              <a:t>通常包含</a:t>
            </a:r>
            <a:r>
              <a:rPr lang="en-US" altLang="zh-CN" sz="1200"/>
              <a:t> 6 </a:t>
            </a:r>
            <a:r>
              <a:rPr lang="zh-CN" altLang="en-US" sz="1200"/>
              <a:t>到</a:t>
            </a:r>
            <a:r>
              <a:rPr lang="en-US" altLang="zh-CN" sz="1200"/>
              <a:t> 9 </a:t>
            </a:r>
            <a:r>
              <a:rPr lang="zh-CN" altLang="en-US" sz="1200"/>
              <a:t>层（</a:t>
            </a:r>
            <a:r>
              <a:rPr lang="en-US" altLang="zh-CN" sz="1200"/>
              <a:t>Layer</a:t>
            </a:r>
            <a:r>
              <a:rPr lang="zh-CN" altLang="en-US" sz="1200"/>
              <a:t>）。每一层都在做同一件事：让</a:t>
            </a:r>
            <a:r>
              <a:rPr lang="en-US" altLang="zh-CN" sz="1200"/>
              <a:t> Query</a:t>
            </a:r>
            <a:r>
              <a:rPr lang="zh-CN" altLang="en-US" sz="1200"/>
              <a:t>变得更懂它要找的那条线</a:t>
            </a:r>
            <a:endParaRPr lang="zh-CN" altLang="en-US" sz="1200"/>
          </a:p>
          <a:p>
            <a:pPr lvl="1"/>
            <a:r>
              <a:rPr lang="zh-CN" altLang="en-US" sz="990"/>
              <a:t>第一步：</a:t>
            </a:r>
            <a:r>
              <a:rPr lang="en-US" altLang="zh-CN" sz="990"/>
              <a:t>Cross-Attention</a:t>
            </a:r>
            <a:endParaRPr lang="en-US" altLang="zh-CN" sz="990"/>
          </a:p>
          <a:p>
            <a:pPr lvl="2"/>
            <a:r>
              <a:rPr lang="zh-CN" altLang="en-US" sz="990"/>
              <a:t>通过</a:t>
            </a:r>
            <a:r>
              <a:rPr lang="en-US" altLang="zh-CN" sz="990"/>
              <a:t> Masked Attention</a:t>
            </a:r>
            <a:r>
              <a:rPr lang="zh-CN" altLang="en-US" sz="990"/>
              <a:t>（掩码注意力），</a:t>
            </a:r>
            <a:r>
              <a:rPr lang="en-US" altLang="zh-CN" sz="990"/>
              <a:t>Query</a:t>
            </a:r>
            <a:r>
              <a:rPr lang="zh-CN" altLang="en-US" sz="990"/>
              <a:t>只看上一轮自己认为有线的地方。</a:t>
            </a:r>
            <a:endParaRPr lang="zh-CN" altLang="en-US" sz="990"/>
          </a:p>
          <a:p>
            <a:pPr lvl="2"/>
            <a:r>
              <a:rPr lang="zh-CN" altLang="en-US" sz="990"/>
              <a:t>例子：</a:t>
            </a:r>
            <a:r>
              <a:rPr lang="en-US" altLang="zh-CN" sz="990"/>
              <a:t>Query 0 </a:t>
            </a:r>
            <a:r>
              <a:rPr lang="zh-CN" altLang="en-US" sz="990"/>
              <a:t>觉得</a:t>
            </a:r>
            <a:r>
              <a:rPr lang="en-US" altLang="zh-CN" sz="990"/>
              <a:t> (30, 40) </a:t>
            </a:r>
            <a:r>
              <a:rPr lang="zh-CN" altLang="en-US" sz="990"/>
              <a:t>这个坐标附近有一条上升的线，那它在这一层就会盯着</a:t>
            </a:r>
            <a:r>
              <a:rPr lang="en-US" altLang="zh-CN" sz="990"/>
              <a:t>(30, 40)</a:t>
            </a:r>
            <a:r>
              <a:rPr lang="zh-CN" altLang="en-US" sz="990"/>
              <a:t>周围的像素看，提取出这部分线条的颜色、粗细、连贯性特征。</a:t>
            </a:r>
            <a:endParaRPr lang="zh-CN" altLang="en-US" sz="990"/>
          </a:p>
          <a:p>
            <a:pPr lvl="1"/>
            <a:r>
              <a:rPr lang="zh-CN" altLang="en-US" sz="990"/>
              <a:t>第二步：</a:t>
            </a:r>
            <a:r>
              <a:rPr lang="en-US" altLang="zh-CN" sz="990"/>
              <a:t>Self-Attention</a:t>
            </a:r>
            <a:endParaRPr lang="en-US" altLang="zh-CN" sz="990"/>
          </a:p>
          <a:p>
            <a:pPr lvl="2"/>
            <a:r>
              <a:rPr lang="zh-CN" altLang="en-US" sz="990"/>
              <a:t>动作：</a:t>
            </a:r>
            <a:r>
              <a:rPr lang="en-US" altLang="zh-CN" sz="990"/>
              <a:t>100 </a:t>
            </a:r>
            <a:r>
              <a:rPr lang="zh-CN" altLang="en-US" sz="990"/>
              <a:t>个</a:t>
            </a:r>
            <a:r>
              <a:rPr lang="en-US" altLang="zh-CN" sz="990"/>
              <a:t> Query </a:t>
            </a:r>
            <a:r>
              <a:rPr lang="zh-CN" altLang="en-US" sz="990"/>
              <a:t>互相通信，确保</a:t>
            </a:r>
            <a:r>
              <a:rPr lang="en-US" altLang="zh-CN" sz="990"/>
              <a:t> 100 </a:t>
            </a:r>
            <a:r>
              <a:rPr lang="zh-CN" altLang="en-US" sz="990"/>
              <a:t>个</a:t>
            </a:r>
            <a:r>
              <a:rPr lang="en-US" altLang="zh-CN" sz="990"/>
              <a:t> Query </a:t>
            </a:r>
            <a:r>
              <a:rPr lang="zh-CN" altLang="en-US" sz="990"/>
              <a:t>最终各司其职，不会大家都去预测同一条线。</a:t>
            </a:r>
            <a:endParaRPr lang="zh-CN" altLang="en-US" sz="990"/>
          </a:p>
          <a:p>
            <a:pPr lvl="1"/>
            <a:r>
              <a:rPr lang="zh-CN" altLang="en-US" sz="990"/>
              <a:t>第三步：</a:t>
            </a:r>
            <a:r>
              <a:rPr lang="en-US" altLang="zh-CN" sz="990"/>
              <a:t>FFN</a:t>
            </a:r>
            <a:r>
              <a:rPr lang="zh-CN" altLang="en-US" sz="990"/>
              <a:t>：经过</a:t>
            </a:r>
            <a:r>
              <a:rPr lang="en-US" altLang="zh-CN" sz="990"/>
              <a:t> MLP </a:t>
            </a:r>
            <a:r>
              <a:rPr lang="zh-CN" altLang="en-US" sz="990"/>
              <a:t>网络，</a:t>
            </a:r>
            <a:r>
              <a:rPr lang="en-US" altLang="zh-CN" sz="990"/>
              <a:t>Query</a:t>
            </a:r>
            <a:r>
              <a:rPr lang="zh-CN" altLang="en-US" sz="990"/>
              <a:t>最终成了具有高度语义的</a:t>
            </a:r>
            <a:r>
              <a:rPr lang="en-US" altLang="zh-CN" sz="990"/>
              <a:t>“</a:t>
            </a:r>
            <a:r>
              <a:rPr lang="zh-CN" altLang="en-US" sz="990"/>
              <a:t>实例特征</a:t>
            </a:r>
            <a:r>
              <a:rPr lang="en-US" altLang="zh-CN" sz="990"/>
              <a:t>”</a:t>
            </a:r>
            <a:r>
              <a:rPr lang="zh-CN" altLang="en-US" sz="990"/>
              <a:t>。</a:t>
            </a:r>
            <a:endParaRPr lang="zh-CN" altLang="en-US" sz="1200"/>
          </a:p>
          <a:p>
            <a:r>
              <a:rPr lang="en-US" altLang="zh-CN" sz="1200"/>
              <a:t>3. </a:t>
            </a:r>
            <a:r>
              <a:rPr lang="zh-CN" altLang="en-US" sz="1200"/>
              <a:t>输出阶段：</a:t>
            </a:r>
            <a:r>
              <a:rPr lang="en-US" altLang="zh-CN" sz="1200"/>
              <a:t>Decoder </a:t>
            </a:r>
            <a:r>
              <a:rPr lang="zh-CN" altLang="en-US" sz="1200"/>
              <a:t>输出</a:t>
            </a:r>
            <a:r>
              <a:rPr lang="en-US" altLang="zh-CN" sz="1200"/>
              <a:t>100</a:t>
            </a:r>
            <a:r>
              <a:rPr lang="zh-CN" altLang="en-US" sz="1200"/>
              <a:t>个</a:t>
            </a:r>
            <a:r>
              <a:rPr lang="en-US" altLang="zh-CN" sz="1200"/>
              <a:t>[256]</a:t>
            </a:r>
            <a:r>
              <a:rPr lang="zh-CN" altLang="en-US" sz="1200"/>
              <a:t>维的最终向量。</a:t>
            </a:r>
            <a:endParaRPr lang="zh-CN" altLang="en-US" sz="1200"/>
          </a:p>
          <a:p>
            <a:pPr lvl="1"/>
            <a:r>
              <a:rPr lang="zh-CN" altLang="en-US" sz="990"/>
              <a:t>分支一：</a:t>
            </a:r>
            <a:r>
              <a:rPr lang="en-US" altLang="zh-CN" sz="990"/>
              <a:t>Classification</a:t>
            </a:r>
            <a:r>
              <a:rPr lang="zh-CN" altLang="en-US" sz="990"/>
              <a:t>：每个</a:t>
            </a:r>
            <a:r>
              <a:rPr lang="en-US" altLang="zh-CN" sz="990"/>
              <a:t> Query </a:t>
            </a:r>
            <a:r>
              <a:rPr lang="zh-CN" altLang="en-US" sz="990"/>
              <a:t>向量进入一个线性层。结果：</a:t>
            </a:r>
            <a:r>
              <a:rPr lang="en-US" altLang="zh-CN" sz="990"/>
              <a:t>Query 0</a:t>
            </a:r>
            <a:r>
              <a:rPr lang="zh-CN" altLang="en-US" sz="990"/>
              <a:t>可能得到</a:t>
            </a:r>
            <a:r>
              <a:rPr lang="en-US" altLang="zh-CN" sz="990"/>
              <a:t> [0.98, 0.02]</a:t>
            </a:r>
            <a:r>
              <a:rPr lang="zh-CN" altLang="en-US" sz="990"/>
              <a:t>，意思是它有</a:t>
            </a:r>
            <a:r>
              <a:rPr lang="en-US" altLang="zh-CN" sz="990"/>
              <a:t>98%</a:t>
            </a:r>
            <a:r>
              <a:rPr lang="zh-CN" altLang="en-US" sz="990"/>
              <a:t>的把握抓到了一条线。</a:t>
            </a:r>
            <a:endParaRPr lang="zh-CN" altLang="en-US" sz="990"/>
          </a:p>
          <a:p>
            <a:pPr lvl="1"/>
            <a:r>
              <a:rPr lang="zh-CN" altLang="en-US" sz="990"/>
              <a:t>分支二：</a:t>
            </a:r>
            <a:r>
              <a:rPr lang="en-US" altLang="zh-CN" sz="990"/>
              <a:t>Mask Embedding</a:t>
            </a:r>
            <a:r>
              <a:rPr lang="zh-CN" altLang="en-US" sz="990"/>
              <a:t>：每个</a:t>
            </a:r>
            <a:r>
              <a:rPr lang="en-US" altLang="zh-CN" sz="990"/>
              <a:t> Query </a:t>
            </a:r>
            <a:r>
              <a:rPr lang="zh-CN" altLang="en-US" sz="990"/>
              <a:t>向量还会变成一个</a:t>
            </a:r>
            <a:r>
              <a:rPr lang="en-US" altLang="zh-CN" sz="990"/>
              <a:t>Mask</a:t>
            </a:r>
            <a:r>
              <a:rPr lang="zh-CN" altLang="en-US" sz="990"/>
              <a:t>特征向量（也是</a:t>
            </a:r>
            <a:r>
              <a:rPr lang="en-US" altLang="zh-CN" sz="990"/>
              <a:t> 256 </a:t>
            </a:r>
            <a:r>
              <a:rPr lang="zh-CN" altLang="en-US" sz="990"/>
              <a:t>维）。</a:t>
            </a:r>
            <a:endParaRPr lang="zh-CN" altLang="en-US" sz="1200"/>
          </a:p>
          <a:p>
            <a:r>
              <a:rPr lang="en-US" altLang="zh-CN" sz="1200"/>
              <a:t>4. </a:t>
            </a:r>
            <a:r>
              <a:rPr lang="zh-CN" altLang="en-US" sz="1200"/>
              <a:t>点积：逐像素对比：</a:t>
            </a:r>
            <a:r>
              <a:rPr lang="en-US" altLang="zh-CN" sz="1200"/>
              <a:t>Query 0</a:t>
            </a:r>
            <a:r>
              <a:rPr lang="zh-CN" altLang="en-US" sz="1200"/>
              <a:t>的</a:t>
            </a:r>
            <a:r>
              <a:rPr lang="en-US" altLang="zh-CN" sz="1200"/>
              <a:t> [256] </a:t>
            </a:r>
            <a:r>
              <a:rPr lang="zh-CN" altLang="en-US" sz="1200"/>
              <a:t>向量，去跟特征图上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 [256, 128, 128]</a:t>
            </a:r>
            <a:r>
              <a:rPr lang="en-US" altLang="zh-CN" sz="1200"/>
              <a:t>128*128 = 16384</a:t>
            </a:r>
            <a:r>
              <a:rPr lang="zh-CN" altLang="en-US" sz="1200"/>
              <a:t>个点逐一做乘法。</a:t>
            </a:r>
            <a:endParaRPr lang="zh-CN" altLang="en-US" sz="1200"/>
          </a:p>
          <a:p>
            <a:pPr lvl="1"/>
            <a:r>
              <a:rPr lang="zh-CN" altLang="en-US" sz="990"/>
              <a:t>逻辑：如果某个像素点的</a:t>
            </a:r>
            <a:r>
              <a:rPr lang="en-US" altLang="zh-CN" sz="990"/>
              <a:t> [256] </a:t>
            </a:r>
            <a:r>
              <a:rPr lang="zh-CN" altLang="en-US" sz="990"/>
              <a:t>维特征跟</a:t>
            </a:r>
            <a:r>
              <a:rPr lang="en-US" altLang="zh-CN" sz="990"/>
              <a:t> Query 0 </a:t>
            </a:r>
            <a:r>
              <a:rPr lang="zh-CN" altLang="en-US" sz="990"/>
              <a:t>匹配（比如都表现出</a:t>
            </a:r>
            <a:r>
              <a:rPr lang="en-US" altLang="zh-CN" sz="990"/>
              <a:t>“</a:t>
            </a:r>
            <a:r>
              <a:rPr lang="zh-CN" altLang="en-US" sz="990"/>
              <a:t>红色</a:t>
            </a:r>
            <a:r>
              <a:rPr lang="en-US" altLang="zh-CN" sz="990"/>
              <a:t>”</a:t>
            </a:r>
            <a:r>
              <a:rPr lang="zh-CN" altLang="en-US" sz="990"/>
              <a:t>、</a:t>
            </a:r>
            <a:r>
              <a:rPr lang="en-US" altLang="zh-CN" sz="990"/>
              <a:t>“</a:t>
            </a:r>
            <a:r>
              <a:rPr lang="zh-CN" altLang="en-US" sz="990"/>
              <a:t>虚线</a:t>
            </a:r>
            <a:r>
              <a:rPr lang="en-US" altLang="zh-CN" sz="990"/>
              <a:t>”</a:t>
            </a:r>
            <a:r>
              <a:rPr lang="zh-CN" altLang="en-US" sz="990"/>
              <a:t>、</a:t>
            </a:r>
            <a:r>
              <a:rPr lang="en-US" altLang="zh-CN" sz="990"/>
              <a:t>“45</a:t>
            </a:r>
            <a:r>
              <a:rPr lang="zh-CN" altLang="en-US" sz="990"/>
              <a:t>度角</a:t>
            </a:r>
            <a:r>
              <a:rPr lang="en-US" altLang="zh-CN" sz="990"/>
              <a:t>”</a:t>
            </a:r>
            <a:r>
              <a:rPr lang="zh-CN" altLang="en-US" sz="990"/>
              <a:t>），乘积就很大。</a:t>
            </a:r>
            <a:endParaRPr lang="zh-CN" altLang="en-US" sz="990"/>
          </a:p>
          <a:p>
            <a:pPr lvl="1"/>
            <a:r>
              <a:rPr lang="zh-CN" altLang="en-US" sz="990"/>
              <a:t>生成结果：最后得到一张</a:t>
            </a:r>
            <a:r>
              <a:rPr lang="en-US" altLang="zh-CN" sz="990"/>
              <a:t> [128, 128] </a:t>
            </a:r>
            <a:r>
              <a:rPr lang="zh-CN" altLang="en-US" sz="990"/>
              <a:t>的黑白图（</a:t>
            </a:r>
            <a:r>
              <a:rPr lang="en-US" altLang="zh-CN" sz="990"/>
              <a:t>Logit</a:t>
            </a:r>
            <a:r>
              <a:rPr lang="zh-CN" altLang="en-US" sz="990"/>
              <a:t>值经过</a:t>
            </a:r>
            <a:r>
              <a:rPr lang="en-US" altLang="zh-CN" sz="990"/>
              <a:t>Sigmoid</a:t>
            </a:r>
            <a:r>
              <a:rPr lang="zh-CN" altLang="en-US" sz="990"/>
              <a:t>函数后变成</a:t>
            </a:r>
            <a:r>
              <a:rPr lang="en-US" altLang="zh-CN" sz="990"/>
              <a:t>0</a:t>
            </a:r>
            <a:r>
              <a:rPr lang="zh-CN" altLang="en-US" sz="990"/>
              <a:t>到</a:t>
            </a:r>
            <a:r>
              <a:rPr lang="en-US" altLang="zh-CN" sz="990"/>
              <a:t>1</a:t>
            </a:r>
            <a:r>
              <a:rPr lang="zh-CN" altLang="en-US" sz="990"/>
              <a:t>之间的概率）。在</a:t>
            </a:r>
            <a:r>
              <a:rPr lang="en-US" altLang="zh-CN" sz="990"/>
              <a:t>512</a:t>
            </a:r>
            <a:r>
              <a:rPr lang="zh-CN" altLang="en-US" sz="990"/>
              <a:t>原图上：这相当于每</a:t>
            </a:r>
            <a:r>
              <a:rPr lang="en-US" altLang="zh-CN" sz="990"/>
              <a:t>4</a:t>
            </a:r>
            <a:r>
              <a:rPr lang="zh-CN" altLang="en-US" sz="990"/>
              <a:t>个原始像素对应这个掩码里的</a:t>
            </a:r>
            <a:r>
              <a:rPr lang="en-US" altLang="zh-CN" sz="990"/>
              <a:t> 1 </a:t>
            </a:r>
            <a:r>
              <a:rPr lang="zh-CN" altLang="en-US" sz="990"/>
              <a:t>个点。最后可以进行上采样还原至</a:t>
            </a:r>
            <a:r>
              <a:rPr lang="en-US" altLang="zh-CN" sz="990"/>
              <a:t>512</a:t>
            </a:r>
            <a:r>
              <a:rPr lang="zh-CN" altLang="en-US" sz="990"/>
              <a:t>。</a:t>
            </a:r>
            <a:endParaRPr lang="zh-CN" altLang="en-US" sz="99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27026" r="9806" b="53414"/>
          <a:stretch>
            <a:fillRect/>
          </a:stretch>
        </p:blipFill>
        <p:spPr>
          <a:xfrm>
            <a:off x="6665595" y="116840"/>
            <a:ext cx="5445760" cy="23380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可视化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9" name="图片 8" descr="bound2_inf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700" y="1313815"/>
            <a:ext cx="6757670" cy="4838700"/>
          </a:xfrm>
          <a:prstGeom prst="rect">
            <a:avLst/>
          </a:prstGeom>
        </p:spPr>
      </p:pic>
      <p:pic>
        <p:nvPicPr>
          <p:cNvPr id="11" name="图片 10" descr="bound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25" y="2008505"/>
            <a:ext cx="5405120" cy="38696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可视化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chart2_00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15" y="1590040"/>
            <a:ext cx="5198745" cy="4579620"/>
          </a:xfrm>
          <a:prstGeom prst="rect">
            <a:avLst/>
          </a:prstGeom>
        </p:spPr>
      </p:pic>
      <p:pic>
        <p:nvPicPr>
          <p:cNvPr id="6" name="图片 5" descr="chart2_0001_resu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870585"/>
            <a:ext cx="6101080" cy="5374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metric——Task-6a vs. Task-6b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1200"/>
              <a:t>核心定义：将数据提取精度拆分为两个任务维度，分别侧重</a:t>
            </a:r>
            <a:r>
              <a:rPr lang="en-US" altLang="zh-CN" sz="1200"/>
              <a:t>“</a:t>
            </a:r>
            <a:r>
              <a:rPr lang="zh-CN" altLang="en-US" sz="1200"/>
              <a:t>找回能力</a:t>
            </a:r>
            <a:r>
              <a:rPr lang="en-US" altLang="zh-CN" sz="1200"/>
              <a:t>”</a:t>
            </a:r>
            <a:r>
              <a:rPr lang="zh-CN" altLang="en-US" sz="1200"/>
              <a:t>与</a:t>
            </a:r>
            <a:r>
              <a:rPr lang="en-US" altLang="zh-CN" sz="1200"/>
              <a:t>“</a:t>
            </a:r>
            <a:r>
              <a:rPr lang="zh-CN" altLang="en-US" sz="1200"/>
              <a:t>预测可靠性</a:t>
            </a:r>
            <a:r>
              <a:rPr lang="en-US" altLang="zh-CN" sz="1200"/>
              <a:t>”</a:t>
            </a:r>
            <a:r>
              <a:rPr lang="zh-CN" altLang="en-US" sz="1200"/>
              <a:t>。</a:t>
            </a:r>
            <a:endParaRPr lang="en-US" altLang="zh-CN" sz="1200"/>
          </a:p>
          <a:p>
            <a:r>
              <a:rPr lang="zh-CN" altLang="en-US" sz="1200"/>
              <a:t>指标分类：</a:t>
            </a:r>
            <a:endParaRPr lang="en-US" altLang="zh-CN" sz="1200"/>
          </a:p>
          <a:p>
            <a:pPr lvl="1"/>
            <a:r>
              <a:rPr lang="en-US" altLang="zh-CN" sz="1000"/>
              <a:t>Task-6a (Recall-oriented)</a:t>
            </a:r>
            <a:r>
              <a:rPr lang="zh-CN" altLang="en-US" sz="1000"/>
              <a:t>：线提取召回率。</a:t>
            </a:r>
            <a:endParaRPr lang="en-US" altLang="zh-CN" sz="1000"/>
          </a:p>
          <a:p>
            <a:pPr lvl="1"/>
            <a:r>
              <a:rPr lang="en-US" altLang="zh-CN" sz="1000"/>
              <a:t>Task-6b (Precision-oriented)</a:t>
            </a:r>
            <a:r>
              <a:rPr lang="zh-CN" altLang="en-US" sz="1000"/>
              <a:t>：综合预测得分（含过度预测惩罚）。</a:t>
            </a:r>
            <a:endParaRPr lang="en-US" altLang="zh-CN" sz="1000"/>
          </a:p>
          <a:p>
            <a:r>
              <a:rPr lang="zh-CN" altLang="en-US" sz="1200"/>
              <a:t>评估意义：</a:t>
            </a:r>
            <a:endParaRPr lang="zh-CN" altLang="en-US" sz="1200"/>
          </a:p>
          <a:p>
            <a:pPr lvl="1"/>
            <a:r>
              <a:rPr lang="en-US" altLang="zh-CN" sz="1000"/>
              <a:t>6a </a:t>
            </a:r>
            <a:r>
              <a:rPr lang="zh-CN" altLang="en-US" sz="1000"/>
              <a:t>验证模型是否能</a:t>
            </a:r>
            <a:r>
              <a:rPr lang="en-US" altLang="zh-CN" sz="1000"/>
              <a:t>“</a:t>
            </a:r>
            <a:r>
              <a:rPr lang="zh-CN" altLang="en-US" sz="1000"/>
              <a:t>看见</a:t>
            </a:r>
            <a:r>
              <a:rPr lang="en-US" altLang="zh-CN" sz="1000"/>
              <a:t>”</a:t>
            </a:r>
            <a:r>
              <a:rPr lang="zh-CN" altLang="en-US" sz="1000"/>
              <a:t>复杂的线条（如交叉、虚线）。</a:t>
            </a:r>
            <a:endParaRPr lang="en-US" altLang="zh-CN" sz="1000"/>
          </a:p>
          <a:p>
            <a:pPr lvl="1"/>
            <a:r>
              <a:rPr lang="en-US" altLang="zh-CN" sz="1000"/>
              <a:t>6b </a:t>
            </a:r>
            <a:r>
              <a:rPr lang="zh-CN" altLang="en-US" sz="1000"/>
              <a:t>验证模型是否能</a:t>
            </a:r>
            <a:r>
              <a:rPr lang="en-US" altLang="zh-CN" sz="1000"/>
              <a:t>“</a:t>
            </a:r>
            <a:r>
              <a:rPr lang="zh-CN" altLang="en-US" sz="1000"/>
              <a:t>分清</a:t>
            </a:r>
            <a:r>
              <a:rPr lang="en-US" altLang="zh-CN" sz="1000"/>
              <a:t>”</a:t>
            </a:r>
            <a:r>
              <a:rPr lang="zh-CN" altLang="en-US" sz="1000"/>
              <a:t>线条与背景（如网格线、噪点）。</a:t>
            </a:r>
            <a:endParaRPr lang="zh-CN" altLang="en-US" sz="1000"/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800735" y="4241800"/>
          <a:ext cx="10485120" cy="171196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427990"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spc="15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uFillTx/>
                        </a:rPr>
                        <a:t>维度</a:t>
                      </a:r>
                      <a:endParaRPr lang="zh-CN" altLang="en-US" sz="1200" b="1" spc="15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spc="15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uFillTx/>
                        </a:rPr>
                        <a:t>Task-6a (宽容)</a:t>
                      </a:r>
                      <a:endParaRPr lang="zh-CN" altLang="en-US" sz="1200" b="1" spc="15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1" spc="15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uFillTx/>
                        </a:rPr>
                        <a:t>Task-6b (严厉)</a:t>
                      </a:r>
                      <a:endParaRPr lang="zh-CN" altLang="en-US" sz="1200" b="1" spc="15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7990"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  <a:spcBef>
                          <a:spcPct val="0"/>
                        </a:spcBef>
                      </a:pPr>
                      <a:r>
                        <a:rPr lang="zh-CN" altLang="en-US" sz="1200" spc="15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uFillTx/>
                        </a:rPr>
                        <a:t>计算分子</a:t>
                      </a:r>
                      <a:endParaRPr lang="zh-CN" altLang="en-US" sz="1200" spc="15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  <a:spcBef>
                          <a:spcPct val="0"/>
                        </a:spcBef>
                      </a:pPr>
                      <a:r>
                        <a:rPr lang="zh-CN" altLang="en-US" sz="1200" spc="15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uFillTx/>
                        </a:rPr>
                        <a:t>3 条对的线累加得分</a:t>
                      </a:r>
                      <a:endParaRPr lang="zh-CN" altLang="en-US" sz="1200" spc="15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  <a:spcBef>
                          <a:spcPct val="0"/>
                        </a:spcBef>
                      </a:pPr>
                      <a:r>
                        <a:rPr lang="zh-CN" altLang="en-US" sz="1200" spc="15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uFillTx/>
                        </a:rPr>
                        <a:t>3 条对的得分 + 7 条 0 分</a:t>
                      </a:r>
                      <a:endParaRPr lang="zh-CN" altLang="en-US" sz="1200" spc="15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7990"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  <a:spcBef>
                          <a:spcPct val="0"/>
                        </a:spcBef>
                      </a:pPr>
                      <a:r>
                        <a:rPr lang="zh-CN" altLang="en-US" sz="1200" spc="15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uFillTx/>
                        </a:rPr>
                        <a:t>计算分母</a:t>
                      </a:r>
                      <a:endParaRPr lang="zh-CN" altLang="en-US" sz="1200" spc="15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  <a:spcBef>
                          <a:spcPct val="0"/>
                        </a:spcBef>
                      </a:pPr>
                      <a:r>
                        <a:rPr lang="zh-CN" altLang="en-US" sz="1200" spc="15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uFillTx/>
                        </a:rPr>
                        <a:t>3 (真实数)</a:t>
                      </a:r>
                      <a:endParaRPr lang="zh-CN" altLang="en-US" sz="1200" spc="15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  <a:spcBef>
                          <a:spcPct val="0"/>
                        </a:spcBef>
                      </a:pPr>
                      <a:r>
                        <a:rPr lang="zh-CN" altLang="en-US" sz="1200" spc="15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uFillTx/>
                        </a:rPr>
                        <a:t>10 (预测数)</a:t>
                      </a:r>
                      <a:endParaRPr lang="zh-CN" altLang="en-US" sz="1200" spc="15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7990"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  <a:spcBef>
                          <a:spcPct val="0"/>
                        </a:spcBef>
                      </a:pPr>
                      <a:r>
                        <a:rPr lang="zh-CN" altLang="en-US" sz="1200" spc="15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uFillTx/>
                        </a:rPr>
                        <a:t>最终评价</a:t>
                      </a:r>
                      <a:endParaRPr lang="zh-CN" altLang="en-US" sz="1200" spc="15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  <a:spcBef>
                          <a:spcPct val="0"/>
                        </a:spcBef>
                      </a:pPr>
                      <a:r>
                        <a:rPr lang="zh-CN" altLang="en-US" sz="1200" spc="15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uFillTx/>
                        </a:rPr>
                        <a:t>满分</a:t>
                      </a:r>
                      <a:endParaRPr lang="zh-CN" altLang="en-US" sz="1200" spc="15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200000"/>
                        </a:lnSpc>
                        <a:spcBef>
                          <a:spcPct val="0"/>
                        </a:spcBef>
                      </a:pPr>
                      <a:r>
                        <a:rPr lang="zh-CN" altLang="en-US" sz="1200" spc="15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uFillTx/>
                        </a:rPr>
                        <a:t>不及格（充满了噪声）</a:t>
                      </a:r>
                      <a:endParaRPr lang="zh-CN" altLang="en-US" sz="1200" spc="15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 anchor="ctr" anchorCtr="0">
                    <a:lnL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508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Future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1. </a:t>
            </a:r>
            <a:r>
              <a:rPr lang="zh-CN" altLang="en-US"/>
              <a:t>在黑白带网格的图像上识别的问题；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曲线交会会导致识别提前终止；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>
                <a:solidFill>
                  <a:srgbClr val="FF0000"/>
                </a:solidFill>
              </a:rPr>
              <a:t>虚线与实线交汇上，虚线丢失问题（</a:t>
            </a:r>
            <a:r>
              <a:rPr lang="zh-CN" altLang="en-US">
                <a:solidFill>
                  <a:srgbClr val="FF0000"/>
                </a:solidFill>
              </a:rPr>
              <a:t>特征注入）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TABLE_ENDDRAG_ORIGIN_RECT" val="825*134"/>
  <p:tag name="TABLE_ENDDRAG_RECT" val="63*334*825*134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2985</Words>
  <Application>WPS 演示</Application>
  <PresentationFormat>宽屏</PresentationFormat>
  <Paragraphs>127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背景</vt:lpstr>
      <vt:lpstr>framework</vt:lpstr>
      <vt:lpstr>backbone：swin</vt:lpstr>
      <vt:lpstr>pixel decoder</vt:lpstr>
      <vt:lpstr>transformer decoder</vt:lpstr>
      <vt:lpstr>可视化</vt:lpstr>
      <vt:lpstr>可视化</vt:lpstr>
      <vt:lpstr>metric——Task-6a vs. Task-6b</vt:lpstr>
      <vt:lpstr>Future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七</cp:lastModifiedBy>
  <cp:revision>158</cp:revision>
  <dcterms:created xsi:type="dcterms:W3CDTF">2019-06-19T02:08:00Z</dcterms:created>
  <dcterms:modified xsi:type="dcterms:W3CDTF">2026-04-23T08:26:47Z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A5DD5125CDA6423AB34D5E5D49D88724_11</vt:lpwstr>
  </property>
</Properties>
</file>