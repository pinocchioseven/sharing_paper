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 id="266" r:id="rId7"/>
    <p:sldId id="260" r:id="rId8"/>
    <p:sldId id="262" r:id="rId9"/>
    <p:sldId id="261" r:id="rId10"/>
    <p:sldId id="268" r:id="rId11"/>
    <p:sldId id="269" r:id="rId12"/>
    <p:sldId id="270" r:id="rId13"/>
    <p:sldId id="271" r:id="rId14"/>
    <p:sldId id="272" r:id="rId15"/>
    <p:sldId id="273" r:id="rId16"/>
    <p:sldId id="274" r:id="rId17"/>
    <p:sldId id="275" r:id="rId18"/>
    <p:sldId id="278" r:id="rId19"/>
    <p:sldId id="280" r:id="rId20"/>
    <p:sldId id="282" r:id="rId21"/>
    <p:sldId id="281" r:id="rId22"/>
    <p:sldId id="279" r:id="rId23"/>
    <p:sldId id="283" r:id="rId24"/>
    <p:sldId id="284" r:id="rId25"/>
    <p:sldId id="285" r:id="rId26"/>
    <p:sldId id="286" r:id="rId27"/>
    <p:sldId id="264" r:id="rId28"/>
    <p:sldId id="26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285115" y="4294505"/>
            <a:ext cx="11835130" cy="2393315"/>
          </a:xfrm>
        </p:spPr>
        <p:txBody>
          <a:bodyPr>
            <a:noAutofit/>
          </a:bodyPr>
          <a:p>
            <a:pPr algn="l">
              <a:lnSpc>
                <a:spcPct val="150000"/>
              </a:lnSpc>
            </a:pPr>
            <a:r>
              <a:rPr lang="zh-CN" altLang="en-US" sz="1600" b="1">
                <a:latin typeface="Arial" panose="020B0604020202020204" pitchFamily="34" charset="0"/>
                <a:ea typeface="微软雅黑" panose="020B0503020204020204" charset="-122"/>
                <a:sym typeface="+mn-ea"/>
              </a:rPr>
              <a:t>核心问题：</a:t>
            </a:r>
            <a:r>
              <a:rPr lang="zh-CN" altLang="en-US" sz="1600">
                <a:latin typeface="Arial" panose="020B0604020202020204" pitchFamily="34" charset="0"/>
                <a:ea typeface="微软雅黑" panose="020B0503020204020204" charset="-122"/>
                <a:sym typeface="+mn-ea"/>
              </a:rPr>
              <a:t>在没有历史执行数据的冷启动场景下，如何为用户推荐</a:t>
            </a:r>
            <a:r>
              <a:rPr lang="en-US" altLang="zh-CN" sz="1600">
                <a:latin typeface="Arial" panose="020B0604020202020204" pitchFamily="34" charset="0"/>
                <a:ea typeface="微软雅黑" panose="020B0503020204020204" charset="-122"/>
                <a:sym typeface="+mn-ea"/>
              </a:rPr>
              <a:t>“</a:t>
            </a:r>
            <a:r>
              <a:rPr lang="zh-CN" altLang="en-US" sz="1600">
                <a:latin typeface="Arial" panose="020B0604020202020204" pitchFamily="34" charset="0"/>
                <a:ea typeface="微软雅黑" panose="020B0503020204020204" charset="-122"/>
                <a:sym typeface="+mn-ea"/>
              </a:rPr>
              <a:t>下一个最可能调用的代理（</a:t>
            </a:r>
            <a:r>
              <a:rPr lang="en-US" altLang="zh-CN" sz="1600">
                <a:latin typeface="Arial" panose="020B0604020202020204" pitchFamily="34" charset="0"/>
                <a:ea typeface="微软雅黑" panose="020B0503020204020204" charset="-122"/>
                <a:sym typeface="+mn-ea"/>
              </a:rPr>
              <a:t>Next Best Agent, NBA</a:t>
            </a:r>
            <a:r>
              <a:rPr lang="zh-CN" altLang="en-US" sz="1600">
                <a:latin typeface="Arial" panose="020B0604020202020204" pitchFamily="34" charset="0"/>
                <a:ea typeface="微软雅黑" panose="020B0503020204020204" charset="-122"/>
                <a:sym typeface="+mn-ea"/>
              </a:rPr>
              <a:t>）</a:t>
            </a:r>
            <a:r>
              <a:rPr lang="en-US" altLang="zh-CN" sz="1600">
                <a:latin typeface="Arial" panose="020B0604020202020204" pitchFamily="34" charset="0"/>
                <a:ea typeface="微软雅黑" panose="020B0503020204020204" charset="-122"/>
                <a:sym typeface="+mn-ea"/>
              </a:rPr>
              <a:t>”</a:t>
            </a:r>
            <a:r>
              <a:rPr lang="zh-CN" altLang="en-US" sz="1600">
                <a:latin typeface="Arial" panose="020B0604020202020204" pitchFamily="34" charset="0"/>
                <a:ea typeface="微软雅黑" panose="020B0503020204020204" charset="-122"/>
                <a:sym typeface="+mn-ea"/>
              </a:rPr>
              <a:t>？</a:t>
            </a:r>
            <a:endParaRPr lang="zh-CN" altLang="en-US" sz="1600">
              <a:latin typeface="Arial" panose="020B0604020202020204" pitchFamily="34" charset="0"/>
              <a:ea typeface="微软雅黑" panose="020B0503020204020204" charset="-122"/>
              <a:sym typeface="+mn-ea"/>
            </a:endParaRPr>
          </a:p>
          <a:p>
            <a:pPr algn="l">
              <a:lnSpc>
                <a:spcPct val="150000"/>
              </a:lnSpc>
            </a:pPr>
            <a:r>
              <a:rPr lang="zh-CN" altLang="en-US" sz="1600">
                <a:latin typeface="Arial" panose="020B0604020202020204" pitchFamily="34" charset="0"/>
                <a:ea typeface="微软雅黑" panose="020B0503020204020204" charset="-122"/>
                <a:sym typeface="+mn-ea"/>
              </a:rPr>
              <a:t>提出了一种</a:t>
            </a:r>
            <a:r>
              <a:rPr lang="zh-CN" altLang="en-US" sz="1600">
                <a:solidFill>
                  <a:srgbClr val="FF0000"/>
                </a:solidFill>
                <a:latin typeface="Arial" panose="020B0604020202020204" pitchFamily="34" charset="0"/>
                <a:ea typeface="微软雅黑" panose="020B0503020204020204" charset="-122"/>
                <a:sym typeface="+mn-ea"/>
              </a:rPr>
              <a:t>多阶段方法</a:t>
            </a:r>
            <a:r>
              <a:rPr lang="zh-CN" altLang="en-US" sz="1600">
                <a:latin typeface="Arial" panose="020B0604020202020204" pitchFamily="34" charset="0"/>
                <a:ea typeface="微软雅黑" panose="020B0503020204020204" charset="-122"/>
                <a:sym typeface="+mn-ea"/>
              </a:rPr>
              <a:t>，利用现有的流程知识和代理元数据信息来提示</a:t>
            </a:r>
            <a:r>
              <a:rPr lang="en-US" altLang="zh-CN" sz="1600">
                <a:latin typeface="Arial" panose="020B0604020202020204" pitchFamily="34" charset="0"/>
                <a:ea typeface="微软雅黑" panose="020B0503020204020204" charset="-122"/>
                <a:sym typeface="+mn-ea"/>
              </a:rPr>
              <a:t> LLM</a:t>
            </a:r>
            <a:r>
              <a:rPr lang="zh-CN" altLang="en-US" sz="1600">
                <a:latin typeface="Arial" panose="020B0604020202020204" pitchFamily="34" charset="0"/>
                <a:ea typeface="微软雅黑" panose="020B0503020204020204" charset="-122"/>
                <a:sym typeface="+mn-ea"/>
              </a:rPr>
              <a:t>以解决</a:t>
            </a:r>
            <a:r>
              <a:rPr lang="zh-CN" altLang="en-US" sz="1600">
                <a:solidFill>
                  <a:srgbClr val="FF0000"/>
                </a:solidFill>
                <a:latin typeface="Arial" panose="020B0604020202020204" pitchFamily="34" charset="0"/>
                <a:ea typeface="微软雅黑" panose="020B0503020204020204" charset="-122"/>
                <a:sym typeface="+mn-ea"/>
              </a:rPr>
              <a:t>冷启动</a:t>
            </a:r>
            <a:r>
              <a:rPr lang="zh-CN" altLang="en-US" sz="1600">
                <a:latin typeface="Arial" panose="020B0604020202020204" pitchFamily="34" charset="0"/>
                <a:ea typeface="微软雅黑" panose="020B0503020204020204" charset="-122"/>
                <a:sym typeface="+mn-ea"/>
              </a:rPr>
              <a:t>问题，并根据用</a:t>
            </a:r>
            <a:r>
              <a:rPr lang="zh-CN" altLang="en-US" sz="1600">
                <a:solidFill>
                  <a:srgbClr val="FF0000"/>
                </a:solidFill>
                <a:latin typeface="Arial" panose="020B0604020202020204" pitchFamily="34" charset="0"/>
                <a:ea typeface="微软雅黑" panose="020B0503020204020204" charset="-122"/>
                <a:sym typeface="+mn-ea"/>
              </a:rPr>
              <a:t>户话语推荐</a:t>
            </a:r>
            <a:r>
              <a:rPr lang="zh-CN" altLang="en-US" sz="1600">
                <a:latin typeface="Arial" panose="020B0604020202020204" pitchFamily="34" charset="0"/>
                <a:ea typeface="微软雅黑" panose="020B0503020204020204" charset="-122"/>
                <a:sym typeface="+mn-ea"/>
              </a:rPr>
              <a:t>有意义的</a:t>
            </a:r>
            <a:r>
              <a:rPr lang="zh-CN" altLang="en-US" sz="1600">
                <a:solidFill>
                  <a:srgbClr val="FF0000"/>
                </a:solidFill>
                <a:latin typeface="Arial" panose="020B0604020202020204" pitchFamily="34" charset="0"/>
                <a:ea typeface="微软雅黑" panose="020B0503020204020204" charset="-122"/>
                <a:sym typeface="+mn-ea"/>
              </a:rPr>
              <a:t>下一个最佳代理</a:t>
            </a:r>
            <a:r>
              <a:rPr lang="en-US" altLang="zh-CN" sz="1600">
                <a:latin typeface="Arial" panose="020B0604020202020204" pitchFamily="34" charset="0"/>
                <a:ea typeface="微软雅黑" panose="020B0503020204020204" charset="-122"/>
                <a:sym typeface="+mn-ea"/>
              </a:rPr>
              <a:t> </a:t>
            </a:r>
            <a:r>
              <a:rPr lang="zh-CN" altLang="en-US" sz="1600">
                <a:latin typeface="Arial" panose="020B0604020202020204" pitchFamily="34" charset="0"/>
                <a:ea typeface="微软雅黑" panose="020B0503020204020204" charset="-122"/>
                <a:sym typeface="+mn-ea"/>
              </a:rPr>
              <a:t>（</a:t>
            </a:r>
            <a:r>
              <a:rPr lang="en-US" altLang="zh-CN" sz="1600">
                <a:solidFill>
                  <a:srgbClr val="FF0000"/>
                </a:solidFill>
                <a:latin typeface="Arial" panose="020B0604020202020204" pitchFamily="34" charset="0"/>
                <a:ea typeface="微软雅黑" panose="020B0503020204020204" charset="-122"/>
                <a:sym typeface="+mn-ea"/>
              </a:rPr>
              <a:t>NBA</a:t>
            </a:r>
            <a:r>
              <a:rPr lang="zh-CN" altLang="en-US" sz="1600">
                <a:latin typeface="Arial" panose="020B0604020202020204" pitchFamily="34" charset="0"/>
                <a:ea typeface="微软雅黑" panose="020B0503020204020204" charset="-122"/>
                <a:sym typeface="+mn-ea"/>
              </a:rPr>
              <a:t>）</a:t>
            </a:r>
            <a:endParaRPr lang="zh-CN" altLang="en-US" sz="1600">
              <a:latin typeface="Arial" panose="020B0604020202020204" pitchFamily="34" charset="0"/>
              <a:ea typeface="微软雅黑" panose="020B0503020204020204" charset="-122"/>
            </a:endParaRPr>
          </a:p>
          <a:p>
            <a:pPr algn="l">
              <a:lnSpc>
                <a:spcPct val="150000"/>
              </a:lnSpc>
            </a:pPr>
            <a:r>
              <a:rPr lang="zh-CN" altLang="en-US" sz="1600">
                <a:solidFill>
                  <a:schemeClr val="tx1"/>
                </a:solidFill>
                <a:latin typeface="Arial" panose="020B0604020202020204" pitchFamily="34" charset="0"/>
                <a:ea typeface="微软雅黑" panose="020B0503020204020204" charset="-122"/>
                <a:sym typeface="+mn-ea"/>
              </a:rPr>
              <a:t>发表会议：</a:t>
            </a:r>
            <a:r>
              <a:rPr lang="en-US" altLang="zh-CN" sz="1600">
                <a:solidFill>
                  <a:schemeClr val="tx1"/>
                </a:solidFill>
                <a:latin typeface="Arial" panose="020B0604020202020204" pitchFamily="34" charset="0"/>
                <a:ea typeface="微软雅黑" panose="020B0503020204020204" charset="-122"/>
                <a:sym typeface="+mn-ea"/>
              </a:rPr>
              <a:t>AAAI 2024</a:t>
            </a:r>
            <a:endParaRPr lang="en-US" altLang="zh-CN" sz="1600">
              <a:solidFill>
                <a:schemeClr val="tx1"/>
              </a:solidFill>
              <a:latin typeface="Arial" panose="020B0604020202020204" pitchFamily="34" charset="0"/>
              <a:ea typeface="微软雅黑" panose="020B0503020204020204" charset="-122"/>
              <a:sym typeface="+mn-ea"/>
            </a:endParaRPr>
          </a:p>
          <a:p>
            <a:pPr algn="l">
              <a:lnSpc>
                <a:spcPct val="150000"/>
              </a:lnSpc>
            </a:pPr>
            <a:endParaRPr lang="zh-CN" sz="1600">
              <a:solidFill>
                <a:schemeClr val="tx1"/>
              </a:solidFill>
              <a:latin typeface="Arial" panose="020B0604020202020204" pitchFamily="34" charset="0"/>
              <a:ea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97790" y="1056005"/>
            <a:ext cx="11974195" cy="28155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冷启动</a:t>
            </a:r>
            <a:r>
              <a:rPr lang="en-US" altLang="zh-CN"/>
              <a:t>   &amp;  </a:t>
            </a:r>
            <a:r>
              <a:rPr lang="en-US" altLang="zh-CN"/>
              <a:t>NBA</a:t>
            </a:r>
            <a:endParaRPr lang="en-US" altLang="zh-CN"/>
          </a:p>
        </p:txBody>
      </p:sp>
      <p:sp>
        <p:nvSpPr>
          <p:cNvPr id="3" name="内容占位符 2"/>
          <p:cNvSpPr>
            <a:spLocks noGrp="1"/>
          </p:cNvSpPr>
          <p:nvPr>
            <p:ph idx="1"/>
          </p:nvPr>
        </p:nvSpPr>
        <p:spPr>
          <a:xfrm>
            <a:off x="838200" y="1691005"/>
            <a:ext cx="10515600" cy="5066030"/>
          </a:xfrm>
        </p:spPr>
        <p:txBody>
          <a:bodyPr>
            <a:normAutofit/>
          </a:bodyPr>
          <a:p>
            <a:r>
              <a:rPr lang="zh-CN" altLang="en-US" sz="1800" b="1"/>
              <a:t>冷启动</a:t>
            </a:r>
            <a:r>
              <a:rPr lang="zh-CN" altLang="en-US" sz="1800" b="1">
                <a:sym typeface="+mn-ea"/>
              </a:rPr>
              <a:t>（</a:t>
            </a:r>
            <a:r>
              <a:rPr lang="en-US" altLang="zh-CN" sz="1800" b="1">
                <a:sym typeface="+mn-ea"/>
              </a:rPr>
              <a:t>Cold Start</a:t>
            </a:r>
            <a:r>
              <a:rPr lang="zh-CN" altLang="en-US" sz="1800" b="1">
                <a:sym typeface="+mn-ea"/>
              </a:rPr>
              <a:t>）</a:t>
            </a:r>
            <a:r>
              <a:rPr lang="zh-CN" altLang="en-US" sz="1800"/>
              <a:t>是推荐系统、机器学习和智能系统中的一个经典问题，指的是：</a:t>
            </a:r>
            <a:endParaRPr lang="en-US" altLang="zh-CN" sz="1800"/>
          </a:p>
          <a:p>
            <a:pPr marL="0" indent="457200">
              <a:buNone/>
            </a:pPr>
            <a:r>
              <a:rPr lang="zh-CN" altLang="en-US" sz="1800" b="1"/>
              <a:t>在缺乏足够历史数据或用户</a:t>
            </a:r>
            <a:r>
              <a:rPr lang="en-US" altLang="zh-CN" sz="1800" b="1"/>
              <a:t>/</a:t>
            </a:r>
            <a:r>
              <a:rPr lang="zh-CN" altLang="en-US" sz="1800" b="1"/>
              <a:t>物品交互信息的情况下，系统难以做出准确推荐或预测</a:t>
            </a:r>
            <a:r>
              <a:rPr lang="zh-CN" altLang="en-US" sz="1800"/>
              <a:t>。</a:t>
            </a:r>
            <a:endParaRPr lang="zh-CN" altLang="en-US" sz="1800"/>
          </a:p>
          <a:p>
            <a:pPr marL="0" indent="457200">
              <a:buNone/>
            </a:pPr>
            <a:endParaRPr lang="zh-CN" altLang="en-US" sz="1800"/>
          </a:p>
          <a:p>
            <a:pPr marL="0" lvl="0" indent="0">
              <a:buNone/>
            </a:pPr>
            <a:r>
              <a:rPr lang="zh-CN" altLang="en-US" sz="1800">
                <a:sym typeface="+mn-ea"/>
              </a:rPr>
              <a:t>冷启动的三种类型</a:t>
            </a:r>
            <a:endParaRPr lang="zh-CN" altLang="en-US" sz="1800">
              <a:sym typeface="+mn-ea"/>
            </a:endParaRPr>
          </a:p>
          <a:p>
            <a:pPr marL="0" lvl="0" indent="0">
              <a:buNone/>
            </a:pPr>
            <a:endParaRPr lang="zh-CN" altLang="en-US" sz="1800" b="1">
              <a:sym typeface="+mn-ea"/>
            </a:endParaRPr>
          </a:p>
          <a:p>
            <a:pPr marL="0" lvl="0" indent="0">
              <a:buNone/>
            </a:pPr>
            <a:endParaRPr lang="zh-CN" altLang="en-US" sz="1800" b="1">
              <a:sym typeface="+mn-ea"/>
            </a:endParaRPr>
          </a:p>
          <a:p>
            <a:pPr marL="0" lvl="0" indent="0">
              <a:buNone/>
            </a:pPr>
            <a:endParaRPr lang="zh-CN" altLang="en-US" sz="1800" b="1">
              <a:sym typeface="+mn-ea"/>
            </a:endParaRPr>
          </a:p>
          <a:p>
            <a:pPr marL="0" lvl="0" indent="0">
              <a:buNone/>
            </a:pPr>
            <a:endParaRPr lang="zh-CN" altLang="en-US" sz="1800" b="1">
              <a:sym typeface="+mn-ea"/>
            </a:endParaRPr>
          </a:p>
          <a:p>
            <a:pPr marL="0" lvl="0" indent="0">
              <a:buNone/>
            </a:pPr>
            <a:endParaRPr lang="zh-CN" altLang="en-US" sz="1800" b="1">
              <a:sym typeface="+mn-ea"/>
            </a:endParaRPr>
          </a:p>
          <a:p>
            <a:pPr lvl="0"/>
            <a:r>
              <a:rPr lang="zh-CN" altLang="en-US" sz="1800" b="1">
                <a:sym typeface="+mn-ea"/>
              </a:rPr>
              <a:t>下一个最佳代理</a:t>
            </a:r>
            <a:r>
              <a:rPr lang="en-US" altLang="zh-CN" sz="1800" b="1">
                <a:sym typeface="+mn-ea"/>
              </a:rPr>
              <a:t> </a:t>
            </a:r>
            <a:r>
              <a:rPr lang="zh-CN" altLang="en-US" sz="1800" b="1">
                <a:sym typeface="+mn-ea"/>
              </a:rPr>
              <a:t>（</a:t>
            </a:r>
            <a:r>
              <a:rPr lang="en-US" altLang="zh-CN" sz="1800" b="1">
                <a:sym typeface="+mn-ea"/>
              </a:rPr>
              <a:t>NBA</a:t>
            </a:r>
            <a:r>
              <a:rPr lang="zh-CN" altLang="en-US" sz="1800" b="1">
                <a:sym typeface="+mn-ea"/>
              </a:rPr>
              <a:t>）</a:t>
            </a:r>
            <a:endParaRPr lang="zh-CN" altLang="en-US" sz="1800" b="1">
              <a:sym typeface="+mn-ea"/>
            </a:endParaRPr>
          </a:p>
          <a:p>
            <a:pPr marL="0" lvl="0" indent="0">
              <a:buNone/>
            </a:pPr>
            <a:r>
              <a:rPr lang="zh-CN" altLang="en-US" sz="1800"/>
              <a:t>在对话式自动化中，用户说了一句话（如</a:t>
            </a:r>
            <a:r>
              <a:rPr lang="en-US" altLang="zh-CN" sz="1800"/>
              <a:t>“</a:t>
            </a:r>
            <a:r>
              <a:rPr lang="zh-CN" altLang="en-US" sz="1800"/>
              <a:t>我想申请贷款</a:t>
            </a:r>
            <a:r>
              <a:rPr lang="en-US" altLang="zh-CN" sz="1800"/>
              <a:t>”</a:t>
            </a:r>
            <a:r>
              <a:rPr lang="zh-CN" altLang="en-US" sz="1800"/>
              <a:t>），系统需要决定：</a:t>
            </a:r>
            <a:endParaRPr lang="en-US" altLang="zh-CN" sz="1800"/>
          </a:p>
          <a:p>
            <a:pPr marL="0" lvl="0" indent="0">
              <a:buNone/>
            </a:pPr>
            <a:r>
              <a:rPr lang="zh-CN" altLang="en-US" sz="1800" i="1"/>
              <a:t>接下来调用哪个</a:t>
            </a:r>
            <a:r>
              <a:rPr lang="en-US" altLang="zh-CN" sz="1800" i="1"/>
              <a:t> agent </a:t>
            </a:r>
            <a:r>
              <a:rPr lang="zh-CN" altLang="en-US" sz="1800" i="1"/>
              <a:t>最合适？</a:t>
            </a:r>
            <a:r>
              <a:rPr lang="en-US" altLang="zh-CN" sz="1800" b="1"/>
              <a:t> </a:t>
            </a:r>
            <a:endParaRPr lang="en-US" altLang="zh-CN" sz="1800" b="1"/>
          </a:p>
          <a:p>
            <a:pPr marL="0" lvl="0" indent="0">
              <a:buNone/>
            </a:pPr>
            <a:r>
              <a:rPr lang="zh-CN" altLang="en-US" sz="1800"/>
              <a:t>这称为</a:t>
            </a:r>
            <a:r>
              <a:rPr lang="en-US" altLang="zh-CN" sz="1800"/>
              <a:t> Next Best Agent (NBA) </a:t>
            </a:r>
            <a:r>
              <a:rPr lang="zh-CN" altLang="en-US" sz="1800"/>
              <a:t>推荐</a:t>
            </a:r>
            <a:endParaRPr lang="zh-CN" altLang="en-US" sz="1800"/>
          </a:p>
          <a:p>
            <a:pPr marL="0" lvl="0" indent="0">
              <a:buNone/>
            </a:pPr>
            <a:endParaRPr lang="zh-CN" altLang="en-US" sz="1800"/>
          </a:p>
        </p:txBody>
      </p:sp>
      <p:graphicFrame>
        <p:nvGraphicFramePr>
          <p:cNvPr id="4" name="表格 3"/>
          <p:cNvGraphicFramePr/>
          <p:nvPr/>
        </p:nvGraphicFramePr>
        <p:xfrm>
          <a:off x="1569085" y="3260725"/>
          <a:ext cx="9067165" cy="1524000"/>
        </p:xfrm>
        <a:graphic>
          <a:graphicData uri="http://schemas.openxmlformats.org/drawingml/2006/table">
            <a:tbl>
              <a:tblPr firstRow="1" bandRow="1">
                <a:tableStyleId>{5C22544A-7EE6-4342-B048-85BDC9FD1C3A}</a:tableStyleId>
              </a:tblPr>
              <a:tblGrid>
                <a:gridCol w="1628140"/>
                <a:gridCol w="3876675"/>
                <a:gridCol w="3562350"/>
              </a:tblGrid>
              <a:tr h="381000">
                <a:tc>
                  <a:txBody>
                    <a:bodyPr/>
                    <a:p>
                      <a:pPr algn="ctr">
                        <a:buNone/>
                      </a:pPr>
                      <a:r>
                        <a:rPr lang="zh-CN" altLang="en-US" b="1">
                          <a:solidFill>
                            <a:schemeClr val="tx1"/>
                          </a:solidFill>
                        </a:rPr>
                        <a:t>类型</a:t>
                      </a:r>
                      <a:endParaRPr lang="zh-CN" altLang="en-US" b="1">
                        <a:solidFill>
                          <a:schemeClr val="tx1"/>
                        </a:solidFill>
                      </a:endParaRPr>
                    </a:p>
                  </a:txBody>
                  <a:tcPr anchor="ctr" anchorCtr="0">
                    <a:solidFill>
                      <a:schemeClr val="bg2"/>
                    </a:solidFill>
                  </a:tcPr>
                </a:tc>
                <a:tc>
                  <a:txBody>
                    <a:bodyPr/>
                    <a:p>
                      <a:pPr algn="ctr">
                        <a:buNone/>
                      </a:pPr>
                      <a:r>
                        <a:rPr lang="zh-CN" altLang="en-US" b="1">
                          <a:solidFill>
                            <a:schemeClr val="tx1"/>
                          </a:solidFill>
                        </a:rPr>
                        <a:t>说明</a:t>
                      </a:r>
                      <a:endParaRPr lang="zh-CN" altLang="en-US" b="1">
                        <a:solidFill>
                          <a:schemeClr val="tx1"/>
                        </a:solidFill>
                      </a:endParaRPr>
                    </a:p>
                  </a:txBody>
                  <a:tcPr anchor="ctr" anchorCtr="0">
                    <a:solidFill>
                      <a:schemeClr val="bg2"/>
                    </a:solidFill>
                  </a:tcPr>
                </a:tc>
                <a:tc>
                  <a:txBody>
                    <a:bodyPr/>
                    <a:p>
                      <a:pPr algn="ctr">
                        <a:buNone/>
                      </a:pPr>
                      <a:r>
                        <a:rPr lang="zh-CN" altLang="en-US" b="1">
                          <a:solidFill>
                            <a:schemeClr val="tx1"/>
                          </a:solidFill>
                        </a:rPr>
                        <a:t>例子</a:t>
                      </a:r>
                      <a:endParaRPr lang="zh-CN" altLang="en-US" b="1">
                        <a:solidFill>
                          <a:schemeClr val="tx1"/>
                        </a:solidFill>
                      </a:endParaRPr>
                    </a:p>
                  </a:txBody>
                  <a:tcPr anchor="ctr" anchorCtr="0">
                    <a:solidFill>
                      <a:schemeClr val="bg2"/>
                    </a:solidFill>
                  </a:tcPr>
                </a:tc>
              </a:tr>
              <a:tr h="381000">
                <a:tc>
                  <a:txBody>
                    <a:bodyPr/>
                    <a:p>
                      <a:pPr>
                        <a:buNone/>
                      </a:pPr>
                      <a:r>
                        <a:rPr lang="zh-CN" altLang="en-US"/>
                        <a:t>用户</a:t>
                      </a:r>
                      <a:r>
                        <a:rPr lang="zh-CN" altLang="en-US"/>
                        <a:t>冷启动</a:t>
                      </a:r>
                      <a:endParaRPr lang="zh-CN" altLang="en-US"/>
                    </a:p>
                  </a:txBody>
                  <a:tcPr anchor="ctr" anchorCtr="0">
                    <a:solidFill>
                      <a:schemeClr val="bg2"/>
                    </a:solidFill>
                  </a:tcPr>
                </a:tc>
                <a:tc>
                  <a:txBody>
                    <a:bodyPr/>
                    <a:p>
                      <a:pPr>
                        <a:buNone/>
                      </a:pPr>
                      <a:r>
                        <a:rPr lang="zh-CN" altLang="en-US"/>
                        <a:t>新用户加入，系统不了解其偏好</a:t>
                      </a:r>
                      <a:endParaRPr lang="zh-CN" altLang="en-US"/>
                    </a:p>
                  </a:txBody>
                  <a:tcPr anchor="ctr" anchorCtr="0">
                    <a:solidFill>
                      <a:schemeClr val="bg2"/>
                    </a:solidFill>
                  </a:tcPr>
                </a:tc>
                <a:tc>
                  <a:txBody>
                    <a:bodyPr/>
                    <a:p>
                      <a:pPr>
                        <a:buNone/>
                      </a:pPr>
                      <a:r>
                        <a:rPr lang="zh-CN" altLang="en-US"/>
                        <a:t>第一次使用淘宝的用户</a:t>
                      </a:r>
                      <a:endParaRPr lang="zh-CN" altLang="en-US"/>
                    </a:p>
                  </a:txBody>
                  <a:tcPr anchor="ctr" anchorCtr="0">
                    <a:solidFill>
                      <a:schemeClr val="bg2"/>
                    </a:solidFill>
                  </a:tcPr>
                </a:tc>
              </a:tr>
              <a:tr h="381000">
                <a:tc>
                  <a:txBody>
                    <a:bodyPr/>
                    <a:p>
                      <a:pPr>
                        <a:buNone/>
                      </a:pPr>
                      <a:r>
                        <a:rPr lang="zh-CN" altLang="en-US"/>
                        <a:t>物品</a:t>
                      </a:r>
                      <a:r>
                        <a:rPr lang="zh-CN" altLang="en-US"/>
                        <a:t>冷启动</a:t>
                      </a:r>
                      <a:endParaRPr lang="zh-CN" altLang="en-US"/>
                    </a:p>
                  </a:txBody>
                  <a:tcPr anchor="ctr" anchorCtr="0">
                    <a:solidFill>
                      <a:schemeClr val="bg2"/>
                    </a:solidFill>
                  </a:tcPr>
                </a:tc>
                <a:tc>
                  <a:txBody>
                    <a:bodyPr/>
                    <a:p>
                      <a:pPr>
                        <a:buNone/>
                      </a:pPr>
                      <a:r>
                        <a:rPr lang="zh-CN" altLang="en-US"/>
                        <a:t>新商品</a:t>
                      </a:r>
                      <a:r>
                        <a:rPr lang="en-US" altLang="zh-CN"/>
                        <a:t>/</a:t>
                      </a:r>
                      <a:r>
                        <a:rPr lang="zh-CN" altLang="en-US"/>
                        <a:t>内容上线，没人交互过</a:t>
                      </a:r>
                      <a:endParaRPr lang="zh-CN" altLang="en-US"/>
                    </a:p>
                  </a:txBody>
                  <a:tcPr anchor="ctr" anchorCtr="0">
                    <a:solidFill>
                      <a:schemeClr val="bg2"/>
                    </a:solidFill>
                  </a:tcPr>
                </a:tc>
                <a:tc>
                  <a:txBody>
                    <a:bodyPr/>
                    <a:p>
                      <a:pPr>
                        <a:buNone/>
                      </a:pPr>
                      <a:r>
                        <a:rPr lang="zh-CN" altLang="en-US"/>
                        <a:t>刚上架的新书、新视频</a:t>
                      </a:r>
                      <a:endParaRPr lang="zh-CN" altLang="en-US"/>
                    </a:p>
                  </a:txBody>
                  <a:tcPr anchor="ctr" anchorCtr="0">
                    <a:solidFill>
                      <a:schemeClr val="bg2"/>
                    </a:solidFill>
                  </a:tcPr>
                </a:tc>
              </a:tr>
              <a:tr h="381000">
                <a:tc>
                  <a:txBody>
                    <a:bodyPr/>
                    <a:p>
                      <a:pPr>
                        <a:buNone/>
                      </a:pPr>
                      <a:r>
                        <a:rPr lang="zh-CN" altLang="en-US"/>
                        <a:t>系统</a:t>
                      </a:r>
                      <a:r>
                        <a:rPr lang="zh-CN" altLang="en-US"/>
                        <a:t>冷启动</a:t>
                      </a:r>
                      <a:endParaRPr lang="zh-CN" altLang="en-US"/>
                    </a:p>
                  </a:txBody>
                  <a:tcPr anchor="ctr" anchorCtr="0">
                    <a:solidFill>
                      <a:schemeClr val="bg2"/>
                    </a:solidFill>
                  </a:tcPr>
                </a:tc>
                <a:tc>
                  <a:txBody>
                    <a:bodyPr/>
                    <a:p>
                      <a:pPr>
                        <a:buNone/>
                      </a:pPr>
                      <a:r>
                        <a:rPr lang="zh-CN" altLang="en-US"/>
                        <a:t>整个系统是新的，没有任何历史数据</a:t>
                      </a:r>
                      <a:endParaRPr lang="zh-CN" altLang="en-US"/>
                    </a:p>
                  </a:txBody>
                  <a:tcPr anchor="ctr" anchorCtr="0">
                    <a:solidFill>
                      <a:schemeClr val="bg2"/>
                    </a:solidFill>
                  </a:tcPr>
                </a:tc>
                <a:tc>
                  <a:txBody>
                    <a:bodyPr/>
                    <a:p>
                      <a:pPr>
                        <a:buNone/>
                      </a:pPr>
                      <a:r>
                        <a:rPr lang="zh-CN" altLang="en-US"/>
                        <a:t>全新上线的音乐</a:t>
                      </a:r>
                      <a:r>
                        <a:rPr lang="en-US" altLang="zh-CN"/>
                        <a:t> App</a:t>
                      </a:r>
                      <a:endParaRPr lang="en-US" altLang="zh-CN"/>
                    </a:p>
                  </a:txBody>
                  <a:tcPr anchor="ctr" anchorCtr="0">
                    <a:solidFill>
                      <a:schemeClr val="bg2"/>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ltLang="en-US"/>
              <a:t>背景</a:t>
            </a:r>
            <a:r>
              <a:rPr lang="en-US" altLang="zh-CN"/>
              <a:t>             </a:t>
            </a:r>
            <a:r>
              <a:rPr lang="en-US" altLang="zh-CN" sz="2800"/>
              <a:t>——</a:t>
            </a:r>
            <a:r>
              <a:rPr lang="zh-CN" altLang="en-US" sz="2800"/>
              <a:t>传统</a:t>
            </a:r>
            <a:r>
              <a:rPr lang="en-US" altLang="zh-CN" sz="2800"/>
              <a:t> VS </a:t>
            </a:r>
            <a:r>
              <a:rPr lang="zh-CN" altLang="en-US" sz="2800"/>
              <a:t>新兴业务流程</a:t>
            </a:r>
            <a:endParaRPr lang="zh-CN" altLang="en-US" sz="2800"/>
          </a:p>
        </p:txBody>
      </p:sp>
      <p:pic>
        <p:nvPicPr>
          <p:cNvPr id="5" name="图片 4"/>
          <p:cNvPicPr>
            <a:picLocks noChangeAspect="1"/>
          </p:cNvPicPr>
          <p:nvPr/>
        </p:nvPicPr>
        <p:blipFill>
          <a:blip r:embed="rId1"/>
          <a:stretch>
            <a:fillRect/>
          </a:stretch>
        </p:blipFill>
        <p:spPr>
          <a:xfrm>
            <a:off x="393065" y="1691005"/>
            <a:ext cx="10029190" cy="4839970"/>
          </a:xfrm>
          <a:prstGeom prst="rect">
            <a:avLst/>
          </a:prstGeom>
        </p:spPr>
      </p:pic>
      <p:sp>
        <p:nvSpPr>
          <p:cNvPr id="3" name="文本框 2"/>
          <p:cNvSpPr txBox="1"/>
          <p:nvPr/>
        </p:nvSpPr>
        <p:spPr>
          <a:xfrm>
            <a:off x="7240905" y="1691005"/>
            <a:ext cx="4801870" cy="2359025"/>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800" b="1">
                <a:latin typeface="Arial" panose="020B0604020202020204" pitchFamily="34" charset="0"/>
                <a:ea typeface="微软雅黑" panose="020B0503020204020204" charset="-122"/>
              </a:rPr>
              <a:t>新兴业务流程：</a:t>
            </a:r>
            <a:endParaRPr lang="zh-CN" altLang="en-US" sz="1800" b="1">
              <a:latin typeface="Arial" panose="020B0604020202020204" pitchFamily="34" charset="0"/>
              <a:ea typeface="微软雅黑" panose="020B0503020204020204" charset="-122"/>
            </a:endParaRPr>
          </a:p>
          <a:p>
            <a:pPr algn="l"/>
            <a:r>
              <a:rPr lang="en-US" altLang="zh-CN" sz="1800">
                <a:latin typeface="Arial" panose="020B0604020202020204" pitchFamily="34" charset="0"/>
                <a:ea typeface="微软雅黑" panose="020B0503020204020204" charset="-122"/>
              </a:rPr>
              <a:t>“adaptive process does not have a detailed prescription of how the set of process steps are to be executed, but</a:t>
            </a:r>
            <a:r>
              <a:rPr lang="en-US" altLang="zh-CN" sz="1800">
                <a:solidFill>
                  <a:srgbClr val="FF0000"/>
                </a:solidFill>
                <a:latin typeface="Arial" panose="020B0604020202020204" pitchFamily="34" charset="0"/>
                <a:ea typeface="微软雅黑" panose="020B0503020204020204" charset="-122"/>
              </a:rPr>
              <a:t> only prescribe what has to</a:t>
            </a:r>
            <a:r>
              <a:rPr lang="zh-CN" altLang="en-US" sz="1800">
                <a:solidFill>
                  <a:srgbClr val="FF0000"/>
                </a:solidFill>
                <a:latin typeface="Arial" panose="020B0604020202020204" pitchFamily="34" charset="0"/>
                <a:ea typeface="微软雅黑" panose="020B0503020204020204" charset="-122"/>
              </a:rPr>
              <a:t> </a:t>
            </a:r>
            <a:r>
              <a:rPr lang="en-US" altLang="zh-CN" sz="1800">
                <a:solidFill>
                  <a:srgbClr val="FF0000"/>
                </a:solidFill>
                <a:latin typeface="Arial" panose="020B0604020202020204" pitchFamily="34" charset="0"/>
                <a:ea typeface="微软雅黑" panose="020B0503020204020204" charset="-122"/>
              </a:rPr>
              <a:t>be achieved</a:t>
            </a:r>
            <a:r>
              <a:rPr lang="en-US" altLang="zh-CN" sz="1800">
                <a:latin typeface="Arial" panose="020B0604020202020204" pitchFamily="34" charset="0"/>
                <a:ea typeface="微软雅黑" panose="020B0503020204020204" charset="-122"/>
              </a:rPr>
              <a:t>.”</a:t>
            </a:r>
            <a:endParaRPr lang="en-US" altLang="zh-CN" sz="1800">
              <a:latin typeface="Arial" panose="020B0604020202020204" pitchFamily="34" charset="0"/>
              <a:ea typeface="微软雅黑" panose="020B0503020204020204" charset="-122"/>
            </a:endParaRPr>
          </a:p>
          <a:p>
            <a:pPr algn="l"/>
            <a:endParaRPr lang="en-US" altLang="zh-CN" sz="1800" b="1">
              <a:latin typeface="Arial" panose="020B0604020202020204" pitchFamily="34" charset="0"/>
              <a:ea typeface="微软雅黑" panose="020B0503020204020204" charset="-122"/>
            </a:endParaRPr>
          </a:p>
          <a:p>
            <a:pPr algn="l"/>
            <a:r>
              <a:rPr lang="zh-CN" altLang="en-US" sz="1800">
                <a:solidFill>
                  <a:srgbClr val="FF0000"/>
                </a:solidFill>
                <a:latin typeface="Arial" panose="020B0604020202020204" pitchFamily="34" charset="0"/>
                <a:ea typeface="微软雅黑" panose="020B0503020204020204" charset="-122"/>
              </a:rPr>
              <a:t>目标导向</a:t>
            </a:r>
            <a:r>
              <a:rPr lang="zh-CN" altLang="en-US" sz="1800">
                <a:latin typeface="Arial" panose="020B0604020202020204" pitchFamily="34" charset="0"/>
                <a:ea typeface="微软雅黑" panose="020B0503020204020204" charset="-122"/>
              </a:rPr>
              <a:t>而非路径导向：只要达成目标（如</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安排面试</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），路径可变</a:t>
            </a:r>
            <a:endParaRPr lang="zh-CN" altLang="en-US" sz="1800">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2"/>
          <a:stretch>
            <a:fillRect/>
          </a:stretch>
        </p:blipFill>
        <p:spPr>
          <a:xfrm>
            <a:off x="7157085" y="5627370"/>
            <a:ext cx="4885690" cy="10179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ltLang="en-US"/>
              <a:t>核心挑战</a:t>
            </a:r>
            <a:r>
              <a:rPr lang="en-US" altLang="zh-CN"/>
              <a:t>             </a:t>
            </a:r>
            <a:endParaRPr lang="zh-CN" altLang="en-US" sz="2800"/>
          </a:p>
        </p:txBody>
      </p:sp>
      <p:sp>
        <p:nvSpPr>
          <p:cNvPr id="4" name="内容占位符 3"/>
          <p:cNvSpPr>
            <a:spLocks noGrp="1"/>
          </p:cNvSpPr>
          <p:nvPr>
            <p:ph idx="1"/>
          </p:nvPr>
        </p:nvSpPr>
        <p:spPr>
          <a:xfrm>
            <a:off x="838200" y="1691005"/>
            <a:ext cx="10515600" cy="5021580"/>
          </a:xfrm>
        </p:spPr>
        <p:txBody>
          <a:bodyPr>
            <a:noAutofit/>
          </a:bodyPr>
          <a:p>
            <a:pPr>
              <a:lnSpc>
                <a:spcPct val="110000"/>
              </a:lnSpc>
            </a:pPr>
            <a:r>
              <a:rPr lang="zh-CN" altLang="en-US" sz="2000"/>
              <a:t>冷启动问题：现有</a:t>
            </a:r>
            <a:r>
              <a:rPr lang="en-US" altLang="zh-CN" sz="2000"/>
              <a:t> NBA </a:t>
            </a:r>
            <a:r>
              <a:rPr lang="zh-CN" altLang="en-US" sz="2000"/>
              <a:t>推荐依赖历史数据，但自适应流程中</a:t>
            </a:r>
            <a:r>
              <a:rPr lang="en-US" altLang="zh-CN" sz="2000"/>
              <a:t> “</a:t>
            </a:r>
            <a:r>
              <a:rPr lang="zh-CN" altLang="en-US" sz="2000"/>
              <a:t>流程变化快、新代理持续新增</a:t>
            </a:r>
            <a:r>
              <a:rPr lang="en-US" altLang="zh-CN" sz="2000"/>
              <a:t>”</a:t>
            </a:r>
            <a:r>
              <a:rPr lang="zh-CN" altLang="en-US" sz="2000"/>
              <a:t>，历史数据不足</a:t>
            </a:r>
            <a:endParaRPr lang="zh-CN" altLang="en-US" sz="2000"/>
          </a:p>
          <a:p>
            <a:pPr>
              <a:lnSpc>
                <a:spcPct val="110000"/>
              </a:lnSpc>
            </a:pPr>
            <a:endParaRPr lang="zh-CN" altLang="en-US" sz="2000"/>
          </a:p>
          <a:p>
            <a:pPr>
              <a:lnSpc>
                <a:spcPct val="110000"/>
              </a:lnSpc>
            </a:pPr>
            <a:r>
              <a:rPr lang="zh-CN" altLang="en-US" sz="2000"/>
              <a:t>规则难扩展：手工写</a:t>
            </a:r>
            <a:r>
              <a:rPr lang="en-US" altLang="zh-CN" sz="2000"/>
              <a:t> if-else </a:t>
            </a:r>
            <a:r>
              <a:rPr lang="zh-CN" altLang="en-US" sz="2000" b="1"/>
              <a:t>推荐逻辑</a:t>
            </a:r>
            <a:r>
              <a:rPr lang="zh-CN" altLang="en-US" sz="2000"/>
              <a:t>无法应对数百个</a:t>
            </a:r>
            <a:r>
              <a:rPr lang="en-US" altLang="zh-CN" sz="2000"/>
              <a:t> Agent</a:t>
            </a:r>
            <a:endParaRPr lang="en-US" altLang="zh-CN" sz="2000"/>
          </a:p>
          <a:p>
            <a:pPr>
              <a:lnSpc>
                <a:spcPct val="110000"/>
              </a:lnSpc>
            </a:pPr>
            <a:endParaRPr lang="en-US" altLang="zh-CN" sz="2000"/>
          </a:p>
          <a:p>
            <a:pPr>
              <a:lnSpc>
                <a:spcPct val="110000"/>
              </a:lnSpc>
            </a:pPr>
            <a:r>
              <a:rPr lang="zh-CN" altLang="en-US" sz="2000"/>
              <a:t>信息异构：</a:t>
            </a:r>
            <a:r>
              <a:rPr lang="en-US" altLang="zh-CN" sz="2000"/>
              <a:t>Agent </a:t>
            </a:r>
            <a:r>
              <a:rPr lang="zh-CN" altLang="en-US" sz="2000"/>
              <a:t>有结构化元数据（输入</a:t>
            </a:r>
            <a:r>
              <a:rPr lang="en-US" altLang="zh-CN" sz="2000"/>
              <a:t>/</a:t>
            </a:r>
            <a:r>
              <a:rPr lang="zh-CN" altLang="en-US" sz="2000"/>
              <a:t>输出</a:t>
            </a:r>
            <a:r>
              <a:rPr lang="en-US" altLang="zh-CN" sz="2000"/>
              <a:t>/</a:t>
            </a:r>
            <a:r>
              <a:rPr lang="zh-CN" altLang="en-US" sz="2000"/>
              <a:t>类型），任务有非结构化描述（自然语言）</a:t>
            </a:r>
            <a:endParaRPr lang="zh-CN" altLang="en-US" sz="2000"/>
          </a:p>
          <a:p>
            <a:pPr>
              <a:lnSpc>
                <a:spcPct val="110000"/>
              </a:lnSpc>
            </a:pPr>
            <a:endParaRPr lang="zh-CN" altLang="en-US" sz="2000"/>
          </a:p>
          <a:p>
            <a:pPr>
              <a:lnSpc>
                <a:spcPct val="110000"/>
              </a:lnSpc>
            </a:pPr>
            <a:r>
              <a:rPr lang="zh-CN" altLang="en-US" sz="2000">
                <a:solidFill>
                  <a:srgbClr val="FF0000"/>
                </a:solidFill>
              </a:rPr>
              <a:t>上下文限制：</a:t>
            </a:r>
            <a:r>
              <a:rPr lang="en-US" altLang="zh-CN" sz="2000">
                <a:solidFill>
                  <a:srgbClr val="FF0000"/>
                </a:solidFill>
              </a:rPr>
              <a:t>LLM </a:t>
            </a:r>
            <a:r>
              <a:rPr lang="zh-CN" altLang="en-US" sz="2000">
                <a:solidFill>
                  <a:srgbClr val="FF0000"/>
                </a:solidFill>
              </a:rPr>
              <a:t>的</a:t>
            </a:r>
            <a:r>
              <a:rPr lang="en-US" altLang="zh-CN" sz="2000">
                <a:solidFill>
                  <a:srgbClr val="FF0000"/>
                </a:solidFill>
              </a:rPr>
              <a:t> prompt </a:t>
            </a:r>
            <a:r>
              <a:rPr lang="zh-CN" altLang="en-US" sz="2000">
                <a:solidFill>
                  <a:srgbClr val="FF0000"/>
                </a:solidFill>
              </a:rPr>
              <a:t>长度有限，无法一次性输入全部</a:t>
            </a:r>
            <a:r>
              <a:rPr lang="en-US" altLang="zh-CN" sz="2000">
                <a:solidFill>
                  <a:srgbClr val="FF0000"/>
                </a:solidFill>
              </a:rPr>
              <a:t> Agent</a:t>
            </a:r>
            <a:r>
              <a:rPr lang="zh-CN" altLang="en-US" sz="2000">
                <a:solidFill>
                  <a:srgbClr val="FF0000"/>
                </a:solidFill>
              </a:rPr>
              <a:t>（可能上千个）</a:t>
            </a:r>
            <a:endParaRPr lang="zh-CN" altLang="en-US" sz="2000">
              <a:solidFill>
                <a:srgbClr val="FF0000"/>
              </a:solidFill>
            </a:endParaRPr>
          </a:p>
          <a:p>
            <a:pPr marL="0" indent="0">
              <a:lnSpc>
                <a:spcPct val="110000"/>
              </a:lnSpc>
              <a:buNone/>
            </a:pPr>
            <a:endParaRPr lang="zh-CN" altLang="en-US" sz="2000">
              <a:solidFill>
                <a:srgbClr val="FF0000"/>
              </a:solidFill>
            </a:endParaRPr>
          </a:p>
          <a:p>
            <a:pPr lvl="1">
              <a:lnSpc>
                <a:spcPct val="110000"/>
              </a:lnSpc>
            </a:pPr>
            <a:r>
              <a:rPr lang="zh-CN" altLang="en-US" sz="2000">
                <a:solidFill>
                  <a:srgbClr val="FF0000"/>
                </a:solidFill>
              </a:rPr>
              <a:t>因此需要</a:t>
            </a:r>
            <a:r>
              <a:rPr lang="zh-CN" altLang="en-US" sz="2000" b="1">
                <a:solidFill>
                  <a:srgbClr val="FF0000"/>
                </a:solidFill>
              </a:rPr>
              <a:t>分阶段</a:t>
            </a:r>
            <a:r>
              <a:rPr lang="zh-CN" altLang="en-US" sz="2000">
                <a:solidFill>
                  <a:srgbClr val="FF0000"/>
                </a:solidFill>
              </a:rPr>
              <a:t>方法来</a:t>
            </a:r>
            <a:r>
              <a:rPr lang="zh-CN" altLang="en-US" sz="2000" b="1">
                <a:solidFill>
                  <a:srgbClr val="FF0000"/>
                </a:solidFill>
              </a:rPr>
              <a:t>缩小对正确代理集的搜索范围</a:t>
            </a:r>
            <a:endParaRPr lang="zh-CN" altLang="en-US" sz="2000" b="1">
              <a:solidFill>
                <a:srgbClr val="FF0000"/>
              </a:solidFill>
            </a:endParaRPr>
          </a:p>
          <a:p>
            <a:pPr lvl="1">
              <a:lnSpc>
                <a:spcPct val="110000"/>
              </a:lnSpc>
            </a:pPr>
            <a:r>
              <a:rPr lang="en-US" altLang="zh-CN" sz="2000">
                <a:solidFill>
                  <a:srgbClr val="FF0000"/>
                </a:solidFill>
              </a:rPr>
              <a:t>——</a:t>
            </a:r>
            <a:r>
              <a:rPr lang="zh-CN" altLang="en-US" sz="2000">
                <a:solidFill>
                  <a:srgbClr val="FF0000"/>
                </a:solidFill>
              </a:rPr>
              <a:t>多阶段提示框架（</a:t>
            </a:r>
            <a:r>
              <a:rPr lang="en-US" altLang="zh-CN" sz="2000">
                <a:solidFill>
                  <a:srgbClr val="FF0000"/>
                </a:solidFill>
              </a:rPr>
              <a:t>Multi-Stage Prompting</a:t>
            </a:r>
            <a:r>
              <a:rPr lang="zh-CN" altLang="en-US" sz="2000">
                <a:solidFill>
                  <a:srgbClr val="FF0000"/>
                </a:solidFill>
              </a:rPr>
              <a:t>）</a:t>
            </a:r>
            <a:endParaRPr lang="zh-CN" altLang="en-US" sz="2000">
              <a:solidFill>
                <a:srgbClr val="FF0000"/>
              </a:solidFill>
            </a:endParaRPr>
          </a:p>
          <a:p>
            <a:pPr>
              <a:lnSpc>
                <a:spcPct val="110000"/>
              </a:lnSpc>
            </a:pPr>
            <a:endParaRPr lang="zh-CN" altLang="en-US" sz="20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4" name="图片 3"/>
          <p:cNvPicPr>
            <a:picLocks noChangeAspect="1"/>
          </p:cNvPicPr>
          <p:nvPr/>
        </p:nvPicPr>
        <p:blipFill>
          <a:blip r:embed="rId1"/>
          <a:stretch>
            <a:fillRect/>
          </a:stretch>
        </p:blipFill>
        <p:spPr>
          <a:xfrm>
            <a:off x="5774055" y="9525"/>
            <a:ext cx="5962650" cy="6848475"/>
          </a:xfrm>
          <a:prstGeom prst="rect">
            <a:avLst/>
          </a:prstGeom>
        </p:spPr>
      </p:pic>
      <p:sp>
        <p:nvSpPr>
          <p:cNvPr id="5" name="文本框 4"/>
          <p:cNvSpPr txBox="1"/>
          <p:nvPr/>
        </p:nvSpPr>
        <p:spPr>
          <a:xfrm>
            <a:off x="210820" y="234315"/>
            <a:ext cx="5563235" cy="6389370"/>
          </a:xfrm>
          <a:prstGeom prst="rect">
            <a:avLst/>
          </a:prstGeom>
        </p:spPr>
        <p:txBody>
          <a:bodyPr>
            <a:noAutofit/>
            <a:extLst>
              <a:ext uri="{4A0BC546-FE56-4ADE-93B0-CB8AF2F6F144}">
                <wpsdc:textFrameExt xmlns:wpsdc="http://www.wps.cn/officeDocument/2022/drawingmlCustomData" type="text"/>
              </a:ext>
            </a:extLst>
          </a:bodyPr>
          <a:p>
            <a:pPr marL="285750" indent="-285750" algn="l">
              <a:lnSpc>
                <a:spcPct val="150000"/>
              </a:lnSpc>
              <a:buFont typeface="Arial" panose="020B0604020202020204" pitchFamily="34" charset="0"/>
              <a:buChar char="•"/>
            </a:pPr>
            <a:r>
              <a:rPr lang="zh-CN" altLang="en-US" sz="1600" b="1">
                <a:solidFill>
                  <a:schemeClr val="tx1"/>
                </a:solidFill>
                <a:latin typeface="Arial" panose="020B0604020202020204" pitchFamily="34" charset="0"/>
                <a:ea typeface="微软雅黑" panose="020B0503020204020204" charset="-122"/>
              </a:rPr>
              <a:t>背景差异：</a:t>
            </a:r>
            <a:r>
              <a:rPr lang="zh-CN" altLang="en-US" sz="1600">
                <a:solidFill>
                  <a:schemeClr val="tx1"/>
                </a:solidFill>
                <a:latin typeface="Arial" panose="020B0604020202020204" pitchFamily="34" charset="0"/>
                <a:ea typeface="微软雅黑" panose="020B0503020204020204" charset="-122"/>
              </a:rPr>
              <a:t>传统业务流程（如贷款、订单处理）是设计时预定义步骤的固定流程；新型自适应流程则通过</a:t>
            </a:r>
            <a:r>
              <a:rPr lang="en-US" altLang="zh-CN" sz="1600">
                <a:solidFill>
                  <a:schemeClr val="tx1"/>
                </a:solidFill>
                <a:latin typeface="Arial" panose="020B0604020202020204" pitchFamily="34" charset="0"/>
                <a:ea typeface="微软雅黑" panose="020B0503020204020204" charset="-122"/>
              </a:rPr>
              <a:t> “</a:t>
            </a:r>
            <a:r>
              <a:rPr lang="zh-CN" altLang="en-US" sz="1600">
                <a:solidFill>
                  <a:schemeClr val="tx1"/>
                </a:solidFill>
                <a:latin typeface="Arial" panose="020B0604020202020204" pitchFamily="34" charset="0"/>
                <a:ea typeface="微软雅黑" panose="020B0503020204020204" charset="-122"/>
              </a:rPr>
              <a:t>拼接自主代理（</a:t>
            </a:r>
            <a:r>
              <a:rPr lang="en-US" altLang="zh-CN" sz="1600">
                <a:solidFill>
                  <a:schemeClr val="tx1"/>
                </a:solidFill>
                <a:latin typeface="Arial" panose="020B0604020202020204" pitchFamily="34" charset="0"/>
                <a:ea typeface="微软雅黑" panose="020B0503020204020204" charset="-122"/>
              </a:rPr>
              <a:t>API</a:t>
            </a:r>
            <a:r>
              <a:rPr lang="zh-CN" altLang="en-US" sz="1600">
                <a:solidFill>
                  <a:schemeClr val="tx1"/>
                </a:solidFill>
                <a:latin typeface="Arial" panose="020B0604020202020204" pitchFamily="34" charset="0"/>
                <a:ea typeface="微软雅黑" panose="020B0503020204020204" charset="-122"/>
              </a:rPr>
              <a:t>）</a:t>
            </a:r>
            <a:r>
              <a:rPr lang="en-US" altLang="zh-CN" sz="1600">
                <a:solidFill>
                  <a:schemeClr val="tx1"/>
                </a:solidFill>
                <a:latin typeface="Arial" panose="020B0604020202020204" pitchFamily="34" charset="0"/>
                <a:ea typeface="微软雅黑" panose="020B0503020204020204" charset="-122"/>
              </a:rPr>
              <a:t>” </a:t>
            </a:r>
            <a:r>
              <a:rPr lang="zh-CN" altLang="en-US" sz="1600">
                <a:solidFill>
                  <a:schemeClr val="tx1"/>
                </a:solidFill>
                <a:latin typeface="Arial" panose="020B0604020202020204" pitchFamily="34" charset="0"/>
                <a:ea typeface="微软雅黑" panose="020B0503020204020204" charset="-122"/>
              </a:rPr>
              <a:t>实现灵活任务执行，且依赖对话式界面供用户操作。</a:t>
            </a:r>
            <a:endParaRPr lang="zh-CN" altLang="en-US" sz="1600">
              <a:solidFill>
                <a:schemeClr val="tx1"/>
              </a:solidFill>
              <a:latin typeface="Arial" panose="020B0604020202020204" pitchFamily="34" charset="0"/>
              <a:ea typeface="微软雅黑" panose="020B0503020204020204" charset="-122"/>
            </a:endParaRPr>
          </a:p>
          <a:p>
            <a:pPr indent="0" algn="l">
              <a:lnSpc>
                <a:spcPct val="150000"/>
              </a:lnSpc>
              <a:buFont typeface="Arial" panose="020B0604020202020204" pitchFamily="34" charset="0"/>
              <a:buNone/>
            </a:pPr>
            <a:endParaRPr lang="zh-CN" altLang="en-US" sz="1600">
              <a:solidFill>
                <a:schemeClr val="tx1"/>
              </a:solidFill>
              <a:latin typeface="Arial" panose="020B0604020202020204" pitchFamily="34" charset="0"/>
              <a:ea typeface="微软雅黑" panose="020B0503020204020204" charset="-122"/>
            </a:endParaRPr>
          </a:p>
          <a:p>
            <a:pPr marL="285750" indent="-285750" algn="l">
              <a:lnSpc>
                <a:spcPct val="150000"/>
              </a:lnSpc>
              <a:buFont typeface="Arial" panose="020B0604020202020204" pitchFamily="34" charset="0"/>
              <a:buChar char="•"/>
            </a:pPr>
            <a:r>
              <a:rPr lang="zh-CN" altLang="en-US" sz="1600" b="1">
                <a:solidFill>
                  <a:srgbClr val="FF0000"/>
                </a:solidFill>
                <a:latin typeface="Arial" panose="020B0604020202020204" pitchFamily="34" charset="0"/>
                <a:ea typeface="微软雅黑" panose="020B0503020204020204" charset="-122"/>
              </a:rPr>
              <a:t>核心痛点</a:t>
            </a:r>
            <a:r>
              <a:rPr lang="zh-CN" altLang="en-US" sz="1600">
                <a:solidFill>
                  <a:srgbClr val="FF0000"/>
                </a:solidFill>
                <a:latin typeface="Arial" panose="020B0604020202020204" pitchFamily="34" charset="0"/>
                <a:ea typeface="微软雅黑" panose="020B0503020204020204" charset="-122"/>
              </a:rPr>
              <a:t>：现有</a:t>
            </a:r>
            <a:r>
              <a:rPr lang="en-US" altLang="zh-CN" sz="1600">
                <a:solidFill>
                  <a:srgbClr val="FF0000"/>
                </a:solidFill>
                <a:latin typeface="Arial" panose="020B0604020202020204" pitchFamily="34" charset="0"/>
                <a:ea typeface="微软雅黑" panose="020B0503020204020204" charset="-122"/>
              </a:rPr>
              <a:t> NBA </a:t>
            </a:r>
            <a:r>
              <a:rPr lang="zh-CN" altLang="en-US" sz="1600">
                <a:solidFill>
                  <a:srgbClr val="FF0000"/>
                </a:solidFill>
                <a:latin typeface="Arial" panose="020B0604020202020204" pitchFamily="34" charset="0"/>
                <a:ea typeface="微软雅黑" panose="020B0503020204020204" charset="-122"/>
              </a:rPr>
              <a:t>推荐依赖历史数据，但自适应流程中</a:t>
            </a:r>
            <a:r>
              <a:rPr lang="en-US" altLang="zh-CN" sz="1600">
                <a:solidFill>
                  <a:srgbClr val="FF0000"/>
                </a:solidFill>
                <a:latin typeface="Arial" panose="020B0604020202020204" pitchFamily="34" charset="0"/>
                <a:ea typeface="微软雅黑" panose="020B0503020204020204" charset="-122"/>
              </a:rPr>
              <a:t> “</a:t>
            </a:r>
            <a:r>
              <a:rPr lang="zh-CN" altLang="en-US" sz="1600">
                <a:solidFill>
                  <a:srgbClr val="FF0000"/>
                </a:solidFill>
                <a:latin typeface="Arial" panose="020B0604020202020204" pitchFamily="34" charset="0"/>
                <a:ea typeface="微软雅黑" panose="020B0503020204020204" charset="-122"/>
              </a:rPr>
              <a:t>流程变化快、新代理持续新增</a:t>
            </a:r>
            <a:r>
              <a:rPr lang="en-US" altLang="zh-CN" sz="1600">
                <a:solidFill>
                  <a:srgbClr val="FF0000"/>
                </a:solidFill>
                <a:latin typeface="Arial" panose="020B0604020202020204" pitchFamily="34" charset="0"/>
                <a:ea typeface="微软雅黑" panose="020B0503020204020204" charset="-122"/>
              </a:rPr>
              <a:t>”</a:t>
            </a:r>
            <a:r>
              <a:rPr lang="zh-CN" altLang="en-US" sz="1600">
                <a:solidFill>
                  <a:srgbClr val="FF0000"/>
                </a:solidFill>
                <a:latin typeface="Arial" panose="020B0604020202020204" pitchFamily="34" charset="0"/>
                <a:ea typeface="微软雅黑" panose="020B0503020204020204" charset="-122"/>
              </a:rPr>
              <a:t>，历史数据不足；同时人工编写推荐规则无法规模化，且流程包含结构化</a:t>
            </a:r>
            <a:r>
              <a:rPr lang="en-US" altLang="zh-CN" sz="1600">
                <a:solidFill>
                  <a:srgbClr val="FF0000"/>
                </a:solidFill>
                <a:latin typeface="Arial" panose="020B0604020202020204" pitchFamily="34" charset="0"/>
                <a:ea typeface="微软雅黑" panose="020B0503020204020204" charset="-122"/>
              </a:rPr>
              <a:t> + </a:t>
            </a:r>
            <a:r>
              <a:rPr lang="zh-CN" altLang="en-US" sz="1600">
                <a:solidFill>
                  <a:srgbClr val="FF0000"/>
                </a:solidFill>
                <a:latin typeface="Arial" panose="020B0604020202020204" pitchFamily="34" charset="0"/>
                <a:ea typeface="微软雅黑" panose="020B0503020204020204" charset="-122"/>
              </a:rPr>
              <a:t>非结构化信息，难以挖掘。</a:t>
            </a:r>
            <a:endParaRPr lang="zh-CN" altLang="en-US" sz="1600">
              <a:solidFill>
                <a:srgbClr val="FF0000"/>
              </a:solidFill>
              <a:latin typeface="Arial" panose="020B0604020202020204" pitchFamily="34" charset="0"/>
              <a:ea typeface="微软雅黑" panose="020B0503020204020204" charset="-122"/>
            </a:endParaRPr>
          </a:p>
          <a:p>
            <a:pPr indent="0" algn="l">
              <a:lnSpc>
                <a:spcPct val="150000"/>
              </a:lnSpc>
              <a:buFont typeface="Arial" panose="020B0604020202020204" pitchFamily="34" charset="0"/>
              <a:buNone/>
            </a:pPr>
            <a:endParaRPr lang="zh-CN" altLang="en-US" sz="1600">
              <a:solidFill>
                <a:schemeClr val="tx1"/>
              </a:solidFill>
              <a:latin typeface="Arial" panose="020B0604020202020204" pitchFamily="34" charset="0"/>
              <a:ea typeface="微软雅黑" panose="020B0503020204020204" charset="-122"/>
            </a:endParaRPr>
          </a:p>
          <a:p>
            <a:pPr marL="285750" indent="-285750" algn="l">
              <a:lnSpc>
                <a:spcPct val="150000"/>
              </a:lnSpc>
              <a:buFont typeface="Arial" panose="020B0604020202020204" pitchFamily="34" charset="0"/>
              <a:buChar char="•"/>
            </a:pPr>
            <a:r>
              <a:rPr lang="zh-CN" altLang="en-US" sz="1600" b="1">
                <a:solidFill>
                  <a:schemeClr val="tx1"/>
                </a:solidFill>
                <a:latin typeface="Arial" panose="020B0604020202020204" pitchFamily="34" charset="0"/>
                <a:ea typeface="微软雅黑" panose="020B0503020204020204" charset="-122"/>
              </a:rPr>
              <a:t>解决方案：</a:t>
            </a:r>
            <a:r>
              <a:rPr lang="zh-CN" altLang="en-US" sz="1600">
                <a:solidFill>
                  <a:schemeClr val="tx1"/>
                </a:solidFill>
                <a:latin typeface="Arial" panose="020B0604020202020204" pitchFamily="34" charset="0"/>
                <a:ea typeface="微软雅黑" panose="020B0503020204020204" charset="-122"/>
              </a:rPr>
              <a:t>利用</a:t>
            </a:r>
            <a:r>
              <a:rPr lang="en-US" altLang="zh-CN" sz="1600">
                <a:solidFill>
                  <a:schemeClr val="tx1"/>
                </a:solidFill>
                <a:latin typeface="Arial" panose="020B0604020202020204" pitchFamily="34" charset="0"/>
                <a:ea typeface="微软雅黑" panose="020B0503020204020204" charset="-122"/>
              </a:rPr>
              <a:t> LLM </a:t>
            </a:r>
            <a:r>
              <a:rPr lang="zh-CN" altLang="en-US" sz="1600">
                <a:solidFill>
                  <a:schemeClr val="tx1"/>
                </a:solidFill>
                <a:latin typeface="Arial" panose="020B0604020202020204" pitchFamily="34" charset="0"/>
                <a:ea typeface="微软雅黑" panose="020B0503020204020204" charset="-122"/>
              </a:rPr>
              <a:t>结合</a:t>
            </a:r>
            <a:r>
              <a:rPr lang="en-US" altLang="zh-CN" sz="1600">
                <a:solidFill>
                  <a:schemeClr val="tx1"/>
                </a:solidFill>
                <a:latin typeface="Arial" panose="020B0604020202020204" pitchFamily="34" charset="0"/>
                <a:ea typeface="微软雅黑" panose="020B0503020204020204" charset="-122"/>
              </a:rPr>
              <a:t> “</a:t>
            </a:r>
            <a:r>
              <a:rPr lang="zh-CN" altLang="en-US" sz="1600">
                <a:solidFill>
                  <a:schemeClr val="tx1"/>
                </a:solidFill>
                <a:latin typeface="Arial" panose="020B0604020202020204" pitchFamily="34" charset="0"/>
                <a:ea typeface="微软雅黑" panose="020B0503020204020204" charset="-122"/>
              </a:rPr>
              <a:t>流程知识</a:t>
            </a:r>
            <a:r>
              <a:rPr lang="en-US" altLang="zh-CN" sz="1600">
                <a:solidFill>
                  <a:schemeClr val="tx1"/>
                </a:solidFill>
                <a:latin typeface="Arial" panose="020B0604020202020204" pitchFamily="34" charset="0"/>
                <a:ea typeface="微软雅黑" panose="020B0503020204020204" charset="-122"/>
              </a:rPr>
              <a:t>” </a:t>
            </a:r>
            <a:r>
              <a:rPr lang="zh-CN" altLang="en-US" sz="1600">
                <a:solidFill>
                  <a:schemeClr val="tx1"/>
                </a:solidFill>
                <a:latin typeface="Arial" panose="020B0604020202020204" pitchFamily="34" charset="0"/>
                <a:ea typeface="微软雅黑" panose="020B0503020204020204" charset="-122"/>
              </a:rPr>
              <a:t>和</a:t>
            </a:r>
            <a:r>
              <a:rPr lang="en-US" altLang="zh-CN" sz="1600">
                <a:solidFill>
                  <a:schemeClr val="tx1"/>
                </a:solidFill>
                <a:latin typeface="Arial" panose="020B0604020202020204" pitchFamily="34" charset="0"/>
                <a:ea typeface="微软雅黑" panose="020B0503020204020204" charset="-122"/>
              </a:rPr>
              <a:t> “</a:t>
            </a:r>
            <a:r>
              <a:rPr lang="zh-CN" altLang="en-US" sz="1600">
                <a:solidFill>
                  <a:schemeClr val="tx1"/>
                </a:solidFill>
                <a:latin typeface="Arial" panose="020B0604020202020204" pitchFamily="34" charset="0"/>
                <a:ea typeface="微软雅黑" panose="020B0503020204020204" charset="-122"/>
              </a:rPr>
              <a:t>代理元数据</a:t>
            </a:r>
            <a:r>
              <a:rPr lang="en-US" altLang="zh-CN" sz="1600">
                <a:solidFill>
                  <a:schemeClr val="tx1"/>
                </a:solidFill>
                <a:latin typeface="Arial" panose="020B0604020202020204" pitchFamily="34" charset="0"/>
                <a:ea typeface="微软雅黑" panose="020B0503020204020204" charset="-122"/>
              </a:rPr>
              <a:t>”</a:t>
            </a:r>
            <a:r>
              <a:rPr lang="zh-CN" altLang="en-US" sz="1600">
                <a:solidFill>
                  <a:schemeClr val="tx1"/>
                </a:solidFill>
                <a:latin typeface="Arial" panose="020B0604020202020204" pitchFamily="34" charset="0"/>
                <a:ea typeface="微软雅黑" panose="020B0503020204020204" charset="-122"/>
              </a:rPr>
              <a:t>，提出多阶段提示方法，在冷启动场景下（无历史数据）为用户</a:t>
            </a:r>
            <a:r>
              <a:rPr lang="en-US" altLang="zh-CN" sz="1600">
                <a:solidFill>
                  <a:schemeClr val="tx1"/>
                </a:solidFill>
                <a:latin typeface="Arial" panose="020B0604020202020204" pitchFamily="34" charset="0"/>
                <a:ea typeface="微软雅黑" panose="020B0503020204020204" charset="-122"/>
              </a:rPr>
              <a:t> utterance</a:t>
            </a:r>
            <a:r>
              <a:rPr lang="zh-CN" altLang="en-US" sz="1600">
                <a:solidFill>
                  <a:schemeClr val="tx1"/>
                </a:solidFill>
                <a:latin typeface="Arial" panose="020B0604020202020204" pitchFamily="34" charset="0"/>
                <a:ea typeface="微软雅黑" panose="020B0503020204020204" charset="-122"/>
              </a:rPr>
              <a:t>（自然语言请求）推荐</a:t>
            </a:r>
            <a:r>
              <a:rPr lang="en-US" altLang="zh-CN" sz="1600">
                <a:solidFill>
                  <a:schemeClr val="tx1"/>
                </a:solidFill>
                <a:latin typeface="Arial" panose="020B0604020202020204" pitchFamily="34" charset="0"/>
                <a:ea typeface="微软雅黑" panose="020B0503020204020204" charset="-122"/>
              </a:rPr>
              <a:t> NBA</a:t>
            </a:r>
            <a:r>
              <a:rPr lang="zh-CN" altLang="en-US" sz="1600">
                <a:solidFill>
                  <a:schemeClr val="tx1"/>
                </a:solidFill>
                <a:latin typeface="Arial" panose="020B0604020202020204" pitchFamily="34" charset="0"/>
                <a:ea typeface="微软雅黑" panose="020B0503020204020204" charset="-122"/>
              </a:rPr>
              <a:t>。</a:t>
            </a:r>
            <a:endParaRPr lang="zh-CN" altLang="en-US" sz="1600">
              <a:solidFill>
                <a:schemeClr val="tx1"/>
              </a:solidFill>
              <a:latin typeface="Arial" panose="020B0604020202020204" pitchFamily="34" charset="0"/>
              <a:ea typeface="微软雅黑" panose="020B0503020204020204" charset="-122"/>
            </a:endParaRPr>
          </a:p>
          <a:p>
            <a:pPr indent="0" algn="l">
              <a:lnSpc>
                <a:spcPct val="150000"/>
              </a:lnSpc>
              <a:buFont typeface="Arial" panose="020B0604020202020204" pitchFamily="34" charset="0"/>
              <a:buNone/>
            </a:pPr>
            <a:endParaRPr lang="zh-CN" altLang="en-US" sz="1600">
              <a:solidFill>
                <a:schemeClr val="tx1"/>
              </a:solidFill>
              <a:latin typeface="Arial" panose="020B0604020202020204" pitchFamily="34" charset="0"/>
              <a:ea typeface="微软雅黑" panose="020B0503020204020204" charset="-122"/>
            </a:endParaRPr>
          </a:p>
          <a:p>
            <a:pPr marL="285750" indent="-285750" algn="l">
              <a:lnSpc>
                <a:spcPct val="150000"/>
              </a:lnSpc>
              <a:buFont typeface="Arial" panose="020B0604020202020204" pitchFamily="34" charset="0"/>
              <a:buChar char="•"/>
            </a:pPr>
            <a:r>
              <a:rPr lang="zh-CN" altLang="en-US" sz="1600" b="1">
                <a:solidFill>
                  <a:schemeClr val="tx1"/>
                </a:solidFill>
                <a:latin typeface="Arial" panose="020B0604020202020204" pitchFamily="34" charset="0"/>
                <a:ea typeface="微软雅黑" panose="020B0503020204020204" charset="-122"/>
              </a:rPr>
              <a:t>核心贡献</a:t>
            </a:r>
            <a:r>
              <a:rPr lang="zh-CN" altLang="en-US" sz="1600">
                <a:solidFill>
                  <a:schemeClr val="tx1"/>
                </a:solidFill>
                <a:latin typeface="Arial" panose="020B0604020202020204" pitchFamily="34" charset="0"/>
                <a:ea typeface="微软雅黑" panose="020B0503020204020204" charset="-122"/>
              </a:rPr>
              <a:t>：首次用</a:t>
            </a:r>
            <a:r>
              <a:rPr lang="en-US" altLang="zh-CN" sz="1600">
                <a:solidFill>
                  <a:schemeClr val="tx1"/>
                </a:solidFill>
                <a:latin typeface="Arial" panose="020B0604020202020204" pitchFamily="34" charset="0"/>
                <a:ea typeface="微软雅黑" panose="020B0503020204020204" charset="-122"/>
              </a:rPr>
              <a:t> LLM </a:t>
            </a:r>
            <a:r>
              <a:rPr lang="zh-CN" altLang="en-US" sz="1600">
                <a:solidFill>
                  <a:schemeClr val="tx1"/>
                </a:solidFill>
                <a:latin typeface="Arial" panose="020B0604020202020204" pitchFamily="34" charset="0"/>
                <a:ea typeface="微软雅黑" panose="020B0503020204020204" charset="-122"/>
              </a:rPr>
              <a:t>解决自适应流程</a:t>
            </a:r>
            <a:r>
              <a:rPr lang="en-US" altLang="zh-CN" sz="1600">
                <a:solidFill>
                  <a:schemeClr val="tx1"/>
                </a:solidFill>
                <a:latin typeface="Arial" panose="020B0604020202020204" pitchFamily="34" charset="0"/>
                <a:ea typeface="微软雅黑" panose="020B0503020204020204" charset="-122"/>
              </a:rPr>
              <a:t> NBA </a:t>
            </a:r>
            <a:r>
              <a:rPr lang="zh-CN" altLang="en-US" sz="1600">
                <a:solidFill>
                  <a:schemeClr val="tx1"/>
                </a:solidFill>
                <a:latin typeface="Arial" panose="020B0604020202020204" pitchFamily="34" charset="0"/>
                <a:ea typeface="微软雅黑" panose="020B0503020204020204" charset="-122"/>
              </a:rPr>
              <a:t>冷启动问题；设计多阶段架构融合流程知识与代理元数据；实验证明仅用元数据即可超越传统基线。</a:t>
            </a:r>
            <a:endParaRPr lang="zh-CN" altLang="en-US" sz="1600">
              <a:solidFill>
                <a:schemeClr val="tx1"/>
              </a:solidFill>
              <a:latin typeface="Arial" panose="020B0604020202020204" pitchFamily="34" charset="0"/>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4"/>
          <p:cNvSpPr>
            <a:spLocks noGrp="1"/>
          </p:cNvSpPr>
          <p:nvPr>
            <p:ph idx="1"/>
          </p:nvPr>
        </p:nvSpPr>
        <p:spPr>
          <a:xfrm>
            <a:off x="838200" y="350520"/>
            <a:ext cx="10515600" cy="6362065"/>
          </a:xfrm>
        </p:spPr>
        <p:txBody>
          <a:bodyPr>
            <a:noAutofit/>
          </a:bodyPr>
          <a:p>
            <a:pPr>
              <a:lnSpc>
                <a:spcPct val="110000"/>
              </a:lnSpc>
            </a:pPr>
            <a:r>
              <a:rPr lang="zh-CN" altLang="en-US" sz="1200" b="1"/>
              <a:t>传统流程：</a:t>
            </a:r>
            <a:r>
              <a:rPr lang="zh-CN" altLang="en-US" sz="1200"/>
              <a:t>依赖</a:t>
            </a:r>
            <a:r>
              <a:rPr lang="en-US" altLang="zh-CN" sz="1200"/>
              <a:t> ERP</a:t>
            </a:r>
            <a:r>
              <a:rPr lang="zh-CN" altLang="en-US" sz="1200"/>
              <a:t>、工作流引擎，步骤</a:t>
            </a:r>
            <a:r>
              <a:rPr lang="en-US" altLang="zh-CN" sz="1200"/>
              <a:t> “</a:t>
            </a:r>
            <a:r>
              <a:rPr lang="zh-CN" altLang="en-US" sz="1200"/>
              <a:t>预设、编码固定</a:t>
            </a:r>
            <a:r>
              <a:rPr lang="en-US" altLang="zh-CN" sz="1200"/>
              <a:t>”</a:t>
            </a:r>
            <a:r>
              <a:rPr lang="zh-CN" altLang="en-US" sz="1200"/>
              <a:t>（如固定报销审批节点），用户无自由度，仅按</a:t>
            </a:r>
            <a:r>
              <a:rPr lang="en-US" altLang="zh-CN" sz="1200"/>
              <a:t> “</a:t>
            </a:r>
            <a:r>
              <a:rPr lang="zh-CN" altLang="en-US" sz="1200"/>
              <a:t>怎么做（</a:t>
            </a:r>
            <a:r>
              <a:rPr lang="en-US" altLang="zh-CN" sz="1200"/>
              <a:t>How</a:t>
            </a:r>
            <a:r>
              <a:rPr lang="zh-CN" altLang="en-US" sz="1200"/>
              <a:t>）</a:t>
            </a:r>
            <a:r>
              <a:rPr lang="en-US" altLang="zh-CN" sz="1200"/>
              <a:t>” </a:t>
            </a:r>
            <a:r>
              <a:rPr lang="zh-CN" altLang="en-US" sz="1200"/>
              <a:t>执行。</a:t>
            </a:r>
            <a:endParaRPr lang="zh-CN" altLang="en-US" sz="1200"/>
          </a:p>
          <a:p>
            <a:pPr>
              <a:lnSpc>
                <a:spcPct val="110000"/>
              </a:lnSpc>
            </a:pPr>
            <a:r>
              <a:rPr lang="zh-CN" altLang="en-US" sz="1200" b="1"/>
              <a:t>自适应流程：</a:t>
            </a:r>
            <a:r>
              <a:rPr lang="zh-CN" altLang="en-US" sz="1200"/>
              <a:t>不预设步骤，</a:t>
            </a:r>
            <a:r>
              <a:rPr lang="zh-CN" altLang="en-US" sz="1200" b="1">
                <a:solidFill>
                  <a:srgbClr val="FF0000"/>
                </a:solidFill>
              </a:rPr>
              <a:t>仅定义</a:t>
            </a:r>
            <a:r>
              <a:rPr lang="en-US" altLang="zh-CN" sz="1200" b="1">
                <a:solidFill>
                  <a:srgbClr val="FF0000"/>
                </a:solidFill>
              </a:rPr>
              <a:t> “</a:t>
            </a:r>
            <a:r>
              <a:rPr lang="zh-CN" altLang="en-US" sz="1200" b="1">
                <a:solidFill>
                  <a:srgbClr val="FF0000"/>
                </a:solidFill>
              </a:rPr>
              <a:t>做什么（</a:t>
            </a:r>
            <a:r>
              <a:rPr lang="en-US" altLang="zh-CN" sz="1200" b="1">
                <a:solidFill>
                  <a:srgbClr val="FF0000"/>
                </a:solidFill>
              </a:rPr>
              <a:t>What</a:t>
            </a:r>
            <a:r>
              <a:rPr lang="zh-CN" altLang="en-US" sz="1200" b="1">
                <a:solidFill>
                  <a:srgbClr val="FF0000"/>
                </a:solidFill>
              </a:rPr>
              <a:t>）</a:t>
            </a:r>
            <a:r>
              <a:rPr lang="en-US" altLang="zh-CN" sz="1200" b="1">
                <a:solidFill>
                  <a:srgbClr val="FF0000"/>
                </a:solidFill>
              </a:rPr>
              <a:t>”</a:t>
            </a:r>
            <a:r>
              <a:rPr lang="zh-CN" altLang="en-US" sz="1200"/>
              <a:t>（如</a:t>
            </a:r>
            <a:r>
              <a:rPr lang="en-US" altLang="zh-CN" sz="1200"/>
              <a:t> “</a:t>
            </a:r>
            <a:r>
              <a:rPr lang="zh-CN" altLang="en-US" sz="1200"/>
              <a:t>处理保险理赔</a:t>
            </a:r>
            <a:r>
              <a:rPr lang="en-US" altLang="zh-CN" sz="1200"/>
              <a:t>”“</a:t>
            </a:r>
            <a:r>
              <a:rPr lang="zh-CN" altLang="en-US" sz="1200"/>
              <a:t>患者出院</a:t>
            </a:r>
            <a:r>
              <a:rPr lang="en-US" altLang="zh-CN" sz="1200"/>
              <a:t>”</a:t>
            </a:r>
            <a:r>
              <a:rPr lang="zh-CN" altLang="en-US" sz="1200"/>
              <a:t>），允许用户灵活拼接</a:t>
            </a:r>
            <a:r>
              <a:rPr lang="en-US" altLang="zh-CN" sz="1200"/>
              <a:t> “</a:t>
            </a:r>
            <a:r>
              <a:rPr lang="zh-CN" altLang="en-US" sz="1200"/>
              <a:t>代理序列</a:t>
            </a:r>
            <a:r>
              <a:rPr lang="en-US" altLang="zh-CN" sz="1200"/>
              <a:t>” </a:t>
            </a:r>
            <a:r>
              <a:rPr lang="zh-CN" altLang="en-US" sz="1200"/>
              <a:t>完成目标；支撑技术是</a:t>
            </a:r>
            <a:r>
              <a:rPr lang="en-US" altLang="zh-CN" sz="1200"/>
              <a:t> </a:t>
            </a:r>
            <a:r>
              <a:rPr lang="en-US" altLang="zh-CN" sz="1200" b="1">
                <a:solidFill>
                  <a:srgbClr val="FF0000"/>
                </a:solidFill>
              </a:rPr>
              <a:t>“</a:t>
            </a:r>
            <a:r>
              <a:rPr lang="zh-CN" altLang="en-US" sz="1200" b="1">
                <a:solidFill>
                  <a:srgbClr val="FF0000"/>
                </a:solidFill>
              </a:rPr>
              <a:t>代理（</a:t>
            </a:r>
            <a:r>
              <a:rPr lang="en-US" altLang="zh-CN" sz="1200" b="1">
                <a:solidFill>
                  <a:srgbClr val="FF0000"/>
                </a:solidFill>
              </a:rPr>
              <a:t>API</a:t>
            </a:r>
            <a:r>
              <a:rPr lang="zh-CN" altLang="en-US" sz="1200" b="1">
                <a:solidFill>
                  <a:srgbClr val="FF0000"/>
                </a:solidFill>
              </a:rPr>
              <a:t>）化</a:t>
            </a:r>
            <a:r>
              <a:rPr lang="en-US" altLang="zh-CN" sz="1200" b="1">
                <a:solidFill>
                  <a:srgbClr val="FF0000"/>
                </a:solidFill>
              </a:rPr>
              <a:t>”</a:t>
            </a:r>
            <a:r>
              <a:rPr lang="zh-CN" altLang="en-US" sz="1200"/>
              <a:t>（如</a:t>
            </a:r>
            <a:r>
              <a:rPr lang="en-US" altLang="zh-CN" sz="1200"/>
              <a:t> Salesforce </a:t>
            </a:r>
            <a:r>
              <a:rPr lang="zh-CN" altLang="en-US" sz="1200"/>
              <a:t>将</a:t>
            </a:r>
            <a:r>
              <a:rPr lang="en-US" altLang="zh-CN" sz="1200"/>
              <a:t> CRM </a:t>
            </a:r>
            <a:r>
              <a:rPr lang="zh-CN" altLang="en-US" sz="1200"/>
              <a:t>功能封装为</a:t>
            </a:r>
            <a:r>
              <a:rPr lang="en-US" altLang="zh-CN" sz="1200"/>
              <a:t> API</a:t>
            </a:r>
            <a:r>
              <a:rPr lang="zh-CN" altLang="en-US" sz="1200"/>
              <a:t>）和</a:t>
            </a:r>
            <a:r>
              <a:rPr lang="en-US" altLang="zh-CN" sz="1200"/>
              <a:t> “</a:t>
            </a:r>
            <a:r>
              <a:rPr lang="zh-CN" altLang="en-US" sz="1200"/>
              <a:t>对话式交互</a:t>
            </a:r>
            <a:r>
              <a:rPr lang="en-US" altLang="zh-CN" sz="1200"/>
              <a:t>”</a:t>
            </a:r>
            <a:r>
              <a:rPr lang="zh-CN" altLang="en-US" sz="1200"/>
              <a:t>（用户用自然语言调用代理序列）。</a:t>
            </a:r>
            <a:endParaRPr lang="zh-CN" altLang="en-US" sz="1200"/>
          </a:p>
          <a:p>
            <a:pPr>
              <a:lnSpc>
                <a:spcPct val="110000"/>
              </a:lnSpc>
            </a:pPr>
            <a:endParaRPr lang="zh-CN" altLang="en-US" sz="1400"/>
          </a:p>
          <a:p>
            <a:pPr>
              <a:lnSpc>
                <a:spcPct val="110000"/>
              </a:lnSpc>
            </a:pPr>
            <a:r>
              <a:rPr lang="zh-CN" altLang="en-US" sz="1400" b="1"/>
              <a:t>代理：</a:t>
            </a:r>
            <a:r>
              <a:rPr lang="zh-CN" altLang="en-US" sz="1400"/>
              <a:t>即封装特定功能的</a:t>
            </a:r>
            <a:r>
              <a:rPr lang="en-US" altLang="zh-CN" sz="1400"/>
              <a:t> API</a:t>
            </a:r>
            <a:r>
              <a:rPr lang="zh-CN" altLang="en-US" sz="1400"/>
              <a:t>，包含</a:t>
            </a:r>
            <a:r>
              <a:rPr lang="zh-CN" altLang="en-US" sz="1400">
                <a:solidFill>
                  <a:srgbClr val="FF0000"/>
                </a:solidFill>
              </a:rPr>
              <a:t>元数据（描述、输入输出签名、调用类型如</a:t>
            </a:r>
            <a:r>
              <a:rPr lang="en-US" altLang="zh-CN" sz="1400">
                <a:solidFill>
                  <a:srgbClr val="FF0000"/>
                </a:solidFill>
              </a:rPr>
              <a:t> GET/POST</a:t>
            </a:r>
            <a:r>
              <a:rPr lang="zh-CN" altLang="en-US" sz="1400">
                <a:solidFill>
                  <a:srgbClr val="FF0000"/>
                </a:solidFill>
              </a:rPr>
              <a:t>）</a:t>
            </a:r>
            <a:r>
              <a:rPr lang="zh-CN" altLang="en-US" sz="1400"/>
              <a:t>，一个代理可复用在多个流程任务中（如</a:t>
            </a:r>
            <a:r>
              <a:rPr lang="en-US" altLang="zh-CN" sz="1400"/>
              <a:t>api get order</a:t>
            </a:r>
            <a:r>
              <a:rPr lang="zh-CN" altLang="en-US" sz="1400"/>
              <a:t>可用于</a:t>
            </a:r>
            <a:r>
              <a:rPr lang="en-US" altLang="zh-CN" sz="1400"/>
              <a:t> “</a:t>
            </a:r>
            <a:r>
              <a:rPr lang="zh-CN" altLang="en-US" sz="1400"/>
              <a:t>更新订单</a:t>
            </a:r>
            <a:r>
              <a:rPr lang="en-US" altLang="zh-CN" sz="1400"/>
              <a:t>” </a:t>
            </a:r>
            <a:r>
              <a:rPr lang="zh-CN" altLang="en-US" sz="1400"/>
              <a:t>和</a:t>
            </a:r>
            <a:r>
              <a:rPr lang="en-US" altLang="zh-CN" sz="1400"/>
              <a:t> “</a:t>
            </a:r>
            <a:r>
              <a:rPr lang="zh-CN" altLang="en-US" sz="1400"/>
              <a:t>审批订单</a:t>
            </a:r>
            <a:r>
              <a:rPr lang="en-US" altLang="zh-CN" sz="1400"/>
              <a:t>”</a:t>
            </a:r>
            <a:r>
              <a:rPr lang="zh-CN" altLang="en-US" sz="1400"/>
              <a:t>）。</a:t>
            </a:r>
            <a:endParaRPr lang="zh-CN" altLang="en-US" sz="1400"/>
          </a:p>
          <a:p>
            <a:pPr>
              <a:lnSpc>
                <a:spcPct val="110000"/>
              </a:lnSpc>
            </a:pPr>
            <a:r>
              <a:rPr lang="zh-CN" altLang="en-US" sz="1400" b="1"/>
              <a:t>流程任务</a:t>
            </a:r>
            <a:r>
              <a:rPr lang="zh-CN" altLang="en-US" sz="1400"/>
              <a:t>：由多个代理组成</a:t>
            </a:r>
            <a:endParaRPr lang="zh-CN" altLang="en-US" sz="1400"/>
          </a:p>
          <a:p>
            <a:pPr>
              <a:lnSpc>
                <a:spcPct val="110000"/>
              </a:lnSpc>
            </a:pPr>
            <a:r>
              <a:rPr lang="zh-CN" altLang="en-US" sz="1400" b="1"/>
              <a:t>流程知识</a:t>
            </a:r>
            <a:r>
              <a:rPr lang="zh-CN" altLang="en-US" sz="1400"/>
              <a:t>：业务流程知识包括流程任务描述、授权执行某些流程任务的角色信息以及业务规则，例如在收到申请之前必须批准工作申请。这种知识通常会随着时间的推移而改变。</a:t>
            </a:r>
            <a:endParaRPr lang="zh-CN" altLang="en-US" sz="1400"/>
          </a:p>
          <a:p>
            <a:pPr>
              <a:lnSpc>
                <a:spcPct val="110000"/>
              </a:lnSpc>
            </a:pPr>
            <a:endParaRPr lang="zh-CN" altLang="en-US" sz="1400"/>
          </a:p>
          <a:p>
            <a:pPr>
              <a:lnSpc>
                <a:spcPct val="110000"/>
              </a:lnSpc>
            </a:pPr>
            <a:r>
              <a:rPr lang="zh-CN" altLang="en-US" sz="1400">
                <a:sym typeface="+mn-ea"/>
              </a:rPr>
              <a:t>任务</a:t>
            </a:r>
            <a:r>
              <a:rPr lang="en-US" altLang="zh-CN" sz="1400">
                <a:sym typeface="+mn-ea"/>
              </a:rPr>
              <a:t>——</a:t>
            </a:r>
            <a:r>
              <a:rPr lang="zh-CN" altLang="en-US" sz="1400">
                <a:sym typeface="+mn-ea"/>
              </a:rPr>
              <a:t>代理</a:t>
            </a:r>
            <a:endParaRPr lang="zh-CN" altLang="en-US" sz="1400"/>
          </a:p>
          <a:p>
            <a:pPr>
              <a:lnSpc>
                <a:spcPct val="110000"/>
              </a:lnSpc>
            </a:pPr>
            <a:r>
              <a:rPr lang="zh-CN" altLang="en-US" sz="1400">
                <a:sym typeface="+mn-ea"/>
              </a:rPr>
              <a:t>代理</a:t>
            </a:r>
            <a:r>
              <a:rPr lang="en-US" altLang="zh-CN" sz="1400">
                <a:sym typeface="+mn-ea"/>
              </a:rPr>
              <a:t>——</a:t>
            </a:r>
            <a:r>
              <a:rPr lang="zh-CN" altLang="en-US" sz="1400">
                <a:sym typeface="+mn-ea"/>
              </a:rPr>
              <a:t>任务：一个代理可以与多个任务关联</a:t>
            </a:r>
            <a:endParaRPr lang="zh-CN" altLang="en-US" sz="1400"/>
          </a:p>
          <a:p>
            <a:pPr lvl="1"/>
            <a:r>
              <a:rPr lang="zh-CN" altLang="en-US" sz="1400">
                <a:sym typeface="+mn-ea"/>
              </a:rPr>
              <a:t>例如</a:t>
            </a:r>
            <a:r>
              <a:rPr lang="en-US" altLang="zh-CN" sz="1400">
                <a:sym typeface="+mn-ea"/>
              </a:rPr>
              <a:t>:</a:t>
            </a:r>
            <a:endParaRPr lang="zh-CN" altLang="en-US" sz="1400"/>
          </a:p>
          <a:p>
            <a:pPr lvl="1"/>
            <a:r>
              <a:rPr lang="zh-CN" altLang="en-US" sz="1400">
                <a:sym typeface="+mn-ea"/>
              </a:rPr>
              <a:t>更新订单</a:t>
            </a:r>
            <a:r>
              <a:rPr lang="en-US" altLang="zh-CN" sz="1400" i="1">
                <a:sym typeface="+mn-ea"/>
              </a:rPr>
              <a:t> {</a:t>
            </a:r>
            <a:r>
              <a:rPr lang="en-US" altLang="zh-CN" sz="1400" i="1">
                <a:solidFill>
                  <a:srgbClr val="FF0000"/>
                </a:solidFill>
                <a:sym typeface="+mn-ea"/>
              </a:rPr>
              <a:t>api_get_order</a:t>
            </a:r>
            <a:r>
              <a:rPr lang="en-US" altLang="zh-CN" sz="1400" i="1">
                <a:sym typeface="+mn-ea"/>
              </a:rPr>
              <a:t>, api_save_order}</a:t>
            </a:r>
            <a:endParaRPr lang="zh-CN" altLang="en-US" sz="1400" i="1"/>
          </a:p>
          <a:p>
            <a:pPr lvl="1"/>
            <a:r>
              <a:rPr lang="zh-CN" altLang="en-US" sz="1400">
                <a:sym typeface="+mn-ea"/>
              </a:rPr>
              <a:t>批准订单</a:t>
            </a:r>
            <a:r>
              <a:rPr lang="en-US" altLang="zh-CN" sz="1400">
                <a:sym typeface="+mn-ea"/>
              </a:rPr>
              <a:t> </a:t>
            </a:r>
            <a:r>
              <a:rPr lang="en-US" altLang="zh-CN" sz="1400" i="1">
                <a:sym typeface="+mn-ea"/>
              </a:rPr>
              <a:t>{</a:t>
            </a:r>
            <a:r>
              <a:rPr lang="en-US" altLang="zh-CN" sz="1400" i="1">
                <a:solidFill>
                  <a:srgbClr val="FF0000"/>
                </a:solidFill>
                <a:sym typeface="+mn-ea"/>
              </a:rPr>
              <a:t>api_get_order</a:t>
            </a:r>
            <a:r>
              <a:rPr lang="en-US" altLang="zh-CN" sz="1400" i="1">
                <a:sym typeface="+mn-ea"/>
              </a:rPr>
              <a:t>, api_approve_order, api_notify}</a:t>
            </a:r>
            <a:endParaRPr lang="en-US" altLang="zh-CN" sz="1400" i="1"/>
          </a:p>
          <a:p>
            <a:pPr lvl="1"/>
            <a:endParaRPr lang="en-US" altLang="zh-CN" sz="1400" i="1"/>
          </a:p>
          <a:p>
            <a:pPr lvl="1"/>
            <a:r>
              <a:rPr lang="zh-CN" altLang="en-US" sz="1400">
                <a:sym typeface="+mn-ea"/>
              </a:rPr>
              <a:t>论文提出：</a:t>
            </a:r>
            <a:r>
              <a:rPr lang="en-US" altLang="zh-CN" sz="1400">
                <a:sym typeface="+mn-ea"/>
              </a:rPr>
              <a:t>“</a:t>
            </a:r>
            <a:r>
              <a:rPr lang="zh-CN" altLang="en-US" sz="1400">
                <a:sym typeface="+mn-ea"/>
              </a:rPr>
              <a:t>下一个最佳代理</a:t>
            </a:r>
            <a:r>
              <a:rPr lang="en-US" altLang="zh-CN" sz="1400">
                <a:sym typeface="+mn-ea"/>
              </a:rPr>
              <a:t> </a:t>
            </a:r>
            <a:r>
              <a:rPr lang="zh-CN" altLang="en-US" sz="1400">
                <a:sym typeface="+mn-ea"/>
              </a:rPr>
              <a:t>（</a:t>
            </a:r>
            <a:r>
              <a:rPr lang="en-US" altLang="zh-CN" sz="1400">
                <a:sym typeface="+mn-ea"/>
              </a:rPr>
              <a:t>NBA</a:t>
            </a:r>
            <a:r>
              <a:rPr lang="zh-CN" altLang="en-US" sz="1400">
                <a:sym typeface="+mn-ea"/>
              </a:rPr>
              <a:t>）</a:t>
            </a:r>
            <a:r>
              <a:rPr lang="en-US" altLang="zh-CN" sz="1400">
                <a:sym typeface="+mn-ea"/>
              </a:rPr>
              <a:t> </a:t>
            </a:r>
            <a:r>
              <a:rPr lang="zh-CN" altLang="en-US" sz="1400">
                <a:sym typeface="+mn-ea"/>
              </a:rPr>
              <a:t>建议因流程任务的上下文而异</a:t>
            </a:r>
            <a:r>
              <a:rPr lang="en-US" altLang="zh-CN" sz="1400">
                <a:sym typeface="+mn-ea"/>
              </a:rPr>
              <a:t>”</a:t>
            </a:r>
            <a:endParaRPr lang="zh-CN" altLang="en-US" sz="1400"/>
          </a:p>
          <a:p>
            <a:pPr>
              <a:lnSpc>
                <a:spcPct val="110000"/>
              </a:lnSpc>
            </a:pPr>
            <a:endParaRPr lang="en-US" altLang="zh-CN" sz="1400"/>
          </a:p>
          <a:p>
            <a:pPr>
              <a:lnSpc>
                <a:spcPct val="110000"/>
              </a:lnSpc>
            </a:pPr>
            <a:r>
              <a:rPr lang="en-US" altLang="zh-CN" sz="1400" b="1">
                <a:sym typeface="+mn-ea"/>
              </a:rPr>
              <a:t>NBA </a:t>
            </a:r>
            <a:r>
              <a:rPr lang="zh-CN" altLang="en-US" sz="1400" b="1">
                <a:sym typeface="+mn-ea"/>
              </a:rPr>
              <a:t>推荐的核心挑战：</a:t>
            </a:r>
            <a:r>
              <a:rPr lang="zh-CN" altLang="en-US" sz="1400">
                <a:sym typeface="+mn-ea"/>
              </a:rPr>
              <a:t>推荐</a:t>
            </a:r>
            <a:r>
              <a:rPr lang="zh-CN" altLang="en-US" sz="1400">
                <a:solidFill>
                  <a:srgbClr val="FF0000"/>
                </a:solidFill>
                <a:sym typeface="+mn-ea"/>
              </a:rPr>
              <a:t>依赖</a:t>
            </a:r>
            <a:r>
              <a:rPr lang="en-US" altLang="zh-CN" sz="1400">
                <a:solidFill>
                  <a:srgbClr val="FF0000"/>
                </a:solidFill>
                <a:sym typeface="+mn-ea"/>
              </a:rPr>
              <a:t> “</a:t>
            </a:r>
            <a:r>
              <a:rPr lang="zh-CN" altLang="en-US" sz="1400">
                <a:solidFill>
                  <a:srgbClr val="FF0000"/>
                </a:solidFill>
                <a:sym typeface="+mn-ea"/>
              </a:rPr>
              <a:t>当前流程任务上下文</a:t>
            </a:r>
            <a:r>
              <a:rPr lang="en-US" altLang="zh-CN" sz="1400">
                <a:solidFill>
                  <a:srgbClr val="FF0000"/>
                </a:solidFill>
                <a:sym typeface="+mn-ea"/>
              </a:rPr>
              <a:t>”</a:t>
            </a:r>
            <a:r>
              <a:rPr lang="en-US" altLang="zh-CN" sz="1400">
                <a:sym typeface="+mn-ea"/>
              </a:rPr>
              <a:t>—— </a:t>
            </a:r>
            <a:r>
              <a:rPr lang="zh-CN" altLang="en-US" sz="1400">
                <a:sym typeface="+mn-ea"/>
              </a:rPr>
              <a:t>例如</a:t>
            </a:r>
            <a:r>
              <a:rPr lang="en-US" altLang="zh-CN" sz="1400">
                <a:sym typeface="+mn-ea"/>
              </a:rPr>
              <a:t> “</a:t>
            </a:r>
            <a:r>
              <a:rPr lang="zh-CN" altLang="en-US" sz="1400">
                <a:sym typeface="+mn-ea"/>
              </a:rPr>
              <a:t>更新订单</a:t>
            </a:r>
            <a:r>
              <a:rPr lang="en-US" altLang="zh-CN" sz="1400">
                <a:sym typeface="+mn-ea"/>
              </a:rPr>
              <a:t>” </a:t>
            </a:r>
            <a:r>
              <a:rPr lang="zh-CN" altLang="en-US" sz="1400">
                <a:sym typeface="+mn-ea"/>
              </a:rPr>
              <a:t>需后续调用</a:t>
            </a:r>
            <a:r>
              <a:rPr lang="en-US" altLang="zh-CN" sz="1400">
                <a:sym typeface="+mn-ea"/>
              </a:rPr>
              <a:t>api save order</a:t>
            </a:r>
            <a:r>
              <a:rPr lang="zh-CN" altLang="en-US" sz="1400">
                <a:sym typeface="+mn-ea"/>
              </a:rPr>
              <a:t>，</a:t>
            </a:r>
            <a:r>
              <a:rPr lang="en-US" altLang="zh-CN" sz="1400">
                <a:sym typeface="+mn-ea"/>
              </a:rPr>
              <a:t>“</a:t>
            </a:r>
            <a:r>
              <a:rPr lang="zh-CN" altLang="en-US" sz="1400">
                <a:sym typeface="+mn-ea"/>
              </a:rPr>
              <a:t>审批订单</a:t>
            </a:r>
            <a:r>
              <a:rPr lang="en-US" altLang="zh-CN" sz="1400">
                <a:sym typeface="+mn-ea"/>
              </a:rPr>
              <a:t>” </a:t>
            </a:r>
            <a:r>
              <a:rPr lang="zh-CN" altLang="en-US" sz="1400">
                <a:sym typeface="+mn-ea"/>
              </a:rPr>
              <a:t>需后续调用</a:t>
            </a:r>
            <a:r>
              <a:rPr lang="en-US" altLang="zh-CN" sz="1400">
                <a:sym typeface="+mn-ea"/>
              </a:rPr>
              <a:t>api approve order</a:t>
            </a:r>
            <a:r>
              <a:rPr lang="zh-CN" altLang="en-US" sz="1400">
                <a:sym typeface="+mn-ea"/>
              </a:rPr>
              <a:t>，无法通用。</a:t>
            </a:r>
            <a:endParaRPr lang="zh-CN" altLang="en-US" sz="1400"/>
          </a:p>
          <a:p>
            <a:pPr>
              <a:lnSpc>
                <a:spcPct val="110000"/>
              </a:lnSpc>
            </a:pPr>
            <a:endParaRPr lang="zh-CN" altLang="en-US" sz="1400"/>
          </a:p>
          <a:p>
            <a:pPr>
              <a:lnSpc>
                <a:spcPct val="110000"/>
              </a:lnSpc>
            </a:pPr>
            <a:endParaRPr lang="zh-CN"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89255" y="1481455"/>
            <a:ext cx="11446510" cy="4073525"/>
          </a:xfrm>
          <a:prstGeom prst="rect">
            <a:avLst/>
          </a:prstGeom>
        </p:spPr>
      </p:pic>
      <p:sp>
        <p:nvSpPr>
          <p:cNvPr id="4" name="文本框 3"/>
          <p:cNvSpPr txBox="1"/>
          <p:nvPr/>
        </p:nvSpPr>
        <p:spPr>
          <a:xfrm>
            <a:off x="401955" y="299720"/>
            <a:ext cx="4193540" cy="706755"/>
          </a:xfrm>
          <a:prstGeom prst="rect">
            <a:avLst/>
          </a:prstGeom>
          <a:noFill/>
        </p:spPr>
        <p:txBody>
          <a:bodyPr wrap="square" rtlCol="0">
            <a:spAutoFit/>
          </a:bodyPr>
          <a:p>
            <a:r>
              <a:rPr lang="zh-CN" altLang="en-US" sz="4000"/>
              <a:t>方法</a:t>
            </a:r>
            <a:endParaRPr lang="zh-CN" altLang="en-US"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87705" y="778510"/>
            <a:ext cx="5614670" cy="4805680"/>
          </a:xfrm>
          <a:prstGeom prst="rect">
            <a:avLst/>
          </a:prstGeom>
        </p:spPr>
      </p:pic>
      <p:sp>
        <p:nvSpPr>
          <p:cNvPr id="6" name="文本框 5"/>
          <p:cNvSpPr txBox="1"/>
          <p:nvPr/>
        </p:nvSpPr>
        <p:spPr>
          <a:xfrm>
            <a:off x="1145540" y="5772785"/>
            <a:ext cx="5021580" cy="645160"/>
          </a:xfrm>
          <a:prstGeom prst="rect">
            <a:avLst/>
          </a:prstGeom>
          <a:noFill/>
        </p:spPr>
        <p:txBody>
          <a:bodyPr wrap="square" rtlCol="0">
            <a:spAutoFit/>
          </a:bodyPr>
          <a:p>
            <a:r>
              <a:rPr lang="zh-CN" altLang="en-US"/>
              <a:t>提供了两个上下文示例：</a:t>
            </a:r>
            <a:endParaRPr lang="zh-CN" altLang="en-US"/>
          </a:p>
          <a:p>
            <a:r>
              <a:rPr lang="zh-CN" altLang="en-US"/>
              <a:t>输入为流程任务和代理描述，输出为是</a:t>
            </a:r>
            <a:r>
              <a:rPr lang="en-US" altLang="zh-CN"/>
              <a:t>/</a:t>
            </a:r>
            <a:r>
              <a:rPr lang="zh-CN" altLang="en-US"/>
              <a:t>否。</a:t>
            </a:r>
            <a:endParaRPr lang="zh-CN" altLang="en-US"/>
          </a:p>
        </p:txBody>
      </p:sp>
      <p:sp>
        <p:nvSpPr>
          <p:cNvPr id="7" name="文本框 6"/>
          <p:cNvSpPr txBox="1"/>
          <p:nvPr/>
        </p:nvSpPr>
        <p:spPr>
          <a:xfrm>
            <a:off x="6694805" y="3856355"/>
            <a:ext cx="5044440" cy="1753235"/>
          </a:xfrm>
          <a:prstGeom prst="rect">
            <a:avLst/>
          </a:prstGeom>
          <a:noFill/>
        </p:spPr>
        <p:txBody>
          <a:bodyPr wrap="square" rtlCol="0">
            <a:spAutoFit/>
          </a:bodyPr>
          <a:p>
            <a:r>
              <a:rPr lang="zh-CN" altLang="en-US"/>
              <a:t>离线阶段</a:t>
            </a:r>
            <a:r>
              <a:rPr lang="en-US" altLang="zh-CN"/>
              <a:t> 1</a:t>
            </a:r>
            <a:r>
              <a:rPr lang="zh-CN" altLang="en-US"/>
              <a:t>（任务</a:t>
            </a:r>
            <a:r>
              <a:rPr lang="en-US" altLang="zh-CN"/>
              <a:t> - </a:t>
            </a:r>
            <a:r>
              <a:rPr lang="zh-CN" altLang="en-US"/>
              <a:t>代理映射）</a:t>
            </a:r>
            <a:endParaRPr lang="zh-CN" altLang="en-US"/>
          </a:p>
          <a:p>
            <a:r>
              <a:rPr lang="zh-CN" altLang="en-US" b="1"/>
              <a:t>冷启动场景：</a:t>
            </a:r>
            <a:r>
              <a:rPr lang="zh-CN" altLang="en-US"/>
              <a:t>新代理</a:t>
            </a:r>
            <a:r>
              <a:rPr lang="en-US" altLang="zh-CN"/>
              <a:t> / </a:t>
            </a:r>
            <a:r>
              <a:rPr lang="zh-CN" altLang="en-US"/>
              <a:t>新任务无历史交互数据。</a:t>
            </a:r>
            <a:endParaRPr lang="zh-CN" altLang="en-US"/>
          </a:p>
          <a:p>
            <a:r>
              <a:rPr lang="zh-CN" altLang="en-US" b="1"/>
              <a:t>解决逻</a:t>
            </a:r>
            <a:r>
              <a:rPr lang="zh-CN" altLang="en-US" b="1"/>
              <a:t>辑：</a:t>
            </a:r>
            <a:r>
              <a:rPr lang="zh-CN" altLang="en-US"/>
              <a:t>利用</a:t>
            </a:r>
            <a:r>
              <a:rPr lang="en-US" altLang="zh-CN"/>
              <a:t> LLM </a:t>
            </a:r>
            <a:r>
              <a:rPr lang="zh-CN" altLang="en-US"/>
              <a:t>对</a:t>
            </a:r>
            <a:r>
              <a:rPr lang="en-US" altLang="zh-CN"/>
              <a:t> “</a:t>
            </a:r>
            <a:r>
              <a:rPr lang="zh-CN" altLang="en-US"/>
              <a:t>任务描述、代理规格（标准化元数据）</a:t>
            </a:r>
            <a:r>
              <a:rPr lang="en-US" altLang="zh-CN"/>
              <a:t>” </a:t>
            </a:r>
            <a:r>
              <a:rPr lang="zh-CN" altLang="en-US"/>
              <a:t>的理解，通过</a:t>
            </a:r>
            <a:r>
              <a:rPr lang="en-US" altLang="zh-CN"/>
              <a:t> “</a:t>
            </a:r>
            <a:r>
              <a:rPr lang="zh-CN" altLang="en-US"/>
              <a:t>是</a:t>
            </a:r>
            <a:r>
              <a:rPr lang="en-US" altLang="zh-CN"/>
              <a:t> / </a:t>
            </a:r>
            <a:r>
              <a:rPr lang="zh-CN" altLang="en-US"/>
              <a:t>否</a:t>
            </a:r>
            <a:r>
              <a:rPr lang="en-US" altLang="zh-CN"/>
              <a:t>” </a:t>
            </a:r>
            <a:r>
              <a:rPr lang="zh-CN" altLang="en-US"/>
              <a:t>二分类推理（结合</a:t>
            </a:r>
            <a:r>
              <a:rPr lang="en-US" altLang="zh-CN"/>
              <a:t> in-context examples</a:t>
            </a:r>
            <a:r>
              <a:rPr lang="zh-CN" altLang="en-US"/>
              <a:t>），直接建立</a:t>
            </a:r>
            <a:r>
              <a:rPr lang="en-US" altLang="zh-CN"/>
              <a:t> “</a:t>
            </a:r>
            <a:r>
              <a:rPr lang="zh-CN" altLang="en-US"/>
              <a:t>任务</a:t>
            </a:r>
            <a:r>
              <a:rPr lang="en-US" altLang="zh-CN"/>
              <a:t> - </a:t>
            </a:r>
            <a:r>
              <a:rPr lang="zh-CN" altLang="en-US"/>
              <a:t>代理映射</a:t>
            </a:r>
            <a:r>
              <a:rPr lang="en-US" altLang="zh-CN"/>
              <a:t>”</a:t>
            </a:r>
            <a:r>
              <a:rPr lang="zh-CN" altLang="en-US"/>
              <a:t>，无需历史数据。</a:t>
            </a:r>
            <a:endParaRPr lang="zh-CN" altLang="en-US"/>
          </a:p>
        </p:txBody>
      </p:sp>
      <p:pic>
        <p:nvPicPr>
          <p:cNvPr id="8" name="图片 7"/>
          <p:cNvPicPr>
            <a:picLocks noChangeAspect="1"/>
          </p:cNvPicPr>
          <p:nvPr/>
        </p:nvPicPr>
        <p:blipFill>
          <a:blip r:embed="rId2"/>
          <a:stretch>
            <a:fillRect/>
          </a:stretch>
        </p:blipFill>
        <p:spPr>
          <a:xfrm>
            <a:off x="6302375" y="210820"/>
            <a:ext cx="5631180" cy="3580130"/>
          </a:xfrm>
          <a:prstGeom prst="rect">
            <a:avLst/>
          </a:prstGeom>
        </p:spPr>
      </p:pic>
      <p:sp>
        <p:nvSpPr>
          <p:cNvPr id="9" name="文本框 8"/>
          <p:cNvSpPr txBox="1"/>
          <p:nvPr/>
        </p:nvSpPr>
        <p:spPr>
          <a:xfrm>
            <a:off x="5990590" y="6028055"/>
            <a:ext cx="6116955" cy="737235"/>
          </a:xfrm>
          <a:prstGeom prst="rect">
            <a:avLst/>
          </a:prstGeom>
          <a:noFill/>
        </p:spPr>
        <p:txBody>
          <a:bodyPr wrap="square" rtlCol="0">
            <a:spAutoFit/>
          </a:bodyPr>
          <a:p>
            <a:r>
              <a:rPr lang="zh-CN" altLang="en-US" sz="1400"/>
              <a:t>借助基于流程和代理数据库和流程存储库中可用的代理信息的任务和</a:t>
            </a:r>
            <a:r>
              <a:rPr lang="zh-CN" altLang="en-US" sz="1400">
                <a:solidFill>
                  <a:srgbClr val="FF0000"/>
                </a:solidFill>
              </a:rPr>
              <a:t>意图识别模型</a:t>
            </a:r>
            <a:r>
              <a:rPr lang="zh-CN" altLang="en-US" sz="1400"/>
              <a:t>，可以从用户话语中识别目标任务和目标代理。</a:t>
            </a:r>
            <a:endParaRPr lang="zh-CN" altLang="en-US" sz="1400"/>
          </a:p>
          <a:p>
            <a:r>
              <a:rPr lang="zh-CN" altLang="en-US" sz="1400"/>
              <a:t>论文</a:t>
            </a:r>
            <a:r>
              <a:rPr lang="zh-CN" altLang="en-US" sz="1400"/>
              <a:t>假设这是由现有工具完成的。</a:t>
            </a:r>
            <a:endParaRPr lang="zh-CN"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75310" y="419100"/>
            <a:ext cx="5079365" cy="4285615"/>
          </a:xfrm>
          <a:prstGeom prst="rect">
            <a:avLst/>
          </a:prstGeom>
        </p:spPr>
      </p:pic>
      <p:sp>
        <p:nvSpPr>
          <p:cNvPr id="6" name="文本框 5"/>
          <p:cNvSpPr txBox="1"/>
          <p:nvPr/>
        </p:nvSpPr>
        <p:spPr>
          <a:xfrm>
            <a:off x="6454140" y="3741420"/>
            <a:ext cx="4688840" cy="2030095"/>
          </a:xfrm>
          <a:prstGeom prst="rect">
            <a:avLst/>
          </a:prstGeom>
          <a:noFill/>
        </p:spPr>
        <p:txBody>
          <a:bodyPr wrap="square" rtlCol="0">
            <a:spAutoFit/>
          </a:bodyPr>
          <a:p>
            <a:r>
              <a:rPr lang="zh-CN" altLang="en-US"/>
              <a:t>在线阶段</a:t>
            </a:r>
            <a:r>
              <a:rPr lang="en-US" altLang="zh-CN"/>
              <a:t> 2</a:t>
            </a:r>
            <a:r>
              <a:rPr lang="zh-CN" altLang="en-US"/>
              <a:t>（任务专属</a:t>
            </a:r>
            <a:r>
              <a:rPr lang="en-US" altLang="zh-CN"/>
              <a:t> NBA</a:t>
            </a:r>
            <a:r>
              <a:rPr lang="zh-CN" altLang="en-US"/>
              <a:t>）</a:t>
            </a:r>
            <a:endParaRPr lang="zh-CN" altLang="en-US"/>
          </a:p>
          <a:p>
            <a:r>
              <a:rPr lang="zh-CN" altLang="en-US" b="1"/>
              <a:t>冷启动场景：</a:t>
            </a:r>
            <a:r>
              <a:rPr lang="zh-CN" altLang="en-US"/>
              <a:t>用户请求的任务</a:t>
            </a:r>
            <a:r>
              <a:rPr lang="en-US" altLang="zh-CN"/>
              <a:t> / </a:t>
            </a:r>
            <a:r>
              <a:rPr lang="zh-CN" altLang="en-US"/>
              <a:t>代理无历史推荐记录。</a:t>
            </a:r>
            <a:endParaRPr lang="zh-CN" altLang="en-US"/>
          </a:p>
          <a:p>
            <a:r>
              <a:rPr lang="zh-CN" altLang="en-US" b="1"/>
              <a:t>解决逻辑：</a:t>
            </a:r>
            <a:r>
              <a:rPr lang="zh-CN" altLang="en-US"/>
              <a:t>基于阶段</a:t>
            </a:r>
            <a:r>
              <a:rPr lang="en-US" altLang="zh-CN"/>
              <a:t> 1 </a:t>
            </a:r>
            <a:r>
              <a:rPr lang="zh-CN" altLang="en-US"/>
              <a:t>生成的</a:t>
            </a:r>
            <a:r>
              <a:rPr lang="en-US" altLang="zh-CN"/>
              <a:t> “</a:t>
            </a:r>
            <a:r>
              <a:rPr lang="zh-CN" altLang="en-US"/>
              <a:t>映射关系</a:t>
            </a:r>
            <a:r>
              <a:rPr lang="en-US" altLang="zh-CN"/>
              <a:t>” </a:t>
            </a:r>
            <a:r>
              <a:rPr lang="zh-CN" altLang="en-US"/>
              <a:t>和</a:t>
            </a:r>
            <a:r>
              <a:rPr lang="en-US" altLang="zh-CN"/>
              <a:t> “</a:t>
            </a:r>
            <a:r>
              <a:rPr lang="zh-CN" altLang="en-US"/>
              <a:t>任务</a:t>
            </a:r>
            <a:r>
              <a:rPr lang="en-US" altLang="zh-CN"/>
              <a:t> / </a:t>
            </a:r>
            <a:r>
              <a:rPr lang="zh-CN" altLang="en-US"/>
              <a:t>代理的元数据</a:t>
            </a:r>
            <a:r>
              <a:rPr lang="en-US" altLang="zh-CN"/>
              <a:t>”</a:t>
            </a:r>
            <a:r>
              <a:rPr lang="zh-CN" altLang="en-US"/>
              <a:t>，让</a:t>
            </a:r>
            <a:r>
              <a:rPr lang="en-US" altLang="zh-CN"/>
              <a:t> LLM </a:t>
            </a:r>
            <a:r>
              <a:rPr lang="zh-CN" altLang="en-US"/>
              <a:t>推理</a:t>
            </a:r>
            <a:r>
              <a:rPr lang="en-US" altLang="zh-CN"/>
              <a:t> “</a:t>
            </a:r>
            <a:r>
              <a:rPr lang="zh-CN" altLang="en-US"/>
              <a:t>下一个最佳代理</a:t>
            </a:r>
            <a:r>
              <a:rPr lang="en-US" altLang="zh-CN"/>
              <a:t>”</a:t>
            </a:r>
            <a:r>
              <a:rPr lang="zh-CN" altLang="en-US"/>
              <a:t>，仅需</a:t>
            </a:r>
            <a:r>
              <a:rPr lang="en-US" altLang="zh-CN"/>
              <a:t> “</a:t>
            </a:r>
            <a:r>
              <a:rPr lang="zh-CN" altLang="en-US"/>
              <a:t>任务</a:t>
            </a:r>
            <a:r>
              <a:rPr lang="en-US" altLang="zh-CN"/>
              <a:t> - </a:t>
            </a:r>
            <a:r>
              <a:rPr lang="zh-CN" altLang="en-US"/>
              <a:t>代理的描述信息</a:t>
            </a:r>
            <a:r>
              <a:rPr lang="en-US" altLang="zh-CN"/>
              <a:t>”</a:t>
            </a:r>
            <a:r>
              <a:rPr lang="zh-CN" altLang="en-US"/>
              <a:t>，而非历史使用数据。</a:t>
            </a:r>
            <a:endParaRPr lang="zh-CN" altLang="en-US"/>
          </a:p>
        </p:txBody>
      </p:sp>
      <p:pic>
        <p:nvPicPr>
          <p:cNvPr id="7" name="图片 6"/>
          <p:cNvPicPr>
            <a:picLocks noChangeAspect="1"/>
          </p:cNvPicPr>
          <p:nvPr/>
        </p:nvPicPr>
        <p:blipFill>
          <a:blip r:embed="rId2"/>
          <a:stretch>
            <a:fillRect/>
          </a:stretch>
        </p:blipFill>
        <p:spPr>
          <a:xfrm>
            <a:off x="5939790" y="331470"/>
            <a:ext cx="6176010" cy="3097530"/>
          </a:xfrm>
          <a:prstGeom prst="rect">
            <a:avLst/>
          </a:prstGeom>
        </p:spPr>
      </p:pic>
      <p:sp>
        <p:nvSpPr>
          <p:cNvPr id="8" name="文本框 7"/>
          <p:cNvSpPr txBox="1"/>
          <p:nvPr/>
        </p:nvSpPr>
        <p:spPr>
          <a:xfrm>
            <a:off x="358140" y="4704715"/>
            <a:ext cx="5582285" cy="1753235"/>
          </a:xfrm>
          <a:prstGeom prst="rect">
            <a:avLst/>
          </a:prstGeom>
          <a:noFill/>
        </p:spPr>
        <p:txBody>
          <a:bodyPr wrap="square" rtlCol="0">
            <a:spAutoFit/>
          </a:bodyPr>
          <a:p>
            <a:r>
              <a:rPr lang="en-US" altLang="zh-CN"/>
              <a:t>1. </a:t>
            </a:r>
            <a:r>
              <a:rPr lang="zh-CN" altLang="en-US"/>
              <a:t>根据用户话语识别目标代理和目标任务</a:t>
            </a:r>
            <a:r>
              <a:rPr lang="en-US" altLang="zh-CN"/>
              <a:t>;</a:t>
            </a:r>
            <a:endParaRPr lang="zh-CN" altLang="en-US"/>
          </a:p>
          <a:p>
            <a:r>
              <a:rPr lang="en-US" altLang="zh-CN"/>
              <a:t>2. </a:t>
            </a:r>
            <a:r>
              <a:rPr lang="zh-CN" altLang="en-US"/>
              <a:t>获取目标任务对应的目标代理的</a:t>
            </a:r>
            <a:r>
              <a:rPr lang="en-US" altLang="zh-CN"/>
              <a:t>NBA;</a:t>
            </a:r>
            <a:endParaRPr lang="zh-CN" altLang="en-US"/>
          </a:p>
          <a:p>
            <a:r>
              <a:rPr lang="en-US" altLang="zh-CN"/>
              <a:t>3. LLM</a:t>
            </a:r>
            <a:r>
              <a:rPr lang="zh-CN" altLang="en-US"/>
              <a:t>提示旨在向模型询问可以在目标代理之后排序的前</a:t>
            </a:r>
            <a:r>
              <a:rPr lang="en-US" altLang="zh-CN"/>
              <a:t> k </a:t>
            </a:r>
            <a:r>
              <a:rPr lang="zh-CN" altLang="en-US"/>
              <a:t>个</a:t>
            </a:r>
            <a:r>
              <a:rPr lang="en-US" altLang="zh-CN"/>
              <a:t>NBA;</a:t>
            </a:r>
            <a:endParaRPr lang="zh-CN" altLang="en-US"/>
          </a:p>
          <a:p>
            <a:endParaRPr lang="zh-CN" altLang="en-US"/>
          </a:p>
          <a:p>
            <a:r>
              <a:rPr lang="zh-CN" altLang="en-US"/>
              <a:t>提供了两个上下文示例，输出为前</a:t>
            </a:r>
            <a:r>
              <a:rPr lang="en-US" altLang="zh-CN"/>
              <a:t> k </a:t>
            </a:r>
            <a:r>
              <a:rPr lang="zh-CN" altLang="en-US"/>
              <a:t>名</a:t>
            </a:r>
            <a:r>
              <a:rPr lang="en-US" altLang="zh-CN"/>
              <a:t> NBA </a:t>
            </a:r>
            <a:r>
              <a:rPr lang="zh-CN" altLang="en-US"/>
              <a:t>的列表。</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828675" y="1080770"/>
            <a:ext cx="4476750" cy="5143500"/>
          </a:xfrm>
          <a:prstGeom prst="rect">
            <a:avLst/>
          </a:prstGeom>
        </p:spPr>
      </p:pic>
      <p:pic>
        <p:nvPicPr>
          <p:cNvPr id="5" name="图片 4"/>
          <p:cNvPicPr>
            <a:picLocks noChangeAspect="1"/>
          </p:cNvPicPr>
          <p:nvPr/>
        </p:nvPicPr>
        <p:blipFill>
          <a:blip r:embed="rId2"/>
          <a:stretch>
            <a:fillRect/>
          </a:stretch>
        </p:blipFill>
        <p:spPr>
          <a:xfrm>
            <a:off x="7606030" y="297815"/>
            <a:ext cx="3258820" cy="2694940"/>
          </a:xfrm>
          <a:prstGeom prst="rect">
            <a:avLst/>
          </a:prstGeom>
        </p:spPr>
      </p:pic>
      <p:sp>
        <p:nvSpPr>
          <p:cNvPr id="6" name="文本框 5"/>
          <p:cNvSpPr txBox="1"/>
          <p:nvPr/>
        </p:nvSpPr>
        <p:spPr>
          <a:xfrm>
            <a:off x="6419850" y="3466465"/>
            <a:ext cx="4935855" cy="3275330"/>
          </a:xfrm>
          <a:prstGeom prst="rect">
            <a:avLst/>
          </a:prstGeom>
          <a:noFill/>
        </p:spPr>
        <p:txBody>
          <a:bodyPr wrap="square" rtlCol="0">
            <a:noAutofit/>
          </a:bodyPr>
          <a:p>
            <a:r>
              <a:rPr lang="zh-CN" altLang="en-US"/>
              <a:t>为目标代理获得的所有任务</a:t>
            </a:r>
            <a:r>
              <a:rPr lang="en-US" altLang="zh-CN"/>
              <a:t> t ∈ Ta </a:t>
            </a:r>
            <a:r>
              <a:rPr lang="zh-CN" altLang="en-US"/>
              <a:t>获得的</a:t>
            </a:r>
            <a:r>
              <a:rPr lang="en-US" altLang="zh-CN"/>
              <a:t> top-k NBA </a:t>
            </a:r>
            <a:r>
              <a:rPr lang="zh-CN" altLang="en-US"/>
              <a:t>中获得</a:t>
            </a:r>
            <a:r>
              <a:rPr lang="en-US" altLang="zh-CN"/>
              <a:t> top-k NBA</a:t>
            </a:r>
            <a:endParaRPr lang="zh-CN" altLang="en-US"/>
          </a:p>
          <a:p>
            <a:endParaRPr lang="zh-CN" altLang="en-US"/>
          </a:p>
          <a:p>
            <a:r>
              <a:rPr lang="en-US" altLang="zh-CN"/>
              <a:t>1. </a:t>
            </a:r>
            <a:r>
              <a:rPr lang="zh-CN" altLang="en-US"/>
              <a:t>取所有任务</a:t>
            </a:r>
            <a:r>
              <a:rPr lang="en-US" altLang="zh-CN"/>
              <a:t> t ∈ Ta </a:t>
            </a:r>
            <a:r>
              <a:rPr lang="zh-CN" altLang="en-US"/>
              <a:t>的</a:t>
            </a:r>
            <a:r>
              <a:rPr lang="en-US" altLang="zh-CN"/>
              <a:t> top-k </a:t>
            </a:r>
            <a:r>
              <a:rPr lang="zh-CN" altLang="en-US"/>
              <a:t>代理</a:t>
            </a:r>
            <a:endParaRPr lang="zh-CN" altLang="en-US"/>
          </a:p>
          <a:p>
            <a:r>
              <a:rPr lang="en-US" altLang="zh-CN"/>
              <a:t>2. </a:t>
            </a:r>
            <a:r>
              <a:rPr lang="zh-CN" altLang="en-US"/>
              <a:t>根据目标代理</a:t>
            </a:r>
            <a:r>
              <a:rPr lang="en-US" altLang="zh-CN"/>
              <a:t> a </a:t>
            </a:r>
            <a:r>
              <a:rPr lang="zh-CN" altLang="en-US"/>
              <a:t>的</a:t>
            </a:r>
            <a:r>
              <a:rPr lang="zh-CN" altLang="en-US" b="1"/>
              <a:t>输出</a:t>
            </a:r>
            <a:r>
              <a:rPr lang="zh-CN" altLang="en-US"/>
              <a:t>是否与</a:t>
            </a:r>
            <a:r>
              <a:rPr lang="en-US" altLang="zh-CN"/>
              <a:t> NBA </a:t>
            </a:r>
            <a:r>
              <a:rPr lang="zh-CN" altLang="en-US"/>
              <a:t>代理的</a:t>
            </a:r>
            <a:r>
              <a:rPr lang="zh-CN" altLang="en-US" b="1"/>
              <a:t>输入语义匹配进行排名</a:t>
            </a:r>
            <a:r>
              <a:rPr lang="zh-CN" altLang="en-US"/>
              <a:t>，以获得特定于代理的</a:t>
            </a:r>
            <a:r>
              <a:rPr lang="en-US" altLang="zh-CN"/>
              <a:t> top-k NBA </a:t>
            </a:r>
            <a:r>
              <a:rPr lang="zh-CN" altLang="en-US"/>
              <a:t>代理。</a:t>
            </a:r>
            <a:endParaRPr lang="zh-CN" altLang="en-US"/>
          </a:p>
          <a:p>
            <a:endParaRPr lang="zh-CN" altLang="en-US"/>
          </a:p>
          <a:p>
            <a:r>
              <a:rPr lang="zh-CN" altLang="en-US"/>
              <a:t>提供了两个上下文示例，答案是</a:t>
            </a:r>
            <a:r>
              <a:rPr lang="en-US" altLang="zh-CN"/>
              <a:t>/</a:t>
            </a:r>
            <a:r>
              <a:rPr lang="zh-CN" altLang="en-US"/>
              <a:t>否。</a:t>
            </a:r>
            <a:endParaRPr lang="zh-CN" altLang="en-US"/>
          </a:p>
        </p:txBody>
      </p:sp>
      <p:sp>
        <p:nvSpPr>
          <p:cNvPr id="8" name="文本框 7"/>
          <p:cNvSpPr txBox="1"/>
          <p:nvPr/>
        </p:nvSpPr>
        <p:spPr>
          <a:xfrm>
            <a:off x="635000" y="309245"/>
            <a:ext cx="5658485" cy="645160"/>
          </a:xfrm>
          <a:prstGeom prst="rect">
            <a:avLst/>
          </a:prstGeom>
          <a:noFill/>
        </p:spPr>
        <p:txBody>
          <a:bodyPr wrap="square" rtlCol="0">
            <a:spAutoFit/>
          </a:bodyPr>
          <a:p>
            <a:r>
              <a:rPr lang="zh-CN" altLang="en-US">
                <a:sym typeface="+mn-ea"/>
              </a:rPr>
              <a:t>当未从用户话语（</a:t>
            </a:r>
            <a:r>
              <a:rPr lang="en-US" altLang="zh-CN">
                <a:sym typeface="+mn-ea"/>
              </a:rPr>
              <a:t>Utterance</a:t>
            </a:r>
            <a:r>
              <a:rPr lang="zh-CN" altLang="en-US">
                <a:sym typeface="+mn-ea"/>
              </a:rPr>
              <a:t>）中获取</a:t>
            </a:r>
            <a:r>
              <a:rPr lang="zh-CN" altLang="en-US" b="1">
                <a:sym typeface="+mn-ea"/>
              </a:rPr>
              <a:t>目标任务</a:t>
            </a:r>
            <a:r>
              <a:rPr lang="zh-CN" altLang="en-US">
                <a:sym typeface="+mn-ea"/>
              </a:rPr>
              <a:t>时，将执行此阶段。</a:t>
            </a:r>
            <a:endParaRPr lang="zh-CN" altLang="en-US"/>
          </a:p>
        </p:txBody>
      </p:sp>
      <p:sp>
        <p:nvSpPr>
          <p:cNvPr id="9" name="文本框 8"/>
          <p:cNvSpPr txBox="1"/>
          <p:nvPr/>
        </p:nvSpPr>
        <p:spPr>
          <a:xfrm>
            <a:off x="113665" y="6341110"/>
            <a:ext cx="6569710" cy="368300"/>
          </a:xfrm>
          <a:prstGeom prst="rect">
            <a:avLst/>
          </a:prstGeom>
          <a:noFill/>
        </p:spPr>
        <p:txBody>
          <a:bodyPr wrap="square" rtlCol="0">
            <a:spAutoFit/>
          </a:bodyPr>
          <a:p>
            <a:r>
              <a:rPr lang="zh-CN" altLang="en-US"/>
              <a:t>核心是区分</a:t>
            </a:r>
            <a:r>
              <a:rPr lang="en-US" altLang="zh-CN"/>
              <a:t> “</a:t>
            </a:r>
            <a:r>
              <a:rPr lang="zh-CN" altLang="en-US"/>
              <a:t>有明确任务</a:t>
            </a:r>
            <a:r>
              <a:rPr lang="en-US" altLang="zh-CN"/>
              <a:t>” </a:t>
            </a:r>
            <a:r>
              <a:rPr lang="zh-CN" altLang="en-US"/>
              <a:t>和</a:t>
            </a:r>
            <a:r>
              <a:rPr lang="en-US" altLang="zh-CN"/>
              <a:t> “</a:t>
            </a:r>
            <a:r>
              <a:rPr lang="zh-CN" altLang="en-US"/>
              <a:t>无明确任务</a:t>
            </a:r>
            <a:r>
              <a:rPr lang="en-US" altLang="zh-CN"/>
              <a:t>” </a:t>
            </a:r>
            <a:r>
              <a:rPr lang="zh-CN" altLang="en-US"/>
              <a:t>时的</a:t>
            </a:r>
            <a:r>
              <a:rPr lang="zh-CN" altLang="en-US" b="1">
                <a:solidFill>
                  <a:srgbClr val="FF0000"/>
                </a:solidFill>
              </a:rPr>
              <a:t>推荐逻辑差异</a:t>
            </a:r>
            <a:endParaRPr lang="zh-CN" altLang="en-US" b="1">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962025"/>
            <a:ext cx="10515600" cy="5215255"/>
          </a:xfrm>
        </p:spPr>
        <p:txBody>
          <a:bodyPr/>
          <a:p>
            <a:r>
              <a:rPr lang="zh-CN" altLang="en-US"/>
              <a:t>本文提出的新型业务流程管理，本身就就是</a:t>
            </a:r>
            <a:r>
              <a:rPr lang="zh-CN" altLang="en-US" b="1">
                <a:solidFill>
                  <a:srgbClr val="FF0000"/>
                </a:solidFill>
              </a:rPr>
              <a:t>任务目标导向</a:t>
            </a:r>
            <a:r>
              <a:rPr lang="zh-CN" altLang="en-US"/>
              <a:t>的</a:t>
            </a:r>
            <a:endParaRPr lang="zh-CN" altLang="en-US"/>
          </a:p>
        </p:txBody>
      </p:sp>
      <p:pic>
        <p:nvPicPr>
          <p:cNvPr id="4" name="图片 3"/>
          <p:cNvPicPr>
            <a:picLocks noChangeAspect="1"/>
          </p:cNvPicPr>
          <p:nvPr/>
        </p:nvPicPr>
        <p:blipFill>
          <a:blip r:embed="rId1"/>
          <a:stretch>
            <a:fillRect/>
          </a:stretch>
        </p:blipFill>
        <p:spPr>
          <a:xfrm>
            <a:off x="502285" y="1855470"/>
            <a:ext cx="11057255" cy="45523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t>LLM</a:t>
            </a:r>
            <a:r>
              <a:rPr lang="zh-CN" altLang="en-US" sz="3600"/>
              <a:t>输出的锚定（</a:t>
            </a:r>
            <a:r>
              <a:rPr lang="en-US" altLang="zh-CN" sz="3600"/>
              <a:t>Grounding</a:t>
            </a:r>
            <a:r>
              <a:rPr lang="zh-CN" altLang="en-US" sz="3600"/>
              <a:t>）</a:t>
            </a:r>
            <a:endParaRPr lang="zh-CN" altLang="en-US" sz="3600"/>
          </a:p>
        </p:txBody>
      </p:sp>
      <p:sp>
        <p:nvSpPr>
          <p:cNvPr id="3" name="内容占位符 2"/>
          <p:cNvSpPr>
            <a:spLocks noGrp="1"/>
          </p:cNvSpPr>
          <p:nvPr>
            <p:ph idx="1"/>
          </p:nvPr>
        </p:nvSpPr>
        <p:spPr/>
        <p:txBody>
          <a:bodyPr/>
          <a:p>
            <a:r>
              <a:rPr lang="zh-CN" altLang="en-US" sz="2400"/>
              <a:t>背景：</a:t>
            </a:r>
            <a:r>
              <a:rPr lang="en-US" altLang="zh-CN" sz="2400"/>
              <a:t>LLM</a:t>
            </a:r>
            <a:r>
              <a:rPr lang="zh-CN" altLang="en-US" sz="2400"/>
              <a:t>生成内容时可能产生</a:t>
            </a:r>
            <a:r>
              <a:rPr lang="en-US" altLang="zh-CN" sz="2400"/>
              <a:t>“</a:t>
            </a:r>
            <a:r>
              <a:rPr lang="zh-CN" altLang="en-US" sz="2400"/>
              <a:t>幻觉</a:t>
            </a:r>
            <a:r>
              <a:rPr lang="en-US" altLang="zh-CN" sz="2400"/>
              <a:t>”</a:t>
            </a:r>
            <a:r>
              <a:rPr lang="zh-CN" altLang="en-US" sz="2400"/>
              <a:t>（即编造无依据的信息）</a:t>
            </a:r>
            <a:endParaRPr lang="zh-CN" altLang="en-US" sz="2400"/>
          </a:p>
          <a:p>
            <a:endParaRPr lang="zh-CN" altLang="en-US" sz="2400"/>
          </a:p>
          <a:p>
            <a:r>
              <a:rPr lang="zh-CN" altLang="en-US" sz="2400" b="1">
                <a:solidFill>
                  <a:srgbClr val="FF0000"/>
                </a:solidFill>
              </a:rPr>
              <a:t>锚定</a:t>
            </a:r>
            <a:r>
              <a:rPr lang="en-US" altLang="zh-CN" sz="2400"/>
              <a:t> </a:t>
            </a:r>
            <a:r>
              <a:rPr lang="zh-CN" altLang="en-US" sz="2400"/>
              <a:t>是指让</a:t>
            </a:r>
            <a:r>
              <a:rPr lang="en-US" altLang="zh-CN" sz="2400"/>
              <a:t>LLM</a:t>
            </a:r>
            <a:r>
              <a:rPr lang="zh-CN" altLang="en-US" sz="2400"/>
              <a:t>结合领域相关信息生成相应，确保输出在特定业务场景中准确、可落地。</a:t>
            </a:r>
            <a:endParaRPr lang="zh-CN" altLang="en-US" sz="2400"/>
          </a:p>
          <a:p>
            <a:endParaRPr lang="zh-CN" altLang="en-US" sz="2400"/>
          </a:p>
          <a:p>
            <a:r>
              <a:rPr lang="zh-CN" altLang="en-US" sz="2400"/>
              <a:t>本文提出两种技术来进行锚定：</a:t>
            </a:r>
            <a:endParaRPr lang="zh-CN" altLang="en-US" sz="2400"/>
          </a:p>
          <a:p>
            <a:r>
              <a:rPr lang="en-US" altLang="zh-CN" sz="2400"/>
              <a:t>1. Guidance based Controlled Generation</a:t>
            </a:r>
            <a:r>
              <a:rPr lang="zh-CN" altLang="en-US" sz="2400"/>
              <a:t>（基于引导的受控生成）</a:t>
            </a:r>
            <a:endParaRPr lang="zh-CN" altLang="en-US" sz="2400"/>
          </a:p>
          <a:p>
            <a:r>
              <a:rPr lang="en-US" altLang="zh-CN" sz="2400"/>
              <a:t>2. Post-Processing</a:t>
            </a:r>
            <a:r>
              <a:rPr lang="zh-CN" altLang="en-US" sz="2400"/>
              <a:t>（后处理）</a:t>
            </a:r>
            <a:endParaRPr lang="en-US" altLang="zh-CN" sz="2400"/>
          </a:p>
          <a:p>
            <a:endParaRPr lang="en-US" altLang="zh-CN"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sym typeface="+mn-ea"/>
              </a:rPr>
              <a:t> 1. Guidance based Controlled Generation</a:t>
            </a:r>
            <a:r>
              <a:rPr lang="zh-CN" altLang="en-US" sz="2800">
                <a:sym typeface="+mn-ea"/>
              </a:rPr>
              <a:t>（基于引导的受控生成）</a:t>
            </a:r>
            <a:endParaRPr lang="zh-CN" altLang="en-US" sz="2800">
              <a:sym typeface="+mn-ea"/>
            </a:endParaRPr>
          </a:p>
        </p:txBody>
      </p:sp>
      <p:pic>
        <p:nvPicPr>
          <p:cNvPr id="4" name="图片 3"/>
          <p:cNvPicPr>
            <a:picLocks noChangeAspect="1"/>
          </p:cNvPicPr>
          <p:nvPr/>
        </p:nvPicPr>
        <p:blipFill>
          <a:blip r:embed="rId1"/>
          <a:stretch>
            <a:fillRect/>
          </a:stretch>
        </p:blipFill>
        <p:spPr>
          <a:xfrm>
            <a:off x="591185" y="2121535"/>
            <a:ext cx="11186160" cy="33178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2. Post-Processing</a:t>
            </a:r>
            <a:r>
              <a:rPr lang="zh-CN" altLang="en-US" sz="2800"/>
              <a:t>（后处理）</a:t>
            </a:r>
            <a:endParaRPr lang="zh-CN" altLang="en-US" sz="2800"/>
          </a:p>
        </p:txBody>
      </p:sp>
      <p:pic>
        <p:nvPicPr>
          <p:cNvPr id="4" name="图片 3"/>
          <p:cNvPicPr>
            <a:picLocks noChangeAspect="1"/>
          </p:cNvPicPr>
          <p:nvPr/>
        </p:nvPicPr>
        <p:blipFill>
          <a:blip r:embed="rId1"/>
          <a:stretch>
            <a:fillRect/>
          </a:stretch>
        </p:blipFill>
        <p:spPr>
          <a:xfrm>
            <a:off x="895350" y="1766570"/>
            <a:ext cx="10288905" cy="4347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247775"/>
            <a:ext cx="10515600" cy="4929505"/>
          </a:xfrm>
        </p:spPr>
        <p:txBody>
          <a:bodyPr/>
          <a:p>
            <a:r>
              <a:rPr lang="en-US" altLang="zh-CN"/>
              <a:t>Baseline</a:t>
            </a:r>
            <a:r>
              <a:rPr lang="zh-CN" altLang="en-US"/>
              <a:t>：</a:t>
            </a:r>
            <a:endParaRPr lang="zh-CN" altLang="en-US"/>
          </a:p>
          <a:p>
            <a:endParaRPr lang="zh-CN" altLang="en-US"/>
          </a:p>
        </p:txBody>
      </p:sp>
      <p:sp>
        <p:nvSpPr>
          <p:cNvPr id="4" name="文本框 3"/>
          <p:cNvSpPr txBox="1"/>
          <p:nvPr/>
        </p:nvSpPr>
        <p:spPr>
          <a:xfrm>
            <a:off x="401955" y="299720"/>
            <a:ext cx="4193540" cy="706755"/>
          </a:xfrm>
          <a:prstGeom prst="rect">
            <a:avLst/>
          </a:prstGeom>
          <a:noFill/>
        </p:spPr>
        <p:txBody>
          <a:bodyPr wrap="square" rtlCol="0">
            <a:spAutoFit/>
          </a:bodyPr>
          <a:p>
            <a:r>
              <a:rPr lang="zh-CN" altLang="en-US" sz="4000"/>
              <a:t>实验设置</a:t>
            </a:r>
            <a:endParaRPr lang="zh-CN" altLang="en-US" sz="4000"/>
          </a:p>
        </p:txBody>
      </p:sp>
      <p:pic>
        <p:nvPicPr>
          <p:cNvPr id="5" name="图片 4"/>
          <p:cNvPicPr>
            <a:picLocks noChangeAspect="1"/>
          </p:cNvPicPr>
          <p:nvPr/>
        </p:nvPicPr>
        <p:blipFill>
          <a:blip r:embed="rId1"/>
          <a:stretch>
            <a:fillRect/>
          </a:stretch>
        </p:blipFill>
        <p:spPr>
          <a:xfrm>
            <a:off x="1738630" y="1788795"/>
            <a:ext cx="8216265" cy="49295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247775"/>
            <a:ext cx="10515600" cy="4929505"/>
          </a:xfrm>
        </p:spPr>
        <p:txBody>
          <a:bodyPr/>
          <a:p>
            <a:r>
              <a:rPr lang="en-US" altLang="zh-CN"/>
              <a:t>Datasets</a:t>
            </a:r>
            <a:r>
              <a:rPr lang="zh-CN" altLang="en-US"/>
              <a:t>：</a:t>
            </a:r>
            <a:endParaRPr lang="zh-CN" altLang="en-US"/>
          </a:p>
          <a:p>
            <a:endParaRPr lang="zh-CN" altLang="en-US"/>
          </a:p>
        </p:txBody>
      </p:sp>
      <p:sp>
        <p:nvSpPr>
          <p:cNvPr id="4" name="文本框 3"/>
          <p:cNvSpPr txBox="1"/>
          <p:nvPr/>
        </p:nvSpPr>
        <p:spPr>
          <a:xfrm>
            <a:off x="401955" y="299720"/>
            <a:ext cx="4193540" cy="706755"/>
          </a:xfrm>
          <a:prstGeom prst="rect">
            <a:avLst/>
          </a:prstGeom>
          <a:noFill/>
        </p:spPr>
        <p:txBody>
          <a:bodyPr wrap="square" rtlCol="0">
            <a:spAutoFit/>
          </a:bodyPr>
          <a:p>
            <a:r>
              <a:rPr lang="zh-CN" altLang="en-US" sz="4000"/>
              <a:t>实验设置</a:t>
            </a:r>
            <a:endParaRPr lang="zh-CN" altLang="en-US" sz="4000"/>
          </a:p>
        </p:txBody>
      </p:sp>
      <p:pic>
        <p:nvPicPr>
          <p:cNvPr id="2" name="图片 1"/>
          <p:cNvPicPr>
            <a:picLocks noChangeAspect="1"/>
          </p:cNvPicPr>
          <p:nvPr/>
        </p:nvPicPr>
        <p:blipFill>
          <a:blip r:embed="rId1"/>
          <a:stretch>
            <a:fillRect/>
          </a:stretch>
        </p:blipFill>
        <p:spPr>
          <a:xfrm>
            <a:off x="889635" y="2016125"/>
            <a:ext cx="10552430" cy="38277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247775"/>
            <a:ext cx="10515600" cy="4929505"/>
          </a:xfrm>
        </p:spPr>
        <p:txBody>
          <a:bodyPr/>
          <a:p>
            <a:r>
              <a:rPr lang="en-US" altLang="zh-CN"/>
              <a:t>Models</a:t>
            </a:r>
            <a:r>
              <a:rPr lang="zh-CN" altLang="en-US"/>
              <a:t>：</a:t>
            </a:r>
            <a:endParaRPr lang="zh-CN" altLang="en-US"/>
          </a:p>
          <a:p>
            <a:endParaRPr lang="zh-CN" altLang="en-US"/>
          </a:p>
        </p:txBody>
      </p:sp>
      <p:sp>
        <p:nvSpPr>
          <p:cNvPr id="4" name="文本框 3"/>
          <p:cNvSpPr txBox="1"/>
          <p:nvPr/>
        </p:nvSpPr>
        <p:spPr>
          <a:xfrm>
            <a:off x="401955" y="299720"/>
            <a:ext cx="4193540" cy="706755"/>
          </a:xfrm>
          <a:prstGeom prst="rect">
            <a:avLst/>
          </a:prstGeom>
          <a:noFill/>
        </p:spPr>
        <p:txBody>
          <a:bodyPr wrap="square" rtlCol="0">
            <a:spAutoFit/>
          </a:bodyPr>
          <a:p>
            <a:r>
              <a:rPr lang="zh-CN" altLang="en-US" sz="4000"/>
              <a:t>实验设置</a:t>
            </a:r>
            <a:endParaRPr lang="zh-CN" altLang="en-US" sz="4000"/>
          </a:p>
        </p:txBody>
      </p:sp>
      <p:pic>
        <p:nvPicPr>
          <p:cNvPr id="5" name="图片 4"/>
          <p:cNvPicPr>
            <a:picLocks noChangeAspect="1"/>
          </p:cNvPicPr>
          <p:nvPr/>
        </p:nvPicPr>
        <p:blipFill>
          <a:blip r:embed="rId1"/>
          <a:stretch>
            <a:fillRect/>
          </a:stretch>
        </p:blipFill>
        <p:spPr>
          <a:xfrm>
            <a:off x="1074420" y="2284095"/>
            <a:ext cx="10043160" cy="25234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247775"/>
            <a:ext cx="10515600" cy="4929505"/>
          </a:xfrm>
        </p:spPr>
        <p:txBody>
          <a:bodyPr/>
          <a:p>
            <a:r>
              <a:rPr lang="en-US" altLang="zh-CN"/>
              <a:t>Evaluation Metrics</a:t>
            </a:r>
            <a:r>
              <a:rPr lang="zh-CN" altLang="en-US"/>
              <a:t>：</a:t>
            </a:r>
            <a:endParaRPr lang="zh-CN" altLang="en-US"/>
          </a:p>
          <a:p>
            <a:endParaRPr lang="zh-CN" altLang="en-US"/>
          </a:p>
        </p:txBody>
      </p:sp>
      <p:sp>
        <p:nvSpPr>
          <p:cNvPr id="4" name="文本框 3"/>
          <p:cNvSpPr txBox="1"/>
          <p:nvPr/>
        </p:nvSpPr>
        <p:spPr>
          <a:xfrm>
            <a:off x="401955" y="299720"/>
            <a:ext cx="4193540" cy="706755"/>
          </a:xfrm>
          <a:prstGeom prst="rect">
            <a:avLst/>
          </a:prstGeom>
          <a:noFill/>
        </p:spPr>
        <p:txBody>
          <a:bodyPr wrap="square" rtlCol="0">
            <a:spAutoFit/>
          </a:bodyPr>
          <a:p>
            <a:r>
              <a:rPr lang="zh-CN" altLang="en-US" sz="4000"/>
              <a:t>实验设置</a:t>
            </a:r>
            <a:endParaRPr lang="zh-CN" altLang="en-US" sz="4000"/>
          </a:p>
        </p:txBody>
      </p:sp>
      <p:pic>
        <p:nvPicPr>
          <p:cNvPr id="2" name="图片 1"/>
          <p:cNvPicPr>
            <a:picLocks noChangeAspect="1"/>
          </p:cNvPicPr>
          <p:nvPr/>
        </p:nvPicPr>
        <p:blipFill>
          <a:blip r:embed="rId1"/>
          <a:stretch>
            <a:fillRect/>
          </a:stretch>
        </p:blipFill>
        <p:spPr>
          <a:xfrm>
            <a:off x="1197610" y="2026920"/>
            <a:ext cx="9796145" cy="3649345"/>
          </a:xfrm>
          <a:prstGeom prst="rect">
            <a:avLst/>
          </a:prstGeom>
        </p:spPr>
      </p:pic>
      <p:sp>
        <p:nvSpPr>
          <p:cNvPr id="6" name="文本框 5"/>
          <p:cNvSpPr txBox="1"/>
          <p:nvPr/>
        </p:nvSpPr>
        <p:spPr>
          <a:xfrm>
            <a:off x="5744845" y="380365"/>
            <a:ext cx="6447790" cy="1891665"/>
          </a:xfrm>
          <a:prstGeom prst="rect">
            <a:avLst/>
          </a:prstGeom>
          <a:noFill/>
        </p:spPr>
        <p:txBody>
          <a:bodyPr wrap="square" rtlCol="0">
            <a:spAutoFit/>
          </a:bodyPr>
          <a:p>
            <a:pPr marL="742950" lvl="1" indent="-285750">
              <a:lnSpc>
                <a:spcPct val="150000"/>
              </a:lnSpc>
              <a:buFont typeface="Arial" panose="020B0604020202020204" pitchFamily="34" charset="0"/>
              <a:buChar char="•"/>
            </a:pPr>
            <a:r>
              <a:rPr lang="zh-CN" altLang="en-US">
                <a:sym typeface="+mn-ea"/>
              </a:rPr>
              <a:t>精确率</a:t>
            </a:r>
            <a:r>
              <a:rPr lang="en-US" altLang="zh-CN">
                <a:sym typeface="+mn-ea"/>
              </a:rPr>
              <a:t>P</a:t>
            </a:r>
            <a:r>
              <a:rPr lang="zh-CN" altLang="en-US">
                <a:sym typeface="+mn-ea"/>
              </a:rPr>
              <a:t>：衡量</a:t>
            </a:r>
            <a:r>
              <a:rPr lang="en-US" altLang="zh-CN">
                <a:sym typeface="+mn-ea"/>
              </a:rPr>
              <a:t>“</a:t>
            </a:r>
            <a:r>
              <a:rPr lang="zh-CN" altLang="en-US">
                <a:sym typeface="+mn-ea"/>
              </a:rPr>
              <a:t>筛选出来的代理中，真正相关的比例</a:t>
            </a:r>
            <a:r>
              <a:rPr lang="en-US" altLang="zh-CN">
                <a:sym typeface="+mn-ea"/>
              </a:rPr>
              <a:t>”</a:t>
            </a:r>
            <a:endParaRPr lang="en-US" altLang="zh-CN"/>
          </a:p>
          <a:p>
            <a:pPr marL="742950" lvl="1" indent="-285750">
              <a:lnSpc>
                <a:spcPct val="150000"/>
              </a:lnSpc>
              <a:buFont typeface="Arial" panose="020B0604020202020204" pitchFamily="34" charset="0"/>
              <a:buChar char="•"/>
            </a:pPr>
            <a:r>
              <a:rPr lang="zh-CN" altLang="en-US">
                <a:sym typeface="+mn-ea"/>
              </a:rPr>
              <a:t>召回率</a:t>
            </a:r>
            <a:r>
              <a:rPr lang="en-US" altLang="zh-CN">
                <a:sym typeface="+mn-ea"/>
              </a:rPr>
              <a:t>R</a:t>
            </a:r>
            <a:r>
              <a:rPr lang="zh-CN" altLang="en-US">
                <a:sym typeface="+mn-ea"/>
              </a:rPr>
              <a:t>：衡量</a:t>
            </a:r>
            <a:r>
              <a:rPr lang="en-US" altLang="zh-CN">
                <a:sym typeface="+mn-ea"/>
              </a:rPr>
              <a:t>“</a:t>
            </a:r>
            <a:r>
              <a:rPr lang="zh-CN" altLang="en-US">
                <a:sym typeface="+mn-ea"/>
              </a:rPr>
              <a:t>所有真正相关的代理中，被筛选出来的比例</a:t>
            </a:r>
            <a:r>
              <a:rPr lang="en-US" altLang="zh-CN">
                <a:sym typeface="+mn-ea"/>
              </a:rPr>
              <a:t>”</a:t>
            </a:r>
            <a:endParaRPr lang="en-US" altLang="zh-CN"/>
          </a:p>
          <a:p>
            <a:pPr marL="228600" lvl="0" indent="-228600">
              <a:buFont typeface="Arial" panose="020B0604020202020204" pitchFamily="34" charset="0"/>
              <a:buChar char="•"/>
            </a:pPr>
            <a:endParaRPr lang="zh-CN" altLang="en-US">
              <a:solidFill>
                <a:schemeClr val="tx1"/>
              </a:solidFill>
            </a:endParaRPr>
          </a:p>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sz="2400"/>
              <a:t>论文针对三个阶段（任务</a:t>
            </a:r>
            <a:r>
              <a:rPr lang="en-US" altLang="zh-CN" sz="2400"/>
              <a:t> - </a:t>
            </a:r>
            <a:r>
              <a:rPr lang="zh-CN" altLang="en-US" sz="2400"/>
              <a:t>代理映射、任务专属</a:t>
            </a:r>
            <a:r>
              <a:rPr lang="en-US" altLang="zh-CN" sz="2400"/>
              <a:t> NBA</a:t>
            </a:r>
            <a:r>
              <a:rPr lang="zh-CN" altLang="en-US" sz="2400"/>
              <a:t>、代理专属</a:t>
            </a:r>
            <a:r>
              <a:rPr lang="en-US" altLang="zh-CN" sz="2400"/>
              <a:t> NBA</a:t>
            </a:r>
            <a:r>
              <a:rPr lang="zh-CN" altLang="en-US" sz="2400"/>
              <a:t>），</a:t>
            </a:r>
            <a:endParaRPr lang="zh-CN" altLang="en-US" sz="2400"/>
          </a:p>
          <a:p>
            <a:r>
              <a:rPr lang="zh-CN" altLang="en-US" sz="2400"/>
              <a:t>对比了不同模型（</a:t>
            </a:r>
            <a:r>
              <a:rPr lang="en-US" altLang="zh-CN" sz="2400"/>
              <a:t>Flan-T5</a:t>
            </a:r>
            <a:r>
              <a:rPr lang="zh-CN" altLang="en-US" sz="2400"/>
              <a:t>、</a:t>
            </a:r>
            <a:r>
              <a:rPr lang="en-US" altLang="zh-CN" sz="2400"/>
              <a:t>OpenLlaMA</a:t>
            </a:r>
            <a:r>
              <a:rPr lang="zh-CN" altLang="en-US" sz="2400"/>
              <a:t>、</a:t>
            </a:r>
            <a:r>
              <a:rPr lang="en-US" altLang="zh-CN" sz="2400"/>
              <a:t>MPT</a:t>
            </a:r>
            <a:r>
              <a:rPr lang="zh-CN" altLang="en-US" sz="2400"/>
              <a:t>）和不同</a:t>
            </a:r>
            <a:r>
              <a:rPr lang="en-US" altLang="zh-CN" sz="2400"/>
              <a:t> “</a:t>
            </a:r>
            <a:r>
              <a:rPr lang="zh-CN" altLang="en-US" sz="2400"/>
              <a:t>任务</a:t>
            </a:r>
            <a:r>
              <a:rPr lang="en-US" altLang="zh-CN" sz="2400"/>
              <a:t> - </a:t>
            </a:r>
            <a:r>
              <a:rPr lang="zh-CN" altLang="en-US" sz="2400"/>
              <a:t>代理映射来源</a:t>
            </a:r>
            <a:r>
              <a:rPr lang="en-US" altLang="zh-CN" sz="2400"/>
              <a:t>”</a:t>
            </a:r>
            <a:r>
              <a:rPr lang="zh-CN" altLang="en-US" sz="2400"/>
              <a:t>（</a:t>
            </a:r>
            <a:r>
              <a:rPr lang="en-US" altLang="zh-CN" sz="2400"/>
              <a:t>Stage 1</a:t>
            </a:r>
            <a:r>
              <a:rPr lang="zh-CN" altLang="en-US" sz="2400"/>
              <a:t>、</a:t>
            </a:r>
            <a:r>
              <a:rPr lang="en-US" altLang="zh-CN" sz="2400"/>
              <a:t>Ground Truth</a:t>
            </a:r>
            <a:r>
              <a:rPr lang="zh-CN" altLang="en-US" sz="2400"/>
              <a:t>、</a:t>
            </a:r>
            <a:r>
              <a:rPr lang="en-US" altLang="zh-CN" sz="2400"/>
              <a:t>HE</a:t>
            </a:r>
            <a:r>
              <a:rPr lang="zh-CN" altLang="en-US" sz="2400"/>
              <a:t>）的性能</a:t>
            </a:r>
            <a:endParaRPr lang="zh-CN" altLang="en-US" sz="2400"/>
          </a:p>
          <a:p>
            <a:endParaRPr lang="zh-CN" altLang="en-US" sz="2400"/>
          </a:p>
          <a:p>
            <a:r>
              <a:rPr lang="zh-CN" altLang="en-US" sz="2400"/>
              <a:t>阶段拆解</a:t>
            </a:r>
            <a:r>
              <a:rPr lang="en-US" altLang="en-US" sz="2400"/>
              <a:t>→</a:t>
            </a:r>
            <a:r>
              <a:rPr lang="zh-CN" altLang="en-US" sz="2400"/>
              <a:t>模型对比</a:t>
            </a:r>
            <a:r>
              <a:rPr lang="en-US" altLang="en-US" sz="2400"/>
              <a:t>→</a:t>
            </a:r>
            <a:r>
              <a:rPr lang="zh-CN" altLang="en-US" sz="2400"/>
              <a:t>基准对比</a:t>
            </a:r>
            <a:r>
              <a:rPr lang="en-US" altLang="en-US" sz="2400"/>
              <a:t>→</a:t>
            </a:r>
            <a:r>
              <a:rPr lang="zh-CN" altLang="en-US" sz="2400"/>
              <a:t>定性细节</a:t>
            </a:r>
            <a:endParaRPr lang="zh-CN" altLang="en-US" sz="2400"/>
          </a:p>
        </p:txBody>
      </p:sp>
      <p:sp>
        <p:nvSpPr>
          <p:cNvPr id="4" name="文本框 3"/>
          <p:cNvSpPr txBox="1"/>
          <p:nvPr/>
        </p:nvSpPr>
        <p:spPr>
          <a:xfrm>
            <a:off x="401955" y="299720"/>
            <a:ext cx="4193540" cy="706755"/>
          </a:xfrm>
          <a:prstGeom prst="rect">
            <a:avLst/>
          </a:prstGeom>
          <a:noFill/>
        </p:spPr>
        <p:txBody>
          <a:bodyPr wrap="square" rtlCol="0">
            <a:spAutoFit/>
          </a:bodyPr>
          <a:p>
            <a:r>
              <a:rPr lang="zh-CN" altLang="en-US" sz="4000"/>
              <a:t>实验</a:t>
            </a:r>
            <a:r>
              <a:rPr lang="zh-CN" altLang="en-US" sz="4000"/>
              <a:t>结果</a:t>
            </a:r>
            <a:endParaRPr lang="zh-CN" altLang="en-US" sz="4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845820"/>
            <a:ext cx="10515600" cy="5331460"/>
          </a:xfrm>
        </p:spPr>
        <p:txBody>
          <a:bodyPr>
            <a:normAutofit fontScale="90000" lnSpcReduction="10000"/>
          </a:bodyPr>
          <a:p>
            <a:r>
              <a:rPr lang="en-US" altLang="zh-CN"/>
              <a:t>Stage1</a:t>
            </a:r>
            <a:r>
              <a:rPr lang="zh-CN" altLang="en-US"/>
              <a:t>：任务</a:t>
            </a:r>
            <a:r>
              <a:rPr lang="en-US" altLang="zh-CN"/>
              <a:t>-</a:t>
            </a:r>
            <a:r>
              <a:rPr lang="zh-CN" altLang="en-US"/>
              <a:t>代理映射（</a:t>
            </a:r>
            <a:r>
              <a:rPr lang="en-US" altLang="zh-CN"/>
              <a:t>Table1</a:t>
            </a:r>
            <a:r>
              <a:rPr lang="en-US" altLang="zh-CN"/>
              <a:t>a</a:t>
            </a:r>
            <a:endParaRPr lang="en-US" altLang="zh-CN"/>
          </a:p>
          <a:p>
            <a:r>
              <a:rPr lang="zh-CN" altLang="en-US" sz="2000" b="1"/>
              <a:t>核心是从海量代理中筛选出与目标任务相关的候选代理，</a:t>
            </a:r>
            <a:endParaRPr lang="zh-CN" altLang="en-US" sz="2000" b="1"/>
          </a:p>
          <a:p>
            <a:r>
              <a:rPr lang="zh-CN" altLang="en-US" sz="2000" b="1"/>
              <a:t>目标是</a:t>
            </a:r>
            <a:r>
              <a:rPr lang="en-US" altLang="zh-CN" sz="2000" b="1"/>
              <a:t> “</a:t>
            </a:r>
            <a:r>
              <a:rPr lang="zh-CN" altLang="en-US" sz="2000" b="1"/>
              <a:t>不遗漏相关代理</a:t>
            </a:r>
            <a:r>
              <a:rPr lang="en-US" altLang="zh-CN" sz="2000" b="1"/>
              <a:t>”</a:t>
            </a:r>
            <a:r>
              <a:rPr lang="zh-CN" altLang="en-US" sz="2000" b="1"/>
              <a:t>，因此以召回率（</a:t>
            </a:r>
            <a:r>
              <a:rPr lang="en-US" altLang="zh-CN" sz="2000" b="1"/>
              <a:t>Recall</a:t>
            </a:r>
            <a:r>
              <a:rPr lang="zh-CN" altLang="en-US" sz="2000" b="1"/>
              <a:t>）为核心指标</a:t>
            </a:r>
            <a:endParaRPr lang="zh-CN" altLang="en-US" sz="2000" b="1"/>
          </a:p>
          <a:p>
            <a:endParaRPr lang="en-US" altLang="zh-CN"/>
          </a:p>
          <a:p>
            <a:r>
              <a:rPr lang="en-US" altLang="zh-CN" sz="1800"/>
              <a:t>MPT-7B</a:t>
            </a:r>
            <a:r>
              <a:rPr lang="zh-CN" altLang="en-US" sz="1800"/>
              <a:t>：在</a:t>
            </a:r>
            <a:r>
              <a:rPr lang="en-US" altLang="zh-CN" sz="1800"/>
              <a:t> ABCD </a:t>
            </a:r>
            <a:r>
              <a:rPr lang="zh-CN" altLang="en-US" sz="1800"/>
              <a:t>数据集召回率</a:t>
            </a:r>
            <a:r>
              <a:rPr lang="en-US" altLang="zh-CN" sz="1800"/>
              <a:t> 0.912</a:t>
            </a:r>
            <a:r>
              <a:rPr lang="zh-CN" altLang="en-US" sz="1800"/>
              <a:t>，</a:t>
            </a:r>
            <a:r>
              <a:rPr lang="en-US" altLang="zh-CN" sz="1800"/>
              <a:t>RP </a:t>
            </a:r>
            <a:r>
              <a:rPr lang="zh-CN" altLang="en-US" sz="1800"/>
              <a:t>数据集</a:t>
            </a:r>
            <a:r>
              <a:rPr lang="en-US" altLang="zh-CN" sz="1800"/>
              <a:t> 0.86</a:t>
            </a:r>
            <a:r>
              <a:rPr lang="zh-CN" altLang="en-US" sz="1800"/>
              <a:t>，两项均为最高。</a:t>
            </a:r>
            <a:endParaRPr lang="zh-CN" altLang="en-US" sz="1800"/>
          </a:p>
          <a:p>
            <a:r>
              <a:rPr lang="zh-CN" altLang="en-US" sz="1800"/>
              <a:t>这说明</a:t>
            </a:r>
            <a:r>
              <a:rPr lang="en-US" altLang="zh-CN" sz="1800"/>
              <a:t> MPT </a:t>
            </a:r>
            <a:r>
              <a:rPr lang="zh-CN" altLang="en-US" sz="1800"/>
              <a:t>对</a:t>
            </a:r>
            <a:r>
              <a:rPr lang="en-US" altLang="zh-CN" sz="1800"/>
              <a:t> “</a:t>
            </a:r>
            <a:r>
              <a:rPr lang="zh-CN" altLang="en-US" sz="1800"/>
              <a:t>任务</a:t>
            </a:r>
            <a:r>
              <a:rPr lang="en-US" altLang="zh-CN" sz="1800"/>
              <a:t> - </a:t>
            </a:r>
            <a:r>
              <a:rPr lang="zh-CN" altLang="en-US" sz="1800"/>
              <a:t>代理是否匹配</a:t>
            </a:r>
            <a:r>
              <a:rPr lang="en-US" altLang="zh-CN" sz="1800"/>
              <a:t>” </a:t>
            </a:r>
            <a:r>
              <a:rPr lang="zh-CN" altLang="en-US" sz="1800"/>
              <a:t>的二分类推理能力最强，</a:t>
            </a:r>
            <a:endParaRPr lang="zh-CN" altLang="en-US" sz="1800"/>
          </a:p>
          <a:p>
            <a:r>
              <a:rPr lang="zh-CN" altLang="en-US" sz="1800"/>
              <a:t>能最大程度保留相关代理。</a:t>
            </a:r>
            <a:endParaRPr lang="zh-CN" altLang="en-US" sz="1800"/>
          </a:p>
          <a:p>
            <a:endParaRPr lang="zh-CN" altLang="en-US" sz="1800"/>
          </a:p>
          <a:p>
            <a:r>
              <a:rPr lang="en-US" altLang="zh-CN" sz="1800"/>
              <a:t>Flan-T5-XXL</a:t>
            </a:r>
            <a:r>
              <a:rPr lang="zh-CN" altLang="en-US" sz="1800"/>
              <a:t>：</a:t>
            </a:r>
            <a:r>
              <a:rPr lang="en-US" altLang="zh-CN" sz="1800"/>
              <a:t>ABCD </a:t>
            </a:r>
            <a:r>
              <a:rPr lang="zh-CN" altLang="en-US" sz="1800"/>
              <a:t>召回率</a:t>
            </a:r>
            <a:r>
              <a:rPr lang="en-US" altLang="zh-CN" sz="1800"/>
              <a:t> 0.739</a:t>
            </a:r>
            <a:r>
              <a:rPr lang="zh-CN" altLang="en-US" sz="1800"/>
              <a:t>，</a:t>
            </a:r>
            <a:r>
              <a:rPr lang="en-US" altLang="zh-CN" sz="1800"/>
              <a:t>RP 0.695</a:t>
            </a:r>
            <a:r>
              <a:rPr lang="zh-CN" altLang="en-US" sz="1800"/>
              <a:t>，表现最差。</a:t>
            </a:r>
            <a:endParaRPr lang="zh-CN" altLang="en-US" sz="1800"/>
          </a:p>
          <a:p>
            <a:endParaRPr lang="zh-CN" altLang="en-US" sz="1800"/>
          </a:p>
          <a:p>
            <a:r>
              <a:rPr lang="zh-CN" altLang="en-US" sz="1800"/>
              <a:t>人工评估（</a:t>
            </a:r>
            <a:r>
              <a:rPr lang="en-US" altLang="zh-CN" sz="1800"/>
              <a:t>HE</a:t>
            </a:r>
            <a:r>
              <a:rPr lang="zh-CN" altLang="en-US" sz="1800"/>
              <a:t>）：</a:t>
            </a:r>
            <a:r>
              <a:rPr lang="en-US" altLang="zh-CN" sz="1800"/>
              <a:t>ABCD </a:t>
            </a:r>
            <a:r>
              <a:rPr lang="zh-CN" altLang="en-US" sz="1800"/>
              <a:t>召回率</a:t>
            </a:r>
            <a:r>
              <a:rPr lang="en-US" altLang="zh-CN" sz="1800"/>
              <a:t> 0.26245</a:t>
            </a:r>
            <a:r>
              <a:rPr lang="zh-CN" altLang="en-US" sz="1800"/>
              <a:t>，</a:t>
            </a:r>
            <a:r>
              <a:rPr lang="en-US" altLang="zh-CN" sz="1800"/>
              <a:t>RP 0.316</a:t>
            </a:r>
            <a:r>
              <a:rPr lang="zh-CN" altLang="en-US" sz="1800"/>
              <a:t>，是所有组别中最低的。原因是</a:t>
            </a:r>
            <a:r>
              <a:rPr lang="en-US" altLang="zh-CN" sz="1800"/>
              <a:t> “</a:t>
            </a:r>
            <a:r>
              <a:rPr lang="zh-CN" altLang="en-US" sz="1800"/>
              <a:t>人工只标注完全确定的映射</a:t>
            </a:r>
            <a:r>
              <a:rPr lang="en-US" altLang="zh-CN" sz="1800"/>
              <a:t>”</a:t>
            </a:r>
            <a:r>
              <a:rPr lang="zh-CN" altLang="en-US" sz="1800"/>
              <a:t>，导致大量相关代理被遗漏</a:t>
            </a:r>
            <a:r>
              <a:rPr lang="en-US" altLang="zh-CN" sz="1800"/>
              <a:t> —— </a:t>
            </a:r>
            <a:r>
              <a:rPr lang="zh-CN" altLang="en-US" sz="1800"/>
              <a:t>这也反向证明了</a:t>
            </a:r>
            <a:r>
              <a:rPr lang="en-US" altLang="zh-CN" sz="1800"/>
              <a:t> “</a:t>
            </a:r>
            <a:r>
              <a:rPr lang="zh-CN" altLang="en-US" sz="1800"/>
              <a:t>依赖</a:t>
            </a:r>
            <a:r>
              <a:rPr lang="en-US" altLang="zh-CN" sz="1800"/>
              <a:t> LLM </a:t>
            </a:r>
            <a:r>
              <a:rPr lang="zh-CN" altLang="en-US" sz="1800"/>
              <a:t>推理而非人工经验</a:t>
            </a:r>
            <a:r>
              <a:rPr lang="en-US" altLang="zh-CN" sz="1800"/>
              <a:t>” </a:t>
            </a:r>
            <a:r>
              <a:rPr lang="zh-CN" altLang="en-US" sz="1800"/>
              <a:t>的必要性。</a:t>
            </a:r>
            <a:endParaRPr lang="zh-CN" altLang="en-US" sz="1800"/>
          </a:p>
          <a:p>
            <a:endParaRPr lang="zh-CN" altLang="en-US" sz="1800"/>
          </a:p>
          <a:p>
            <a:r>
              <a:rPr lang="zh-CN" altLang="en-US" sz="1800" b="1">
                <a:solidFill>
                  <a:srgbClr val="FF0000"/>
                </a:solidFill>
              </a:rPr>
              <a:t>精确率</a:t>
            </a:r>
            <a:r>
              <a:rPr lang="en-US" altLang="zh-CN" sz="1800" b="1">
                <a:solidFill>
                  <a:srgbClr val="FF0000"/>
                </a:solidFill>
              </a:rPr>
              <a:t> - </a:t>
            </a:r>
            <a:r>
              <a:rPr lang="zh-CN" altLang="en-US" sz="1800" b="1">
                <a:solidFill>
                  <a:srgbClr val="FF0000"/>
                </a:solidFill>
              </a:rPr>
              <a:t>召回率权衡：</a:t>
            </a:r>
            <a:r>
              <a:rPr lang="zh-CN" altLang="en-US" sz="1800"/>
              <a:t>人工评估（</a:t>
            </a:r>
            <a:r>
              <a:rPr lang="en-US" altLang="zh-CN" sz="1800"/>
              <a:t>HE</a:t>
            </a:r>
            <a:r>
              <a:rPr lang="zh-CN" altLang="en-US" sz="1800"/>
              <a:t>）的精确率最高（因为人工标注的是</a:t>
            </a:r>
            <a:r>
              <a:rPr lang="en-US" altLang="zh-CN" sz="1800"/>
              <a:t> “</a:t>
            </a:r>
            <a:r>
              <a:rPr lang="zh-CN" altLang="en-US" sz="1800"/>
              <a:t>绝对确定</a:t>
            </a:r>
            <a:r>
              <a:rPr lang="en-US" altLang="zh-CN" sz="1800"/>
              <a:t>” </a:t>
            </a:r>
            <a:r>
              <a:rPr lang="zh-CN" altLang="en-US" sz="1800"/>
              <a:t>的映射），但召回率最低；而</a:t>
            </a:r>
            <a:r>
              <a:rPr lang="en-US" altLang="zh-CN" sz="1800"/>
              <a:t> MPT </a:t>
            </a:r>
            <a:r>
              <a:rPr lang="zh-CN" altLang="en-US" sz="1800"/>
              <a:t>等</a:t>
            </a:r>
            <a:r>
              <a:rPr lang="en-US" altLang="zh-CN" sz="1800"/>
              <a:t> LLM </a:t>
            </a:r>
            <a:r>
              <a:rPr lang="zh-CN" altLang="en-US" sz="1800"/>
              <a:t>模型召回率高但精确率略低（</a:t>
            </a:r>
            <a:r>
              <a:rPr lang="en-US" altLang="zh-CN" sz="1800"/>
              <a:t>Table 1a </a:t>
            </a:r>
            <a:r>
              <a:rPr lang="zh-CN" altLang="en-US" sz="1800"/>
              <a:t>中</a:t>
            </a:r>
            <a:r>
              <a:rPr lang="en-US" altLang="zh-CN" sz="1800"/>
              <a:t> MPT </a:t>
            </a:r>
            <a:r>
              <a:rPr lang="zh-CN" altLang="en-US" sz="1800"/>
              <a:t>的平均精确率为</a:t>
            </a:r>
            <a:r>
              <a:rPr lang="en-US" altLang="zh-CN" sz="1800"/>
              <a:t> 0.3875</a:t>
            </a:r>
            <a:r>
              <a:rPr lang="zh-CN" altLang="en-US" sz="1800"/>
              <a:t>，低于</a:t>
            </a:r>
            <a:r>
              <a:rPr lang="en-US" altLang="zh-CN" sz="1800"/>
              <a:t> HE </a:t>
            </a:r>
            <a:r>
              <a:rPr lang="zh-CN" altLang="en-US" sz="1800"/>
              <a:t>的</a:t>
            </a:r>
            <a:r>
              <a:rPr lang="en-US" altLang="zh-CN" sz="1800"/>
              <a:t> 0.6245</a:t>
            </a:r>
            <a:r>
              <a:rPr lang="zh-CN" altLang="en-US" sz="1800"/>
              <a:t>）。这种权衡是合理的，因为</a:t>
            </a:r>
            <a:r>
              <a:rPr lang="zh-CN" altLang="en-US" sz="1800" b="1">
                <a:solidFill>
                  <a:srgbClr val="FF0000"/>
                </a:solidFill>
              </a:rPr>
              <a:t>阶段</a:t>
            </a:r>
            <a:r>
              <a:rPr lang="en-US" altLang="zh-CN" sz="1800" b="1">
                <a:solidFill>
                  <a:srgbClr val="FF0000"/>
                </a:solidFill>
              </a:rPr>
              <a:t> 1 </a:t>
            </a:r>
            <a:r>
              <a:rPr lang="zh-CN" altLang="en-US" sz="1800" b="1">
                <a:solidFill>
                  <a:srgbClr val="FF0000"/>
                </a:solidFill>
              </a:rPr>
              <a:t>的目标是</a:t>
            </a:r>
            <a:r>
              <a:rPr lang="en-US" altLang="zh-CN" sz="1800" b="1">
                <a:solidFill>
                  <a:srgbClr val="FF0000"/>
                </a:solidFill>
              </a:rPr>
              <a:t> “</a:t>
            </a:r>
            <a:r>
              <a:rPr lang="zh-CN" altLang="en-US" sz="1800" b="1">
                <a:solidFill>
                  <a:srgbClr val="FF0000"/>
                </a:solidFill>
              </a:rPr>
              <a:t>筛选候选池</a:t>
            </a:r>
            <a:r>
              <a:rPr lang="en-US" altLang="zh-CN" sz="1800" b="1">
                <a:solidFill>
                  <a:srgbClr val="FF0000"/>
                </a:solidFill>
              </a:rPr>
              <a:t>”</a:t>
            </a:r>
            <a:r>
              <a:rPr lang="zh-CN" altLang="en-US" sz="1800" b="1">
                <a:solidFill>
                  <a:srgbClr val="FF0000"/>
                </a:solidFill>
              </a:rPr>
              <a:t>，优先保证</a:t>
            </a:r>
            <a:r>
              <a:rPr lang="en-US" altLang="zh-CN" sz="1800" b="1">
                <a:solidFill>
                  <a:srgbClr val="FF0000"/>
                </a:solidFill>
              </a:rPr>
              <a:t> “</a:t>
            </a:r>
            <a:r>
              <a:rPr lang="zh-CN" altLang="en-US" sz="1800" b="1">
                <a:solidFill>
                  <a:srgbClr val="FF0000"/>
                </a:solidFill>
              </a:rPr>
              <a:t>不遗漏</a:t>
            </a:r>
            <a:r>
              <a:rPr lang="en-US" altLang="zh-CN" sz="1800" b="1">
                <a:solidFill>
                  <a:srgbClr val="FF0000"/>
                </a:solidFill>
              </a:rPr>
              <a:t>” </a:t>
            </a:r>
            <a:r>
              <a:rPr lang="zh-CN" altLang="en-US" sz="1800" b="1">
                <a:solidFill>
                  <a:srgbClr val="FF0000"/>
                </a:solidFill>
              </a:rPr>
              <a:t>比</a:t>
            </a:r>
            <a:r>
              <a:rPr lang="en-US" altLang="zh-CN" sz="1800" b="1">
                <a:solidFill>
                  <a:srgbClr val="FF0000"/>
                </a:solidFill>
              </a:rPr>
              <a:t> “</a:t>
            </a:r>
            <a:r>
              <a:rPr lang="zh-CN" altLang="en-US" sz="1800" b="1">
                <a:solidFill>
                  <a:srgbClr val="FF0000"/>
                </a:solidFill>
              </a:rPr>
              <a:t>完全精准</a:t>
            </a:r>
            <a:r>
              <a:rPr lang="en-US" altLang="zh-CN" sz="1800" b="1">
                <a:solidFill>
                  <a:srgbClr val="FF0000"/>
                </a:solidFill>
              </a:rPr>
              <a:t>” </a:t>
            </a:r>
            <a:r>
              <a:rPr lang="zh-CN" altLang="en-US" sz="1800" b="1">
                <a:solidFill>
                  <a:srgbClr val="FF0000"/>
                </a:solidFill>
              </a:rPr>
              <a:t>更重要</a:t>
            </a:r>
            <a:r>
              <a:rPr lang="zh-CN" altLang="en-US" sz="1800"/>
              <a:t>。</a:t>
            </a:r>
            <a:endParaRPr lang="zh-CN" altLang="en-US" sz="1800"/>
          </a:p>
        </p:txBody>
      </p:sp>
      <p:pic>
        <p:nvPicPr>
          <p:cNvPr id="5" name="图片 4"/>
          <p:cNvPicPr>
            <a:picLocks noChangeAspect="1"/>
          </p:cNvPicPr>
          <p:nvPr/>
        </p:nvPicPr>
        <p:blipFill>
          <a:blip r:embed="rId1"/>
          <a:stretch>
            <a:fillRect/>
          </a:stretch>
        </p:blipFill>
        <p:spPr>
          <a:xfrm>
            <a:off x="8141335" y="107315"/>
            <a:ext cx="3902075" cy="29851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845820"/>
            <a:ext cx="10515600" cy="5331460"/>
          </a:xfrm>
        </p:spPr>
        <p:txBody>
          <a:bodyPr>
            <a:normAutofit fontScale="90000"/>
          </a:bodyPr>
          <a:p>
            <a:r>
              <a:rPr lang="en-US" altLang="zh-CN"/>
              <a:t>Stage2: </a:t>
            </a:r>
            <a:r>
              <a:rPr lang="zh-CN" altLang="en-US"/>
              <a:t>任务专属</a:t>
            </a:r>
            <a:r>
              <a:rPr lang="en-US" altLang="zh-CN"/>
              <a:t> NBA </a:t>
            </a:r>
            <a:r>
              <a:rPr lang="zh-CN" altLang="en-US"/>
              <a:t>推荐（</a:t>
            </a:r>
            <a:r>
              <a:rPr lang="en-US" altLang="zh-CN"/>
              <a:t>Table1b</a:t>
            </a:r>
            <a:endParaRPr lang="en-US" altLang="zh-CN"/>
          </a:p>
          <a:p>
            <a:r>
              <a:rPr lang="zh-CN" altLang="en-US" sz="2000" b="1"/>
              <a:t>基于阶段</a:t>
            </a:r>
            <a:r>
              <a:rPr lang="en-US" altLang="zh-CN" sz="2000" b="1"/>
              <a:t> 1 </a:t>
            </a:r>
            <a:r>
              <a:rPr lang="zh-CN" altLang="en-US" sz="2000" b="1"/>
              <a:t>的候选代理，生成</a:t>
            </a:r>
            <a:r>
              <a:rPr lang="en-US" altLang="zh-CN" sz="2000" b="1"/>
              <a:t> “</a:t>
            </a:r>
            <a:r>
              <a:rPr lang="zh-CN" altLang="en-US" sz="2000" b="1"/>
              <a:t>针对目标任务的</a:t>
            </a:r>
            <a:endParaRPr lang="zh-CN" altLang="en-US" sz="2000" b="1"/>
          </a:p>
          <a:p>
            <a:r>
              <a:rPr lang="zh-CN" altLang="en-US" sz="2000" b="1"/>
              <a:t>下一个最佳代理（</a:t>
            </a:r>
            <a:r>
              <a:rPr lang="en-US" altLang="zh-CN" sz="2000" b="1"/>
              <a:t>NBA</a:t>
            </a:r>
            <a:r>
              <a:rPr lang="zh-CN" altLang="en-US" sz="2000" b="1"/>
              <a:t>）</a:t>
            </a:r>
            <a:r>
              <a:rPr lang="en-US" altLang="zh-CN" sz="2000" b="1"/>
              <a:t>”</a:t>
            </a:r>
            <a:r>
              <a:rPr lang="zh-CN" altLang="en-US" sz="2000" b="1"/>
              <a:t>，核心指标是</a:t>
            </a:r>
            <a:endParaRPr lang="zh-CN" altLang="en-US" sz="2000" b="1"/>
          </a:p>
          <a:p>
            <a:r>
              <a:rPr lang="zh-CN" altLang="en-US" sz="2000" b="1"/>
              <a:t>代理召回率（</a:t>
            </a:r>
            <a:r>
              <a:rPr lang="en-US" altLang="zh-CN" sz="2000" b="1"/>
              <a:t>Agent Recall</a:t>
            </a:r>
            <a:r>
              <a:rPr lang="zh-CN" altLang="en-US" sz="2000" b="1"/>
              <a:t>）</a:t>
            </a:r>
            <a:endParaRPr lang="zh-CN" altLang="en-US" sz="2000" b="1"/>
          </a:p>
          <a:p>
            <a:r>
              <a:rPr lang="zh-CN" altLang="en-US" sz="2000" b="1"/>
              <a:t>（即</a:t>
            </a:r>
            <a:r>
              <a:rPr lang="en-US" altLang="zh-CN" sz="2000" b="1"/>
              <a:t> “</a:t>
            </a:r>
            <a:r>
              <a:rPr lang="zh-CN" altLang="en-US" sz="2000" b="1"/>
              <a:t>至少有</a:t>
            </a:r>
            <a:r>
              <a:rPr lang="en-US" altLang="zh-CN" sz="2000" b="1"/>
              <a:t> 1 </a:t>
            </a:r>
            <a:r>
              <a:rPr lang="zh-CN" altLang="en-US" sz="2000" b="1"/>
              <a:t>个</a:t>
            </a:r>
            <a:r>
              <a:rPr lang="en-US" altLang="zh-CN" sz="2000" b="1"/>
              <a:t> NBA </a:t>
            </a:r>
            <a:r>
              <a:rPr lang="zh-CN" altLang="en-US" sz="2000" b="1"/>
              <a:t>被正确预测的代理比例</a:t>
            </a:r>
            <a:r>
              <a:rPr lang="en-US" altLang="zh-CN" sz="2000" b="1"/>
              <a:t>”</a:t>
            </a:r>
            <a:r>
              <a:rPr lang="zh-CN" altLang="en-US" sz="2000" b="1"/>
              <a:t>）</a:t>
            </a:r>
            <a:endParaRPr lang="zh-CN" altLang="en-US" sz="2000" b="1"/>
          </a:p>
          <a:p>
            <a:endParaRPr lang="zh-CN" altLang="en-US" sz="2000" b="1"/>
          </a:p>
          <a:p>
            <a:r>
              <a:rPr lang="en-US" altLang="zh-CN" sz="2000"/>
              <a:t>“</a:t>
            </a:r>
            <a:r>
              <a:rPr lang="zh-CN" altLang="en-US" sz="2000"/>
              <a:t>任务</a:t>
            </a:r>
            <a:r>
              <a:rPr lang="en-US" altLang="zh-CN" sz="2000"/>
              <a:t> - </a:t>
            </a:r>
            <a:r>
              <a:rPr lang="zh-CN" altLang="en-US" sz="2000"/>
              <a:t>代理映射来源</a:t>
            </a:r>
            <a:r>
              <a:rPr lang="en-US" altLang="zh-CN" sz="2000"/>
              <a:t>” </a:t>
            </a:r>
            <a:r>
              <a:rPr lang="zh-CN" altLang="en-US" sz="2000"/>
              <a:t>的影响：</a:t>
            </a:r>
            <a:endParaRPr lang="zh-CN" altLang="en-US" sz="2000"/>
          </a:p>
          <a:p>
            <a:r>
              <a:rPr lang="zh-CN" altLang="en-US" sz="2000"/>
              <a:t>论文对比了三种映射来源：</a:t>
            </a:r>
            <a:endParaRPr lang="zh-CN" altLang="en-US" sz="2000"/>
          </a:p>
          <a:p>
            <a:pPr lvl="1">
              <a:lnSpc>
                <a:spcPct val="150000"/>
              </a:lnSpc>
            </a:pPr>
            <a:r>
              <a:rPr lang="en-US" altLang="zh-CN" sz="1710"/>
              <a:t>Stage 1</a:t>
            </a:r>
            <a:r>
              <a:rPr lang="zh-CN" altLang="en-US" sz="1710"/>
              <a:t>：直接使用阶段</a:t>
            </a:r>
            <a:r>
              <a:rPr lang="en-US" altLang="zh-CN" sz="1710"/>
              <a:t> 1 </a:t>
            </a:r>
            <a:r>
              <a:rPr lang="zh-CN" altLang="en-US" sz="1710"/>
              <a:t>生成的映射。</a:t>
            </a:r>
            <a:endParaRPr lang="zh-CN" altLang="en-US" sz="1710"/>
          </a:p>
          <a:p>
            <a:pPr lvl="1">
              <a:lnSpc>
                <a:spcPct val="150000"/>
              </a:lnSpc>
            </a:pPr>
            <a:r>
              <a:rPr lang="en-US" altLang="zh-CN" sz="1710"/>
              <a:t>Ground Truth</a:t>
            </a:r>
            <a:r>
              <a:rPr lang="zh-CN" altLang="en-US" sz="1710"/>
              <a:t>：使用数据集提供的</a:t>
            </a:r>
            <a:r>
              <a:rPr lang="en-US" altLang="zh-CN" sz="1710"/>
              <a:t> “</a:t>
            </a:r>
            <a:r>
              <a:rPr lang="zh-CN" altLang="en-US" sz="1710"/>
              <a:t>真实映射</a:t>
            </a:r>
            <a:r>
              <a:rPr lang="en-US" altLang="zh-CN" sz="1710"/>
              <a:t>”</a:t>
            </a:r>
            <a:r>
              <a:rPr lang="zh-CN" altLang="en-US" sz="1710"/>
              <a:t>（理想情况）。</a:t>
            </a:r>
            <a:endParaRPr lang="zh-CN" altLang="en-US" sz="1710"/>
          </a:p>
          <a:p>
            <a:pPr lvl="1">
              <a:lnSpc>
                <a:spcPct val="150000"/>
              </a:lnSpc>
            </a:pPr>
            <a:r>
              <a:rPr lang="en-US" altLang="zh-CN" sz="1710"/>
              <a:t>HE</a:t>
            </a:r>
            <a:r>
              <a:rPr lang="zh-CN" altLang="en-US" sz="1710"/>
              <a:t>：使用人工标注的映射。</a:t>
            </a:r>
            <a:endParaRPr lang="zh-CN" altLang="en-US" sz="1710"/>
          </a:p>
          <a:p>
            <a:r>
              <a:rPr lang="zh-CN" altLang="en-US" sz="2000"/>
              <a:t>结果显示，</a:t>
            </a:r>
            <a:r>
              <a:rPr lang="en-US" altLang="zh-CN" sz="2000"/>
              <a:t>Stage 1 </a:t>
            </a:r>
            <a:r>
              <a:rPr lang="zh-CN" altLang="en-US" sz="2000"/>
              <a:t>的映射与</a:t>
            </a:r>
            <a:r>
              <a:rPr lang="en-US" altLang="zh-CN" sz="2000"/>
              <a:t> Ground Truth </a:t>
            </a:r>
            <a:r>
              <a:rPr lang="zh-CN" altLang="en-US" sz="2000"/>
              <a:t>的性能差距很小（例如</a:t>
            </a:r>
            <a:r>
              <a:rPr lang="en-US" altLang="zh-CN" sz="2000"/>
              <a:t> ABCD </a:t>
            </a:r>
            <a:r>
              <a:rPr lang="zh-CN" altLang="en-US" sz="2000"/>
              <a:t>数据集上，</a:t>
            </a:r>
            <a:r>
              <a:rPr lang="en-US" altLang="zh-CN" sz="2000"/>
              <a:t>MPT </a:t>
            </a:r>
            <a:r>
              <a:rPr lang="zh-CN" altLang="en-US" sz="2000"/>
              <a:t>的</a:t>
            </a:r>
            <a:r>
              <a:rPr lang="en-US" altLang="zh-CN" sz="2000"/>
              <a:t> NBA </a:t>
            </a:r>
            <a:r>
              <a:rPr lang="zh-CN" altLang="en-US" sz="2000"/>
              <a:t>准确率在</a:t>
            </a:r>
            <a:r>
              <a:rPr lang="en-US" altLang="zh-CN" sz="2000"/>
              <a:t> Stage 1 </a:t>
            </a:r>
            <a:r>
              <a:rPr lang="zh-CN" altLang="en-US" sz="2000"/>
              <a:t>是</a:t>
            </a:r>
            <a:r>
              <a:rPr lang="en-US" altLang="zh-CN" sz="2000"/>
              <a:t> 0.5125</a:t>
            </a:r>
            <a:r>
              <a:rPr lang="zh-CN" altLang="en-US" sz="2000"/>
              <a:t>，</a:t>
            </a:r>
            <a:r>
              <a:rPr lang="en-US" altLang="zh-CN" sz="2000"/>
              <a:t>Ground Truth </a:t>
            </a:r>
            <a:r>
              <a:rPr lang="zh-CN" altLang="en-US" sz="2000"/>
              <a:t>是</a:t>
            </a:r>
            <a:r>
              <a:rPr lang="en-US" altLang="zh-CN" sz="2000"/>
              <a:t> 0.6875</a:t>
            </a:r>
            <a:r>
              <a:rPr lang="zh-CN" altLang="en-US" sz="2000"/>
              <a:t>），说明阶段</a:t>
            </a:r>
            <a:r>
              <a:rPr lang="en-US" altLang="zh-CN" sz="2000"/>
              <a:t> 1 </a:t>
            </a:r>
            <a:r>
              <a:rPr lang="zh-CN" altLang="en-US" sz="2000"/>
              <a:t>的映射已经足够</a:t>
            </a:r>
            <a:r>
              <a:rPr lang="en-US" altLang="zh-CN" sz="2000"/>
              <a:t> “</a:t>
            </a:r>
            <a:r>
              <a:rPr lang="zh-CN" altLang="en-US" sz="2000"/>
              <a:t>接近真实</a:t>
            </a:r>
            <a:r>
              <a:rPr lang="en-US" altLang="zh-CN" sz="2000"/>
              <a:t>”</a:t>
            </a:r>
            <a:r>
              <a:rPr lang="zh-CN" altLang="en-US" sz="2000"/>
              <a:t>，无需依赖外部真实标签。而</a:t>
            </a:r>
            <a:r>
              <a:rPr lang="en-US" altLang="zh-CN" sz="2000"/>
              <a:t> HE </a:t>
            </a:r>
            <a:r>
              <a:rPr lang="zh-CN" altLang="en-US" sz="2000"/>
              <a:t>的映射因召回率太低，导致</a:t>
            </a:r>
            <a:r>
              <a:rPr lang="en-US" altLang="zh-CN" sz="2000"/>
              <a:t> NBA </a:t>
            </a:r>
            <a:r>
              <a:rPr lang="zh-CN" altLang="en-US" sz="2000"/>
              <a:t>推荐性能远差于前两者。</a:t>
            </a:r>
            <a:endParaRPr lang="zh-CN" altLang="en-US" sz="2000"/>
          </a:p>
        </p:txBody>
      </p:sp>
      <p:pic>
        <p:nvPicPr>
          <p:cNvPr id="2" name="图片 1"/>
          <p:cNvPicPr>
            <a:picLocks noChangeAspect="1"/>
          </p:cNvPicPr>
          <p:nvPr/>
        </p:nvPicPr>
        <p:blipFill>
          <a:blip r:embed="rId1"/>
          <a:stretch>
            <a:fillRect/>
          </a:stretch>
        </p:blipFill>
        <p:spPr>
          <a:xfrm>
            <a:off x="7257415" y="58420"/>
            <a:ext cx="4770755" cy="41694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845820"/>
            <a:ext cx="10515600" cy="5331460"/>
          </a:xfrm>
        </p:spPr>
        <p:txBody>
          <a:bodyPr>
            <a:normAutofit lnSpcReduction="20000"/>
          </a:bodyPr>
          <a:p>
            <a:r>
              <a:rPr lang="en-US" altLang="zh-CN"/>
              <a:t>Stage3: </a:t>
            </a:r>
            <a:r>
              <a:rPr lang="zh-CN" altLang="en-US"/>
              <a:t>代理专属</a:t>
            </a:r>
            <a:r>
              <a:rPr lang="en-US" altLang="zh-CN"/>
              <a:t> NBA </a:t>
            </a:r>
            <a:r>
              <a:rPr lang="zh-CN" altLang="en-US"/>
              <a:t>推荐（</a:t>
            </a:r>
            <a:r>
              <a:rPr lang="en-US" altLang="zh-CN"/>
              <a:t>Table 1c</a:t>
            </a:r>
            <a:endParaRPr lang="en-US" altLang="zh-CN"/>
          </a:p>
          <a:p>
            <a:r>
              <a:rPr lang="en-US" altLang="zh-CN" sz="1800" b="1"/>
              <a:t> “</a:t>
            </a:r>
            <a:r>
              <a:rPr lang="zh-CN" altLang="en-US" sz="1800" b="1"/>
              <a:t>可选步骤</a:t>
            </a:r>
            <a:r>
              <a:rPr lang="en-US" altLang="zh-CN" sz="1800" b="1"/>
              <a:t>”</a:t>
            </a:r>
            <a:r>
              <a:rPr lang="zh-CN" altLang="en-US" sz="1800" b="1"/>
              <a:t>，仅在</a:t>
            </a:r>
            <a:r>
              <a:rPr lang="en-US" altLang="zh-CN" sz="1800" b="1"/>
              <a:t> “</a:t>
            </a:r>
            <a:r>
              <a:rPr lang="zh-CN" altLang="en-US" sz="1800" b="1"/>
              <a:t>用户未明确目标任务</a:t>
            </a:r>
            <a:r>
              <a:rPr lang="en-US" altLang="zh-CN" sz="1800" b="1"/>
              <a:t>” </a:t>
            </a:r>
            <a:r>
              <a:rPr lang="zh-CN" altLang="en-US" sz="1800" b="1"/>
              <a:t>时执行，</a:t>
            </a:r>
            <a:endParaRPr lang="zh-CN" altLang="en-US" sz="1800" b="1"/>
          </a:p>
          <a:p>
            <a:r>
              <a:rPr lang="zh-CN" altLang="en-US" sz="1800" b="1"/>
              <a:t>核心是从</a:t>
            </a:r>
            <a:r>
              <a:rPr lang="en-US" altLang="zh-CN" sz="1800" b="1"/>
              <a:t> “</a:t>
            </a:r>
            <a:r>
              <a:rPr lang="zh-CN" altLang="en-US" sz="1800" b="1"/>
              <a:t>多任务</a:t>
            </a:r>
            <a:r>
              <a:rPr lang="en-US" altLang="zh-CN" sz="1800" b="1"/>
              <a:t> NBA </a:t>
            </a:r>
            <a:r>
              <a:rPr lang="zh-CN" altLang="en-US" sz="1800" b="1"/>
              <a:t>集合</a:t>
            </a:r>
            <a:r>
              <a:rPr lang="en-US" altLang="zh-CN" sz="1800" b="1"/>
              <a:t>” </a:t>
            </a:r>
            <a:r>
              <a:rPr lang="zh-CN" altLang="en-US" sz="1800" b="1"/>
              <a:t>中筛选出</a:t>
            </a:r>
            <a:r>
              <a:rPr lang="en-US" altLang="zh-CN" sz="1800" b="1"/>
              <a:t> “</a:t>
            </a:r>
            <a:r>
              <a:rPr lang="zh-CN" altLang="en-US" sz="1800" b="1"/>
              <a:t>与</a:t>
            </a:r>
            <a:endParaRPr lang="zh-CN" altLang="en-US" sz="1800" b="1"/>
          </a:p>
          <a:p>
            <a:r>
              <a:rPr lang="zh-CN" altLang="en-US" sz="1800" b="1"/>
              <a:t>目标代理数据流转兼容的</a:t>
            </a:r>
            <a:r>
              <a:rPr lang="en-US" altLang="zh-CN" sz="1800" b="1"/>
              <a:t> NBA”</a:t>
            </a:r>
            <a:r>
              <a:rPr lang="zh-CN" altLang="en-US" sz="1800" b="1"/>
              <a:t>，指标仍为代理召回率。</a:t>
            </a:r>
            <a:endParaRPr lang="zh-CN" altLang="en-US" sz="1800" b="1"/>
          </a:p>
          <a:p>
            <a:endParaRPr lang="zh-CN" altLang="en-US" sz="1800" b="1"/>
          </a:p>
          <a:p>
            <a:endParaRPr lang="zh-CN" altLang="en-US" sz="1800" b="1"/>
          </a:p>
          <a:p>
            <a:endParaRPr lang="zh-CN" altLang="en-US" sz="1800" b="1"/>
          </a:p>
          <a:p>
            <a:pPr>
              <a:lnSpc>
                <a:spcPct val="150000"/>
              </a:lnSpc>
            </a:pPr>
            <a:r>
              <a:rPr lang="en-US" altLang="zh-CN" sz="2000"/>
              <a:t>Stage 3 </a:t>
            </a:r>
            <a:r>
              <a:rPr lang="zh-CN" altLang="en-US" sz="2000"/>
              <a:t>的筛选条件更严格</a:t>
            </a:r>
            <a:r>
              <a:rPr lang="en-US" altLang="zh-CN" sz="2000"/>
              <a:t> —— </a:t>
            </a:r>
            <a:r>
              <a:rPr lang="zh-CN" altLang="en-US" sz="2000"/>
              <a:t>不仅要求</a:t>
            </a:r>
            <a:r>
              <a:rPr lang="en-US" altLang="zh-CN" sz="2000"/>
              <a:t> “</a:t>
            </a:r>
            <a:r>
              <a:rPr lang="zh-CN" altLang="en-US" sz="2000"/>
              <a:t>任务相关</a:t>
            </a:r>
            <a:r>
              <a:rPr lang="en-US" altLang="zh-CN" sz="2000"/>
              <a:t>”</a:t>
            </a:r>
            <a:r>
              <a:rPr lang="zh-CN" altLang="en-US" sz="2000"/>
              <a:t>，还要求</a:t>
            </a:r>
            <a:r>
              <a:rPr lang="en-US" altLang="zh-CN" sz="2000"/>
              <a:t> “</a:t>
            </a:r>
            <a:r>
              <a:rPr lang="zh-CN" altLang="en-US" sz="2000"/>
              <a:t>输入输出语义匹配</a:t>
            </a:r>
            <a:r>
              <a:rPr lang="en-US" altLang="zh-CN" sz="2000"/>
              <a:t>”</a:t>
            </a:r>
            <a:r>
              <a:rPr lang="zh-CN" altLang="en-US" sz="2000"/>
              <a:t>，相当于在</a:t>
            </a:r>
            <a:r>
              <a:rPr lang="en-US" altLang="zh-CN" sz="2000"/>
              <a:t> “</a:t>
            </a:r>
            <a:r>
              <a:rPr lang="zh-CN" altLang="en-US" sz="2000"/>
              <a:t>任务专属</a:t>
            </a:r>
            <a:r>
              <a:rPr lang="en-US" altLang="zh-CN" sz="2000"/>
              <a:t> NBA” </a:t>
            </a:r>
            <a:r>
              <a:rPr lang="zh-CN" altLang="en-US" sz="2000"/>
              <a:t>的基础上进一步缩小范围，因此准确率自然降低，但推荐的</a:t>
            </a:r>
            <a:r>
              <a:rPr lang="en-US" altLang="zh-CN" sz="2000"/>
              <a:t> NBA </a:t>
            </a:r>
            <a:r>
              <a:rPr lang="zh-CN" altLang="en-US" sz="2000"/>
              <a:t>更具</a:t>
            </a:r>
            <a:r>
              <a:rPr lang="en-US" altLang="zh-CN" sz="2000"/>
              <a:t> “</a:t>
            </a:r>
            <a:r>
              <a:rPr lang="zh-CN" altLang="en-US" sz="2000"/>
              <a:t>执行可行性</a:t>
            </a:r>
            <a:r>
              <a:rPr lang="en-US" altLang="zh-CN" sz="2000"/>
              <a:t>”</a:t>
            </a:r>
            <a:r>
              <a:rPr lang="zh-CN" altLang="en-US" sz="2000"/>
              <a:t>。</a:t>
            </a:r>
            <a:endParaRPr lang="zh-CN" altLang="en-US" sz="2000"/>
          </a:p>
          <a:p>
            <a:pPr>
              <a:lnSpc>
                <a:spcPct val="150000"/>
              </a:lnSpc>
            </a:pPr>
            <a:endParaRPr lang="zh-CN" altLang="en-US" sz="2000"/>
          </a:p>
          <a:p>
            <a:pPr>
              <a:lnSpc>
                <a:spcPct val="150000"/>
              </a:lnSpc>
            </a:pPr>
            <a:r>
              <a:rPr lang="en-US" altLang="zh-CN" sz="2000" b="1">
                <a:solidFill>
                  <a:srgbClr val="FF0000"/>
                </a:solidFill>
              </a:rPr>
              <a:t>MPT </a:t>
            </a:r>
            <a:r>
              <a:rPr lang="zh-CN" altLang="en-US" sz="2000"/>
              <a:t>依然表现最佳（</a:t>
            </a:r>
            <a:r>
              <a:rPr lang="en-US" altLang="zh-CN" sz="2000"/>
              <a:t>ABCD </a:t>
            </a:r>
            <a:r>
              <a:rPr lang="zh-CN" altLang="en-US" sz="2000"/>
              <a:t>数据集</a:t>
            </a:r>
            <a:r>
              <a:rPr lang="en-US" altLang="zh-CN" sz="2000"/>
              <a:t> NBA </a:t>
            </a:r>
            <a:r>
              <a:rPr lang="zh-CN" altLang="en-US" sz="2000"/>
              <a:t>准确率</a:t>
            </a:r>
            <a:r>
              <a:rPr lang="en-US" altLang="zh-CN" sz="2000"/>
              <a:t> 0.288</a:t>
            </a:r>
            <a:r>
              <a:rPr lang="zh-CN" altLang="en-US" sz="2000"/>
              <a:t>，代理召回率</a:t>
            </a:r>
            <a:r>
              <a:rPr lang="en-US" altLang="zh-CN" sz="2000"/>
              <a:t> 0.705</a:t>
            </a:r>
            <a:r>
              <a:rPr lang="zh-CN" altLang="en-US" sz="2000"/>
              <a:t>），</a:t>
            </a:r>
            <a:r>
              <a:rPr lang="en-US" altLang="zh-CN" sz="2000"/>
              <a:t>OpenLlaMA </a:t>
            </a:r>
            <a:r>
              <a:rPr lang="zh-CN" altLang="en-US" sz="2000"/>
              <a:t>次之，</a:t>
            </a:r>
            <a:r>
              <a:rPr lang="en-US" altLang="zh-CN" sz="2000"/>
              <a:t>Flan-T5 </a:t>
            </a:r>
            <a:r>
              <a:rPr lang="zh-CN" altLang="en-US" sz="2000"/>
              <a:t>最差。这进一步验证了</a:t>
            </a:r>
            <a:r>
              <a:rPr lang="en-US" altLang="zh-CN" sz="2000"/>
              <a:t> MPT </a:t>
            </a:r>
            <a:r>
              <a:rPr lang="zh-CN" altLang="en-US" sz="2000"/>
              <a:t>在</a:t>
            </a:r>
            <a:r>
              <a:rPr lang="en-US" altLang="zh-CN" sz="2000"/>
              <a:t> “</a:t>
            </a:r>
            <a:r>
              <a:rPr lang="zh-CN" altLang="en-US" sz="2000"/>
              <a:t>语义匹配类任务</a:t>
            </a:r>
            <a:r>
              <a:rPr lang="en-US" altLang="zh-CN" sz="2000"/>
              <a:t>” </a:t>
            </a:r>
            <a:r>
              <a:rPr lang="zh-CN" altLang="en-US" sz="2000"/>
              <a:t>中的推理优势。</a:t>
            </a:r>
            <a:endParaRPr lang="zh-CN" altLang="en-US" sz="2000"/>
          </a:p>
          <a:p>
            <a:endParaRPr lang="zh-CN" altLang="en-US" sz="2000"/>
          </a:p>
        </p:txBody>
      </p:sp>
      <p:pic>
        <p:nvPicPr>
          <p:cNvPr id="4" name="图片 3"/>
          <p:cNvPicPr>
            <a:picLocks noChangeAspect="1"/>
          </p:cNvPicPr>
          <p:nvPr/>
        </p:nvPicPr>
        <p:blipFill>
          <a:blip r:embed="rId1"/>
          <a:stretch>
            <a:fillRect/>
          </a:stretch>
        </p:blipFill>
        <p:spPr>
          <a:xfrm>
            <a:off x="7723505" y="128905"/>
            <a:ext cx="4135755" cy="2992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845820"/>
            <a:ext cx="10515600" cy="5331460"/>
          </a:xfrm>
        </p:spPr>
        <p:txBody>
          <a:bodyPr>
            <a:normAutofit/>
          </a:bodyPr>
          <a:p>
            <a:r>
              <a:rPr lang="en-US" altLang="zh-CN" b="1"/>
              <a:t>vs Baseline</a:t>
            </a:r>
            <a:endParaRPr lang="zh-CN" altLang="en-US" b="1"/>
          </a:p>
          <a:p>
            <a:endParaRPr lang="zh-CN" altLang="en-US" sz="1800" b="1"/>
          </a:p>
          <a:p>
            <a:r>
              <a:rPr lang="zh-CN" altLang="en-US" sz="2000"/>
              <a:t>论文提出的框架在两个数据集上全面超越所有基准方法，证明其创新性和有效性：</a:t>
            </a:r>
            <a:endParaRPr lang="zh-CN" altLang="en-US" sz="2000"/>
          </a:p>
          <a:p>
            <a:r>
              <a:rPr lang="zh-CN" altLang="en-US" sz="2000"/>
              <a:t>基准方法说明：</a:t>
            </a:r>
            <a:endParaRPr lang="zh-CN" altLang="en-US" sz="2000"/>
          </a:p>
          <a:p>
            <a:pPr lvl="1"/>
            <a:r>
              <a:rPr lang="en-US" altLang="zh-CN" sz="1710"/>
              <a:t>NBA using BERT</a:t>
            </a:r>
            <a:r>
              <a:rPr lang="zh-CN" altLang="en-US" sz="1710"/>
              <a:t>：基于</a:t>
            </a:r>
            <a:r>
              <a:rPr lang="en-US" altLang="zh-CN" sz="1710"/>
              <a:t> BERT </a:t>
            </a:r>
            <a:r>
              <a:rPr lang="zh-CN" altLang="en-US" sz="1710"/>
              <a:t>句嵌入的余弦相似度匹配，属于传统</a:t>
            </a:r>
            <a:r>
              <a:rPr lang="en-US" altLang="zh-CN" sz="1710"/>
              <a:t> “</a:t>
            </a:r>
            <a:r>
              <a:rPr lang="zh-CN" altLang="en-US" sz="1710"/>
              <a:t>语义匹配</a:t>
            </a:r>
            <a:r>
              <a:rPr lang="en-US" altLang="zh-CN" sz="1710"/>
              <a:t>” </a:t>
            </a:r>
            <a:r>
              <a:rPr lang="zh-CN" altLang="en-US" sz="1710"/>
              <a:t>思路。</a:t>
            </a:r>
            <a:endParaRPr lang="zh-CN" altLang="en-US" sz="1710"/>
          </a:p>
          <a:p>
            <a:pPr lvl="1"/>
            <a:r>
              <a:rPr lang="en-US" altLang="zh-CN" sz="1710"/>
              <a:t>ChromaDB</a:t>
            </a:r>
            <a:r>
              <a:rPr lang="zh-CN" altLang="en-US" sz="1710"/>
              <a:t>：基于语义向量数据库的检索，是当前主流的</a:t>
            </a:r>
            <a:r>
              <a:rPr lang="en-US" altLang="zh-CN" sz="1710"/>
              <a:t> “</a:t>
            </a:r>
            <a:r>
              <a:rPr lang="zh-CN" altLang="en-US" sz="1710"/>
              <a:t>冷启动推荐</a:t>
            </a:r>
            <a:r>
              <a:rPr lang="en-US" altLang="zh-CN" sz="1710"/>
              <a:t>” </a:t>
            </a:r>
            <a:r>
              <a:rPr lang="zh-CN" altLang="en-US" sz="1710"/>
              <a:t>方法。</a:t>
            </a:r>
            <a:endParaRPr lang="zh-CN" altLang="en-US" sz="1710"/>
          </a:p>
          <a:p>
            <a:pPr lvl="1"/>
            <a:r>
              <a:rPr lang="en-US" altLang="zh-CN" sz="1710"/>
              <a:t>Elastic Search</a:t>
            </a:r>
            <a:r>
              <a:rPr lang="zh-CN" altLang="en-US" sz="1710"/>
              <a:t>：基于关键词匹配的检索，代表传统信息检索思路。</a:t>
            </a:r>
            <a:endParaRPr lang="zh-CN" altLang="en-US" sz="1710"/>
          </a:p>
          <a:p>
            <a:pPr lvl="1"/>
            <a:endParaRPr lang="zh-CN" altLang="en-US" sz="1710"/>
          </a:p>
          <a:p>
            <a:pPr marL="228600" lvl="0" indent="-228600">
              <a:buFont typeface="Arial" panose="020B0604020202020204" pitchFamily="34" charset="0"/>
              <a:buChar char="•"/>
            </a:pPr>
            <a:endParaRPr lang="zh-CN" altLang="en-US">
              <a:solidFill>
                <a:schemeClr val="tx1"/>
              </a:solidFill>
            </a:endParaRPr>
          </a:p>
        </p:txBody>
      </p:sp>
      <p:pic>
        <p:nvPicPr>
          <p:cNvPr id="2" name="图片 1"/>
          <p:cNvPicPr>
            <a:picLocks noChangeAspect="1"/>
          </p:cNvPicPr>
          <p:nvPr/>
        </p:nvPicPr>
        <p:blipFill>
          <a:blip r:embed="rId1"/>
          <a:stretch>
            <a:fillRect/>
          </a:stretch>
        </p:blipFill>
        <p:spPr>
          <a:xfrm>
            <a:off x="2531745" y="3533775"/>
            <a:ext cx="6622415" cy="30753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18795"/>
            <a:ext cx="10515600" cy="5658485"/>
          </a:xfrm>
        </p:spPr>
        <p:txBody>
          <a:bodyPr>
            <a:normAutofit/>
          </a:bodyPr>
          <a:p>
            <a:r>
              <a:rPr lang="zh-CN" altLang="en-US" b="1"/>
              <a:t>定性分析</a:t>
            </a:r>
            <a:endParaRPr lang="zh-CN" altLang="en-US" sz="1800" b="1"/>
          </a:p>
          <a:p>
            <a:pPr lvl="1"/>
            <a:endParaRPr lang="zh-CN" altLang="en-US" sz="1710"/>
          </a:p>
          <a:p>
            <a:pPr marL="228600" lvl="0" indent="-228600">
              <a:buFont typeface="Arial" panose="020B0604020202020204" pitchFamily="34" charset="0"/>
              <a:buChar char="•"/>
            </a:pPr>
            <a:endParaRPr lang="zh-CN" altLang="en-US">
              <a:solidFill>
                <a:schemeClr val="tx1"/>
              </a:solidFill>
            </a:endParaRPr>
          </a:p>
        </p:txBody>
      </p:sp>
      <p:pic>
        <p:nvPicPr>
          <p:cNvPr id="4" name="图片 3"/>
          <p:cNvPicPr>
            <a:picLocks noChangeAspect="1"/>
          </p:cNvPicPr>
          <p:nvPr/>
        </p:nvPicPr>
        <p:blipFill>
          <a:blip r:embed="rId1"/>
          <a:stretch>
            <a:fillRect/>
          </a:stretch>
        </p:blipFill>
        <p:spPr>
          <a:xfrm>
            <a:off x="259715" y="1279525"/>
            <a:ext cx="7252335" cy="5353050"/>
          </a:xfrm>
          <a:prstGeom prst="rect">
            <a:avLst/>
          </a:prstGeom>
        </p:spPr>
      </p:pic>
      <p:pic>
        <p:nvPicPr>
          <p:cNvPr id="5" name="图片 4"/>
          <p:cNvPicPr>
            <a:picLocks noChangeAspect="1"/>
          </p:cNvPicPr>
          <p:nvPr/>
        </p:nvPicPr>
        <p:blipFill>
          <a:blip r:embed="rId2"/>
          <a:stretch>
            <a:fillRect/>
          </a:stretch>
        </p:blipFill>
        <p:spPr>
          <a:xfrm>
            <a:off x="7664450" y="165735"/>
            <a:ext cx="4327525" cy="65265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31165"/>
            <a:ext cx="10515600" cy="5746115"/>
          </a:xfrm>
        </p:spPr>
        <p:txBody>
          <a:bodyPr/>
          <a:p>
            <a:r>
              <a:rPr lang="zh-CN" altLang="en-US" sz="1600"/>
              <a:t>这个系统系统采用</a:t>
            </a:r>
            <a:r>
              <a:rPr lang="en-US" altLang="zh-CN" sz="1600"/>
              <a:t>Python+Langchain </a:t>
            </a:r>
            <a:r>
              <a:rPr lang="zh-CN" altLang="en-US" sz="1600"/>
              <a:t>框架开发，所有代理遵循</a:t>
            </a:r>
            <a:r>
              <a:rPr lang="en-US" altLang="zh-CN" sz="1600"/>
              <a:t>OpenAPI 3.0 </a:t>
            </a:r>
            <a:r>
              <a:rPr lang="zh-CN" altLang="en-US" sz="1600"/>
              <a:t>标准规范，确保</a:t>
            </a:r>
            <a:r>
              <a:rPr lang="en-US" altLang="zh-CN" sz="1600"/>
              <a:t> “</a:t>
            </a:r>
            <a:r>
              <a:rPr lang="zh-CN" altLang="en-US" sz="1600"/>
              <a:t>代理元数据（功能、输入输出、任务关联等）</a:t>
            </a:r>
            <a:r>
              <a:rPr lang="en-US" altLang="zh-CN" sz="1600"/>
              <a:t>” </a:t>
            </a:r>
            <a:r>
              <a:rPr lang="zh-CN" altLang="en-US" sz="1600"/>
              <a:t>的格式统一；</a:t>
            </a:r>
            <a:endParaRPr lang="zh-CN" altLang="en-US" sz="1600"/>
          </a:p>
          <a:p>
            <a:r>
              <a:rPr lang="zh-CN" altLang="en-US" sz="1600"/>
              <a:t>系统正处于与</a:t>
            </a:r>
            <a:r>
              <a:rPr lang="en-US" altLang="zh-CN" sz="1600"/>
              <a:t> IBM Watson Orchestrate </a:t>
            </a:r>
            <a:r>
              <a:rPr lang="zh-CN" altLang="en-US" sz="1600"/>
              <a:t>的集成阶段，后者是企业级的</a:t>
            </a:r>
            <a:r>
              <a:rPr lang="en-US" altLang="zh-CN" sz="1600"/>
              <a:t> “</a:t>
            </a:r>
            <a:r>
              <a:rPr lang="zh-CN" altLang="en-US" sz="1600"/>
              <a:t>智能工作流编排平台</a:t>
            </a:r>
            <a:r>
              <a:rPr lang="en-US" altLang="zh-CN" sz="1600"/>
              <a:t>”</a:t>
            </a:r>
            <a:r>
              <a:rPr lang="zh-CN" altLang="en-US" sz="1600"/>
              <a:t>，集成后可将</a:t>
            </a:r>
            <a:r>
              <a:rPr lang="en-US" altLang="zh-CN" sz="1600"/>
              <a:t> NBA </a:t>
            </a:r>
            <a:r>
              <a:rPr lang="zh-CN" altLang="en-US" sz="1600"/>
              <a:t>推荐能力嵌入到企业现有流程自动化体系中。</a:t>
            </a:r>
            <a:endParaRPr lang="zh-CN" altLang="en-US" sz="1600"/>
          </a:p>
          <a:p>
            <a:r>
              <a:rPr lang="zh-CN" altLang="en-US" sz="1600">
                <a:solidFill>
                  <a:srgbClr val="FF0000"/>
                </a:solidFill>
              </a:rPr>
              <a:t>产品已封装</a:t>
            </a:r>
            <a:r>
              <a:rPr lang="en-US" altLang="zh-CN" sz="1600">
                <a:solidFill>
                  <a:srgbClr val="FF0000"/>
                </a:solidFill>
              </a:rPr>
              <a:t>600+ API </a:t>
            </a:r>
            <a:r>
              <a:rPr lang="zh-CN" altLang="en-US" sz="1600">
                <a:solidFill>
                  <a:srgbClr val="FF0000"/>
                </a:solidFill>
              </a:rPr>
              <a:t>为代理</a:t>
            </a:r>
            <a:r>
              <a:rPr lang="zh-CN" altLang="en-US" sz="1600"/>
              <a:t>，覆盖多领域业务工具（</a:t>
            </a:r>
            <a:r>
              <a:rPr lang="en-US" altLang="zh-CN" sz="1600"/>
              <a:t>Asana</a:t>
            </a:r>
            <a:r>
              <a:rPr lang="zh-CN" altLang="en-US" sz="1600"/>
              <a:t>、</a:t>
            </a:r>
            <a:r>
              <a:rPr lang="en-US" altLang="zh-CN" sz="1600"/>
              <a:t>Box</a:t>
            </a:r>
            <a:r>
              <a:rPr lang="zh-CN" altLang="en-US" sz="1600"/>
              <a:t>、</a:t>
            </a:r>
            <a:r>
              <a:rPr lang="en-US" altLang="zh-CN" sz="1600"/>
              <a:t>Oracle HC</a:t>
            </a:r>
            <a:r>
              <a:rPr lang="zh-CN" altLang="en-US" sz="1600"/>
              <a:t>、</a:t>
            </a:r>
            <a:r>
              <a:rPr lang="en-US" altLang="zh-CN" sz="1600"/>
              <a:t>Salesforce</a:t>
            </a:r>
            <a:r>
              <a:rPr lang="zh-CN" altLang="en-US" sz="1600"/>
              <a:t>、</a:t>
            </a:r>
            <a:r>
              <a:rPr lang="en-US" altLang="zh-CN" sz="1600"/>
              <a:t>Slack</a:t>
            </a:r>
            <a:r>
              <a:rPr lang="zh-CN" altLang="en-US" sz="1600"/>
              <a:t>、</a:t>
            </a:r>
            <a:r>
              <a:rPr lang="en-US" altLang="zh-CN" sz="1600"/>
              <a:t>Gmail </a:t>
            </a:r>
            <a:r>
              <a:rPr lang="zh-CN" altLang="en-US" sz="1600"/>
              <a:t>等），支持</a:t>
            </a:r>
            <a:r>
              <a:rPr lang="en-US" altLang="zh-CN" sz="1600"/>
              <a:t> “</a:t>
            </a:r>
            <a:r>
              <a:rPr lang="zh-CN" altLang="en-US" sz="1600"/>
              <a:t>招聘流程</a:t>
            </a:r>
            <a:r>
              <a:rPr lang="en-US" altLang="zh-CN" sz="1600"/>
              <a:t>” </a:t>
            </a:r>
            <a:r>
              <a:rPr lang="zh-CN" altLang="en-US" sz="1600"/>
              <a:t>外的多类业务场景（项目管理、客户关系、办公协作等），通过对话式界面为用户提供跨工具的</a:t>
            </a:r>
            <a:r>
              <a:rPr lang="en-US" altLang="zh-CN" sz="1600"/>
              <a:t> NBA </a:t>
            </a:r>
            <a:r>
              <a:rPr lang="zh-CN" altLang="en-US" sz="1600"/>
              <a:t>推荐。</a:t>
            </a:r>
            <a:endParaRPr lang="zh-CN" altLang="en-US" sz="1600"/>
          </a:p>
          <a:p>
            <a:r>
              <a:rPr lang="zh-CN" altLang="en-US" sz="1600"/>
              <a:t>核心是解决</a:t>
            </a:r>
            <a:r>
              <a:rPr lang="en-US" altLang="zh-CN" sz="1600"/>
              <a:t> “</a:t>
            </a:r>
            <a:r>
              <a:rPr lang="zh-CN" altLang="en-US" sz="1600"/>
              <a:t>冷启动时推荐下一个最佳代理</a:t>
            </a:r>
            <a:r>
              <a:rPr lang="en-US" altLang="zh-CN" sz="1600"/>
              <a:t>” </a:t>
            </a:r>
            <a:r>
              <a:rPr lang="zh-CN" altLang="en-US" sz="1600"/>
              <a:t>的问题，帮用户从海量代理中快速找到合适的，节省时间和精力。</a:t>
            </a:r>
            <a:endParaRPr lang="zh-CN" altLang="en-US" sz="1600"/>
          </a:p>
        </p:txBody>
      </p:sp>
      <p:pic>
        <p:nvPicPr>
          <p:cNvPr id="4" name="图片 3"/>
          <p:cNvPicPr>
            <a:picLocks noChangeAspect="1"/>
          </p:cNvPicPr>
          <p:nvPr/>
        </p:nvPicPr>
        <p:blipFill>
          <a:blip r:embed="rId1"/>
          <a:stretch>
            <a:fillRect/>
          </a:stretch>
        </p:blipFill>
        <p:spPr>
          <a:xfrm>
            <a:off x="2406650" y="2874010"/>
            <a:ext cx="7592695" cy="38176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Future</a:t>
            </a:r>
            <a:endParaRPr lang="en-US" altLang="zh-CN"/>
          </a:p>
        </p:txBody>
      </p:sp>
      <p:sp>
        <p:nvSpPr>
          <p:cNvPr id="3" name="内容占位符 2"/>
          <p:cNvSpPr>
            <a:spLocks noGrp="1"/>
          </p:cNvSpPr>
          <p:nvPr>
            <p:ph idx="1"/>
          </p:nvPr>
        </p:nvSpPr>
        <p:spPr/>
        <p:txBody>
          <a:bodyPr>
            <a:normAutofit/>
          </a:bodyPr>
          <a:p>
            <a:pPr>
              <a:lnSpc>
                <a:spcPct val="150000"/>
              </a:lnSpc>
            </a:pPr>
            <a:r>
              <a:rPr lang="zh-CN" altLang="en-US" sz="1800"/>
              <a:t>目前的方法可能较少依赖历史数据（尤其能解决冷启动问题），但未来一旦有少量历史数据可用（比如某个代理的几次使用记录、某类任务的历史推荐结果），就可以用这些</a:t>
            </a:r>
            <a:r>
              <a:rPr lang="en-US" altLang="zh-CN" sz="1800"/>
              <a:t> “</a:t>
            </a:r>
            <a:r>
              <a:rPr lang="zh-CN" altLang="en-US" sz="1800"/>
              <a:t>少量数据</a:t>
            </a:r>
            <a:r>
              <a:rPr lang="en-US" altLang="zh-CN" sz="1800"/>
              <a:t>” </a:t>
            </a:r>
            <a:r>
              <a:rPr lang="zh-CN" altLang="en-US" sz="1800"/>
              <a:t>继续优化模型，让推荐更精准（比如通过</a:t>
            </a:r>
            <a:r>
              <a:rPr lang="en-US" altLang="zh-CN" sz="1800"/>
              <a:t> “few-shot prompting” </a:t>
            </a:r>
            <a:r>
              <a:rPr lang="zh-CN" altLang="en-US" sz="1800"/>
              <a:t>让</a:t>
            </a:r>
            <a:r>
              <a:rPr lang="en-US" altLang="zh-CN" sz="1800"/>
              <a:t> LLM </a:t>
            </a:r>
            <a:r>
              <a:rPr lang="zh-CN" altLang="en-US" sz="1800"/>
              <a:t>学习历史规律，进一步提升匹配度）</a:t>
            </a:r>
            <a:endParaRPr lang="zh-CN" altLang="en-US" sz="1800"/>
          </a:p>
          <a:p>
            <a:pPr>
              <a:lnSpc>
                <a:spcPct val="150000"/>
              </a:lnSpc>
            </a:pPr>
            <a:endParaRPr lang="zh-CN" altLang="en-US" sz="1800"/>
          </a:p>
          <a:p>
            <a:pPr>
              <a:lnSpc>
                <a:spcPct val="150000"/>
              </a:lnSpc>
            </a:pPr>
            <a:r>
              <a:rPr lang="zh-CN" altLang="en-US" sz="1800"/>
              <a:t>计划收集用户对当前</a:t>
            </a:r>
            <a:r>
              <a:rPr lang="en-US" altLang="zh-CN" sz="1800"/>
              <a:t> NBA </a:t>
            </a:r>
            <a:r>
              <a:rPr lang="zh-CN" altLang="en-US" sz="1800"/>
              <a:t>推荐的反馈（比如</a:t>
            </a:r>
            <a:r>
              <a:rPr lang="en-US" altLang="zh-CN" sz="1800"/>
              <a:t> “</a:t>
            </a:r>
            <a:r>
              <a:rPr lang="zh-CN" altLang="en-US" sz="1800"/>
              <a:t>推荐的代理是否有用</a:t>
            </a:r>
            <a:r>
              <a:rPr lang="en-US" altLang="zh-CN" sz="1800"/>
              <a:t>”“</a:t>
            </a:r>
            <a:r>
              <a:rPr lang="zh-CN" altLang="en-US" sz="1800"/>
              <a:t>是否符合需求</a:t>
            </a:r>
            <a:r>
              <a:rPr lang="en-US" altLang="zh-CN" sz="1800"/>
              <a:t>”</a:t>
            </a:r>
            <a:r>
              <a:rPr lang="zh-CN" altLang="en-US" sz="1800"/>
              <a:t>），根据反馈调整</a:t>
            </a:r>
            <a:r>
              <a:rPr lang="en-US" altLang="zh-CN" sz="1800"/>
              <a:t> “</a:t>
            </a:r>
            <a:r>
              <a:rPr lang="zh-CN" altLang="en-US" sz="1800"/>
              <a:t>提示词工程</a:t>
            </a:r>
            <a:r>
              <a:rPr lang="en-US" altLang="zh-CN" sz="1800"/>
              <a:t>”</a:t>
            </a:r>
            <a:r>
              <a:rPr lang="zh-CN" altLang="en-US" sz="1800"/>
              <a:t>（比如优化给</a:t>
            </a:r>
            <a:r>
              <a:rPr lang="en-US" altLang="zh-CN" sz="1800"/>
              <a:t> LLM </a:t>
            </a:r>
            <a:r>
              <a:rPr lang="zh-CN" altLang="en-US" sz="1800"/>
              <a:t>的指令，让它更懂用户需求），进而改进整个推荐流水线（</a:t>
            </a:r>
            <a:r>
              <a:rPr lang="en-US" altLang="zh-CN" sz="1800"/>
              <a:t>Stage 1-3 </a:t>
            </a:r>
            <a:r>
              <a:rPr lang="zh-CN" altLang="en-US" sz="1800"/>
              <a:t>的逻辑衔接、参数设置等），让系统更贴合实际使用场景。</a:t>
            </a:r>
            <a:endParaRPr lang="zh-CN" altLang="en-US" sz="18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5131</Words>
  <Application>WPS 演示</Application>
  <PresentationFormat>宽屏</PresentationFormat>
  <Paragraphs>240</Paragraphs>
  <Slides>26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Arial</vt:lpstr>
      <vt:lpstr>宋体</vt:lpstr>
      <vt:lpstr>Wingdings</vt:lpstr>
      <vt:lpstr>微软雅黑</vt:lpstr>
      <vt:lpstr>Arial Unicode MS</vt:lpstr>
      <vt:lpstr>Calibri</vt:lpstr>
      <vt:lpstr>WPS</vt:lpstr>
      <vt:lpstr>PowerPoint 演示文稿</vt:lpstr>
      <vt:lpstr>冷启动   &amp;  NBA</vt:lpstr>
      <vt:lpstr>背景             ——传统 VS 新兴业务流程</vt:lpstr>
      <vt:lpstr>核心挑战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LLM输出的锚定（Grounding）</vt:lpstr>
      <vt:lpstr> 1. Guidance based Controlled Generation（基于引导的受控生成）</vt:lpstr>
      <vt:lpstr>2. Post-Processing（后处理）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Future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yanqi li</dc:creator>
  <cp:lastModifiedBy>七</cp:lastModifiedBy>
  <cp:revision>12</cp:revision>
  <dcterms:created xsi:type="dcterms:W3CDTF">2023-08-09T12:44:00Z</dcterms:created>
  <dcterms:modified xsi:type="dcterms:W3CDTF">2025-10-23T10:18:36Z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