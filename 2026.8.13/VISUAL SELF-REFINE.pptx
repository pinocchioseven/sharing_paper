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image" Target="../media/image2.png"/><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3.png"/><Relationship Id="rId2" Type="http://schemas.openxmlformats.org/officeDocument/2006/relationships/tags" Target="../tags/tag70.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75.xml"/><Relationship Id="rId1" Type="http://schemas.openxmlformats.org/officeDocument/2006/relationships/tags" Target="../tags/tag7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77.xml"/><Relationship Id="rId1" Type="http://schemas.openxmlformats.org/officeDocument/2006/relationships/tags" Target="../tags/tag7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79.xml"/><Relationship Id="rId1" Type="http://schemas.openxmlformats.org/officeDocument/2006/relationships/tags" Target="../tags/tag78.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81.xml"/><Relationship Id="rId1" Type="http://schemas.openxmlformats.org/officeDocument/2006/relationships/tags" Target="../tags/tag8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87.xml"/><Relationship Id="rId1" Type="http://schemas.openxmlformats.org/officeDocument/2006/relationships/tags" Target="../tags/tag8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89.xml"/><Relationship Id="rId1" Type="http://schemas.openxmlformats.org/officeDocument/2006/relationships/tags" Target="../tags/tag88.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91.xml"/><Relationship Id="rId1" Type="http://schemas.openxmlformats.org/officeDocument/2006/relationships/tags" Target="../tags/tag90.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93.xml"/><Relationship Id="rId1" Type="http://schemas.openxmlformats.org/officeDocument/2006/relationships/tags" Target="../tags/tag9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custDataLst>
              <p:tags r:id="rId1"/>
            </p:custDataLst>
          </p:nvPr>
        </p:nvSpPr>
        <p:spPr/>
        <p:txBody>
          <a:bodyPr/>
          <a:p>
            <a:endParaRPr lang="zh-CN" altLang="en-US"/>
          </a:p>
        </p:txBody>
      </p:sp>
      <p:sp>
        <p:nvSpPr>
          <p:cNvPr id="5" name="副标题 4"/>
          <p:cNvSpPr>
            <a:spLocks noGrp="1"/>
          </p:cNvSpPr>
          <p:nvPr>
            <p:ph type="subTitle" idx="1"/>
            <p:custDataLst>
              <p:tags r:id="rId2"/>
            </p:custDataLst>
          </p:nvPr>
        </p:nvSpPr>
        <p:spPr>
          <a:xfrm>
            <a:off x="1198880" y="5155565"/>
            <a:ext cx="9799320" cy="365125"/>
          </a:xfrm>
        </p:spPr>
        <p:txBody>
          <a:bodyPr>
            <a:normAutofit fontScale="60000"/>
          </a:bodyPr>
          <a:p>
            <a:r>
              <a:rPr lang="en-US" altLang="zh-CN"/>
              <a:t>2026.8.13</a:t>
            </a:r>
            <a:endParaRPr lang="en-US" altLang="zh-CN"/>
          </a:p>
        </p:txBody>
      </p:sp>
      <p:pic>
        <p:nvPicPr>
          <p:cNvPr id="6" name="图片 5"/>
          <p:cNvPicPr>
            <a:picLocks noChangeAspect="1"/>
          </p:cNvPicPr>
          <p:nvPr/>
        </p:nvPicPr>
        <p:blipFill>
          <a:blip r:embed="rId3"/>
          <a:stretch>
            <a:fillRect/>
          </a:stretch>
        </p:blipFill>
        <p:spPr>
          <a:xfrm>
            <a:off x="802005" y="493395"/>
            <a:ext cx="10845165" cy="45250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800"/>
              <a:t>背景</a:t>
            </a:r>
            <a:endParaRPr lang="zh-CN" altLang="en-US" sz="2800"/>
          </a:p>
        </p:txBody>
      </p:sp>
      <p:sp>
        <p:nvSpPr>
          <p:cNvPr id="3" name="内容占位符 2"/>
          <p:cNvSpPr>
            <a:spLocks noGrp="1"/>
          </p:cNvSpPr>
          <p:nvPr>
            <p:ph idx="1"/>
            <p:custDataLst>
              <p:tags r:id="rId2"/>
            </p:custDataLst>
          </p:nvPr>
        </p:nvSpPr>
        <p:spPr/>
        <p:txBody>
          <a:bodyPr/>
          <a:p>
            <a:r>
              <a:rPr lang="en-US" altLang="zh-CN"/>
              <a:t>1. </a:t>
            </a:r>
            <a:r>
              <a:rPr lang="zh-CN" altLang="en-US"/>
              <a:t>虽然大型视觉语言模型（</a:t>
            </a:r>
            <a:r>
              <a:rPr lang="en-US" altLang="zh-CN"/>
              <a:t>VLMs</a:t>
            </a:r>
            <a:r>
              <a:rPr lang="zh-CN" altLang="en-US"/>
              <a:t>）在文本层面表现出显著的推理和自我修正能力，但在以视觉感知为中心的复杂任务</a:t>
            </a:r>
            <a:r>
              <a:rPr lang="en-US" altLang="zh-CN"/>
              <a:t>(</a:t>
            </a:r>
            <a:r>
              <a:rPr lang="zh-CN" altLang="en-US"/>
              <a:t>如图表解析</a:t>
            </a:r>
            <a:r>
              <a:rPr lang="en-US" altLang="zh-CN"/>
              <a:t>)</a:t>
            </a:r>
            <a:r>
              <a:rPr lang="zh-CN" altLang="en-US"/>
              <a:t>的表现不好。</a:t>
            </a:r>
            <a:endParaRPr lang="zh-CN" altLang="en-US"/>
          </a:p>
          <a:p>
            <a:r>
              <a:rPr lang="en-US" altLang="zh-CN"/>
              <a:t>2. </a:t>
            </a:r>
            <a:r>
              <a:rPr lang="zh-CN" altLang="en-US"/>
              <a:t>现有的模型存在</a:t>
            </a:r>
            <a:r>
              <a:rPr lang="zh-CN" altLang="en-US" b="1"/>
              <a:t>数据遗漏、错位和幻觉</a:t>
            </a:r>
            <a:r>
              <a:rPr lang="zh-CN" altLang="en-US"/>
              <a:t>等错误。</a:t>
            </a:r>
            <a:endParaRPr lang="zh-CN" altLang="en-US"/>
          </a:p>
          <a:p>
            <a:r>
              <a:rPr lang="en-US" altLang="zh-CN"/>
              <a:t>3. </a:t>
            </a:r>
            <a:r>
              <a:rPr lang="zh-CN" altLang="en-US"/>
              <a:t>受人类在阅读复杂图表时使用手指作为</a:t>
            </a:r>
            <a:r>
              <a:rPr lang="en-US" altLang="zh-CN"/>
              <a:t>"</a:t>
            </a:r>
            <a:r>
              <a:rPr lang="zh-CN" altLang="en-US"/>
              <a:t>视觉锚</a:t>
            </a:r>
            <a:r>
              <a:rPr lang="en-US" altLang="zh-CN"/>
              <a:t>"</a:t>
            </a:r>
            <a:r>
              <a:rPr lang="zh-CN" altLang="en-US"/>
              <a:t>以确保准确性的策略启发，论文提出了一种新的范式，称为</a:t>
            </a:r>
            <a:r>
              <a:rPr lang="zh-CN" altLang="en-US" b="1"/>
              <a:t>视觉自精炼</a:t>
            </a:r>
            <a:r>
              <a:rPr lang="en-US" altLang="zh-CN" b="1"/>
              <a:t>( Visual Self-Refine</a:t>
            </a:r>
            <a:r>
              <a:rPr lang="zh-CN" altLang="en-US" b="1"/>
              <a:t>，</a:t>
            </a:r>
            <a:r>
              <a:rPr lang="en-US" altLang="zh-CN" b="1"/>
              <a:t>VSR )</a:t>
            </a:r>
            <a:r>
              <a:rPr lang="zh-CN" altLang="en-US"/>
              <a:t>。</a:t>
            </a:r>
            <a:r>
              <a:rPr lang="en-US" altLang="zh-CN"/>
              <a:t> VSR</a:t>
            </a:r>
            <a:r>
              <a:rPr lang="zh-CN" altLang="en-US"/>
              <a:t>的核心思想：使模型能够生成像素级的定位输出，并将其可视化，然后将这些可视化反馈给自身，使其能够直观地检查并纠正自身潜在的视觉感知错误。这个过程可以让模型看到自己先前的工作，使其有机会识别和纠正潜在的视觉感知错误，如错误定位、遗漏或幻觉。</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2800"/>
              <a:t>bad case</a:t>
            </a:r>
            <a:endParaRPr lang="en-US" altLang="zh-CN" sz="2800"/>
          </a:p>
        </p:txBody>
      </p:sp>
      <p:pic>
        <p:nvPicPr>
          <p:cNvPr id="4" name="图片 3"/>
          <p:cNvPicPr>
            <a:picLocks noChangeAspect="1"/>
          </p:cNvPicPr>
          <p:nvPr/>
        </p:nvPicPr>
        <p:blipFill>
          <a:blip r:embed="rId2"/>
          <a:stretch>
            <a:fillRect/>
          </a:stretch>
        </p:blipFill>
        <p:spPr>
          <a:xfrm>
            <a:off x="2439670" y="810260"/>
            <a:ext cx="9815830" cy="5168900"/>
          </a:xfrm>
          <a:prstGeom prst="rect">
            <a:avLst/>
          </a:prstGeom>
        </p:spPr>
      </p:pic>
      <p:sp>
        <p:nvSpPr>
          <p:cNvPr id="3" name="内容占位符 2"/>
          <p:cNvSpPr>
            <a:spLocks noGrp="1"/>
          </p:cNvSpPr>
          <p:nvPr>
            <p:ph idx="1"/>
            <p:custDataLst>
              <p:tags r:id="rId3"/>
            </p:custDataLst>
          </p:nvPr>
        </p:nvSpPr>
        <p:spPr>
          <a:xfrm>
            <a:off x="608330" y="1490345"/>
            <a:ext cx="2482850" cy="4759325"/>
          </a:xfrm>
        </p:spPr>
        <p:txBody>
          <a:bodyPr>
            <a:normAutofit fontScale="80000"/>
          </a:bodyPr>
          <a:p>
            <a:r>
              <a:rPr lang="en-US" altLang="zh-CN"/>
              <a:t>(</a:t>
            </a:r>
            <a:r>
              <a:rPr lang="en-US" altLang="zh-CN"/>
              <a:t>a)</a:t>
            </a:r>
            <a:r>
              <a:rPr lang="zh-CN" altLang="en-US"/>
              <a:t>在没有视觉反馈的情况下，强</a:t>
            </a:r>
            <a:r>
              <a:rPr lang="en-US" altLang="zh-CN"/>
              <a:t>LVLM (GPT-4o)</a:t>
            </a:r>
            <a:r>
              <a:rPr lang="zh-CN" altLang="en-US"/>
              <a:t>不能识别自身的句法分析错误。</a:t>
            </a:r>
            <a:endParaRPr lang="zh-CN" altLang="en-US"/>
          </a:p>
          <a:p>
            <a:endParaRPr lang="en-US" altLang="zh-CN"/>
          </a:p>
          <a:p>
            <a:r>
              <a:rPr lang="en-US" altLang="zh-CN"/>
              <a:t>(</a:t>
            </a:r>
            <a:r>
              <a:rPr lang="en-US" altLang="zh-CN"/>
              <a:t>b)</a:t>
            </a:r>
            <a:r>
              <a:rPr lang="zh-CN" altLang="en-US"/>
              <a:t>相反，当模型的输出可视化到图表上时</a:t>
            </a:r>
            <a:r>
              <a:rPr lang="en-US" altLang="zh-CN"/>
              <a:t>(</a:t>
            </a:r>
            <a:r>
              <a:rPr lang="zh-CN" altLang="en-US"/>
              <a:t>黄色标记</a:t>
            </a:r>
            <a:r>
              <a:rPr lang="en-US" altLang="zh-CN"/>
              <a:t>)</a:t>
            </a:r>
            <a:r>
              <a:rPr lang="zh-CN" altLang="en-US"/>
              <a:t>。通过这种明确的视觉反馈，同一模型现在可以很容易地发现差异并识别其错误。这凸显了直接自我修正对以视觉为中心的任务的无效性，也激发了我们提出的视觉自我修正方法。</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2800">
                <a:sym typeface="+mn-ea"/>
              </a:rPr>
              <a:t>bad case</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22300" y="1226820"/>
            <a:ext cx="12978765" cy="3681095"/>
          </a:xfrm>
          <a:prstGeom prst="rect">
            <a:avLst/>
          </a:prstGeom>
        </p:spPr>
      </p:pic>
      <p:sp>
        <p:nvSpPr>
          <p:cNvPr id="5" name="内容占位符 2"/>
          <p:cNvSpPr>
            <a:spLocks noGrp="1"/>
          </p:cNvSpPr>
          <p:nvPr>
            <p:custDataLst>
              <p:tags r:id="rId4"/>
            </p:custDataLst>
          </p:nvPr>
        </p:nvSpPr>
        <p:spPr>
          <a:xfrm>
            <a:off x="608330" y="4907915"/>
            <a:ext cx="10968355" cy="1834515"/>
          </a:xfrm>
          <a:prstGeom prst="rect">
            <a:avLst/>
          </a:prstGeom>
        </p:spPr>
        <p:txBody>
          <a:bodyPr vert="horz" lIns="90000" tIns="46800" rIns="90000" bIns="46800" rtlCol="0"/>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a:t>Total Scale Price</a:t>
            </a:r>
            <a:r>
              <a:rPr lang="zh-CN" altLang="en-US" sz="1400"/>
              <a:t>（玫红色柱状图）</a:t>
            </a:r>
            <a:endParaRPr lang="zh-CN" altLang="en-US" sz="1400"/>
          </a:p>
          <a:p>
            <a:r>
              <a:rPr lang="en-US" altLang="zh-CN" sz="1400"/>
              <a:t>GT</a:t>
            </a:r>
            <a:r>
              <a:rPr lang="zh-CN" altLang="en-US" sz="1400"/>
              <a:t>：</a:t>
            </a:r>
            <a:endParaRPr lang="zh-CN" altLang="en-US" sz="1400"/>
          </a:p>
          <a:p>
            <a:pPr lvl="1"/>
            <a:r>
              <a:rPr lang="en-US" altLang="zh-CN" sz="1090"/>
              <a:t>2020-07</a:t>
            </a:r>
            <a:r>
              <a:rPr lang="zh-CN" altLang="en-US" sz="1090"/>
              <a:t>：</a:t>
            </a:r>
            <a:r>
              <a:rPr lang="en-US" altLang="zh-CN" sz="1090"/>
              <a:t>800</a:t>
            </a:r>
            <a:endParaRPr lang="zh-CN" altLang="en-US" sz="1090"/>
          </a:p>
          <a:p>
            <a:pPr lvl="1"/>
            <a:r>
              <a:rPr lang="en-US" altLang="zh-CN" sz="1090"/>
              <a:t>2020-08</a:t>
            </a:r>
            <a:r>
              <a:rPr lang="zh-CN" altLang="en-US" sz="1090"/>
              <a:t>：</a:t>
            </a:r>
            <a:r>
              <a:rPr lang="en-US" altLang="zh-CN" sz="1090"/>
              <a:t>1300</a:t>
            </a:r>
            <a:endParaRPr lang="zh-CN" altLang="en-US" sz="1090"/>
          </a:p>
          <a:p>
            <a:pPr lvl="1"/>
            <a:r>
              <a:rPr lang="en-US" altLang="zh-CN" sz="1090"/>
              <a:t>2020-09</a:t>
            </a:r>
            <a:r>
              <a:rPr lang="zh-CN" altLang="en-US" sz="1090"/>
              <a:t>：</a:t>
            </a:r>
            <a:r>
              <a:rPr lang="en-US" altLang="zh-CN" sz="1090"/>
              <a:t>3000</a:t>
            </a:r>
            <a:endParaRPr lang="zh-CN" altLang="en-US" sz="1090"/>
          </a:p>
          <a:p>
            <a:pPr lvl="1"/>
            <a:r>
              <a:rPr lang="en-US" altLang="zh-CN" sz="1090"/>
              <a:t>2020-11</a:t>
            </a:r>
            <a:r>
              <a:rPr lang="zh-CN" altLang="en-US" sz="1090"/>
              <a:t>：</a:t>
            </a:r>
            <a:r>
              <a:rPr lang="en-US" altLang="zh-CN" sz="1090"/>
              <a:t>6000</a:t>
            </a:r>
            <a:endParaRPr lang="en-US" altLang="zh-CN" sz="109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800"/>
              <a:t>贡献</a:t>
            </a:r>
            <a:endParaRPr lang="zh-CN" altLang="en-US" sz="2800"/>
          </a:p>
        </p:txBody>
      </p:sp>
      <p:sp>
        <p:nvSpPr>
          <p:cNvPr id="3" name="内容占位符 2"/>
          <p:cNvSpPr>
            <a:spLocks noGrp="1"/>
          </p:cNvSpPr>
          <p:nvPr>
            <p:ph idx="1"/>
            <p:custDataLst>
              <p:tags r:id="rId2"/>
            </p:custDataLst>
          </p:nvPr>
        </p:nvSpPr>
        <p:spPr/>
        <p:txBody>
          <a:bodyPr/>
          <a:p>
            <a:r>
              <a:rPr lang="en-US" altLang="zh-CN"/>
              <a:t>1. </a:t>
            </a:r>
            <a:r>
              <a:rPr lang="zh-CN" altLang="en-US" b="1"/>
              <a:t>引入</a:t>
            </a:r>
            <a:r>
              <a:rPr lang="en-US" altLang="zh-CN" b="1"/>
              <a:t>VSR</a:t>
            </a:r>
            <a:r>
              <a:rPr lang="zh-CN" altLang="en-US" b="1"/>
              <a:t>（视觉自我修正）的概念，利用视觉反馈进行自我修正</a:t>
            </a:r>
            <a:r>
              <a:rPr lang="zh-CN" altLang="en-US"/>
              <a:t>。</a:t>
            </a:r>
            <a:r>
              <a:rPr lang="en-US" altLang="zh-CN"/>
              <a:t>VSR</a:t>
            </a:r>
            <a:r>
              <a:rPr lang="zh-CN" altLang="en-US"/>
              <a:t>作为一种视觉反馈范式，并不局限于图表解析。</a:t>
            </a:r>
            <a:r>
              <a:rPr lang="zh-CN" altLang="en-US"/>
              <a:t>论文也展示了它在其他任务上的潜在适用性，包括视觉计数和视觉定位。</a:t>
            </a:r>
            <a:endParaRPr lang="zh-CN" altLang="en-US"/>
          </a:p>
          <a:p>
            <a:r>
              <a:rPr lang="en-US" altLang="zh-CN"/>
              <a:t>2. </a:t>
            </a:r>
            <a:r>
              <a:rPr lang="zh-CN" altLang="en-US"/>
              <a:t>使用</a:t>
            </a:r>
            <a:r>
              <a:rPr lang="en-US" altLang="zh-CN" b="1"/>
              <a:t>ChartVSR</a:t>
            </a:r>
            <a:r>
              <a:rPr lang="zh-CN" altLang="en-US" b="1"/>
              <a:t>模型</a:t>
            </a:r>
            <a:r>
              <a:rPr lang="zh-CN" altLang="en-US"/>
              <a:t>在图表解析领域证明提高精度的有效性。</a:t>
            </a:r>
            <a:endParaRPr lang="zh-CN" altLang="en-US"/>
          </a:p>
          <a:p>
            <a:r>
              <a:rPr lang="en-US" altLang="zh-CN"/>
              <a:t>3. </a:t>
            </a:r>
            <a:r>
              <a:rPr lang="zh-CN" altLang="en-US"/>
              <a:t>提出一个具有挑战的</a:t>
            </a:r>
            <a:r>
              <a:rPr lang="en-US" altLang="zh-CN"/>
              <a:t>CharP-Bench</a:t>
            </a:r>
            <a:r>
              <a:rPr lang="zh-CN" altLang="en-US"/>
              <a:t>，通过手动选择和注释来自多个数据源的复杂图表，以促进图表解析领域的未来研究方向。</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800"/>
              <a:t>方法</a:t>
            </a:r>
            <a:r>
              <a:rPr lang="en-US" altLang="zh-CN" sz="2800"/>
              <a:t>——1.</a:t>
            </a:r>
            <a:r>
              <a:rPr lang="zh-CN" altLang="en-US" sz="2800"/>
              <a:t>精细化阶段</a:t>
            </a:r>
            <a:endParaRPr lang="zh-CN" altLang="en-US" sz="2800"/>
          </a:p>
        </p:txBody>
      </p:sp>
      <p:sp>
        <p:nvSpPr>
          <p:cNvPr id="3" name="内容占位符 2"/>
          <p:cNvSpPr>
            <a:spLocks noGrp="1"/>
          </p:cNvSpPr>
          <p:nvPr>
            <p:ph idx="1"/>
            <p:custDataLst>
              <p:tags r:id="rId2"/>
            </p:custDataLst>
          </p:nvPr>
        </p:nvSpPr>
        <p:spPr>
          <a:xfrm>
            <a:off x="608330" y="1490345"/>
            <a:ext cx="6131560" cy="4759325"/>
          </a:xfrm>
        </p:spPr>
        <p:txBody>
          <a:bodyPr>
            <a:normAutofit fontScale="90000" lnSpcReduction="10000"/>
          </a:bodyPr>
          <a:p>
            <a:r>
              <a:rPr lang="en-US" altLang="zh-CN" sz="1400"/>
              <a:t>ChartVSR</a:t>
            </a:r>
            <a:r>
              <a:rPr lang="zh-CN" altLang="en-US" sz="1400"/>
              <a:t>分为两个阶段：精化阶段和解码阶段。</a:t>
            </a:r>
            <a:endParaRPr lang="zh-CN" altLang="en-US" sz="1400"/>
          </a:p>
          <a:p>
            <a:endParaRPr lang="zh-CN" altLang="en-US" sz="1400"/>
          </a:p>
          <a:p>
            <a:r>
              <a:rPr lang="en-US" altLang="zh-CN" sz="1400" b="1"/>
              <a:t>- </a:t>
            </a:r>
            <a:r>
              <a:rPr lang="zh-CN" altLang="en-US" sz="1400" b="1"/>
              <a:t>精化阶段：</a:t>
            </a:r>
            <a:endParaRPr lang="zh-CN" altLang="en-US" sz="1400" b="1"/>
          </a:p>
          <a:p>
            <a:r>
              <a:rPr lang="zh-CN" altLang="en-US" sz="1400"/>
              <a:t>通过视觉反馈进行迭代精化该阶段的目标是</a:t>
            </a:r>
            <a:r>
              <a:rPr lang="zh-CN" altLang="en-US" sz="1400" b="1"/>
              <a:t>让模型</a:t>
            </a:r>
            <a:r>
              <a:rPr lang="en-US" altLang="zh-CN" sz="1400" b="1"/>
              <a:t>"</a:t>
            </a:r>
            <a:r>
              <a:rPr lang="zh-CN" altLang="en-US" sz="1400" b="1"/>
              <a:t>指出</a:t>
            </a:r>
            <a:r>
              <a:rPr lang="en-US" altLang="zh-CN" sz="1400" b="1"/>
              <a:t>"</a:t>
            </a:r>
            <a:r>
              <a:rPr lang="zh-CN" altLang="en-US" sz="1400" b="1"/>
              <a:t>图表中的所有关键数据元素，就像人类使用手指一样</a:t>
            </a:r>
            <a:r>
              <a:rPr lang="zh-CN" altLang="en-US" sz="1400"/>
              <a:t>。</a:t>
            </a:r>
            <a:endParaRPr lang="zh-CN" altLang="en-US" sz="1400"/>
          </a:p>
          <a:p>
            <a:endParaRPr lang="zh-CN" altLang="en-US" sz="1400"/>
          </a:p>
          <a:p>
            <a:r>
              <a:rPr lang="zh-CN" altLang="en-US" sz="1400"/>
              <a:t>论文将原始的海图图像提供给模型，该模型的任务不是直接读取像素值，而是</a:t>
            </a:r>
            <a:r>
              <a:rPr lang="zh-CN" altLang="en-US" sz="1400" b="1"/>
              <a:t>输出一个像素级定位列表</a:t>
            </a:r>
            <a:r>
              <a:rPr lang="en-US" altLang="zh-CN" sz="1400" b="1"/>
              <a:t>(</a:t>
            </a:r>
            <a:r>
              <a:rPr lang="zh-CN" altLang="en-US" sz="1400" b="1"/>
              <a:t>每个数据点对应的一系列</a:t>
            </a:r>
            <a:r>
              <a:rPr lang="en-US" altLang="zh-CN" sz="1400" b="1"/>
              <a:t>[ x , y ]</a:t>
            </a:r>
            <a:r>
              <a:rPr lang="zh-CN" altLang="en-US" sz="1400" b="1"/>
              <a:t>像素坐标</a:t>
            </a:r>
            <a:r>
              <a:rPr lang="en-US" altLang="zh-CN" sz="1400" b="1"/>
              <a:t>)</a:t>
            </a:r>
            <a:r>
              <a:rPr lang="zh-CN" altLang="en-US" sz="1400"/>
              <a:t>。这一关键步骤将复杂的图表解析任务解构为一个更简单的可视化接地问题，模型可以只关注数据点</a:t>
            </a:r>
            <a:r>
              <a:rPr lang="en-US" altLang="zh-CN" sz="1400"/>
              <a:t>"</a:t>
            </a:r>
            <a:r>
              <a:rPr lang="zh-CN" altLang="en-US" sz="1400"/>
              <a:t>在哪里</a:t>
            </a:r>
            <a:r>
              <a:rPr lang="en-US" altLang="zh-CN" sz="1400"/>
              <a:t>"</a:t>
            </a:r>
            <a:r>
              <a:rPr lang="zh-CN" altLang="en-US" sz="1400"/>
              <a:t>，而不需要立即解析它们</a:t>
            </a:r>
            <a:r>
              <a:rPr lang="en-US" altLang="zh-CN" sz="1400"/>
              <a:t>"</a:t>
            </a:r>
            <a:r>
              <a:rPr lang="zh-CN" altLang="en-US" sz="1400"/>
              <a:t>是什么</a:t>
            </a:r>
            <a:r>
              <a:rPr lang="en-US" altLang="zh-CN" sz="1400"/>
              <a:t>"</a:t>
            </a:r>
            <a:r>
              <a:rPr lang="zh-CN" altLang="en-US" sz="1400"/>
              <a:t>或</a:t>
            </a:r>
            <a:r>
              <a:rPr lang="en-US" altLang="zh-CN" sz="1400"/>
              <a:t>"</a:t>
            </a:r>
            <a:r>
              <a:rPr lang="zh-CN" altLang="en-US" sz="1400"/>
              <a:t>表示多少</a:t>
            </a:r>
            <a:r>
              <a:rPr lang="en-US" altLang="zh-CN" sz="1400"/>
              <a:t>"</a:t>
            </a:r>
            <a:r>
              <a:rPr lang="zh-CN" altLang="en-US" sz="1400"/>
              <a:t>。</a:t>
            </a:r>
            <a:r>
              <a:rPr lang="zh-CN" altLang="en-US" sz="1400" b="1"/>
              <a:t>生成的像素级定位作为中间的、结构化的视觉锚点。</a:t>
            </a:r>
            <a:r>
              <a:rPr lang="en-US" altLang="zh-CN" sz="1400"/>
              <a:t> </a:t>
            </a:r>
            <a:r>
              <a:rPr lang="zh-CN" altLang="en-US" sz="1400"/>
              <a:t>随后，我们使用</a:t>
            </a:r>
            <a:r>
              <a:rPr lang="zh-CN" altLang="en-US" sz="1400" b="1"/>
              <a:t>预定义的标记器</a:t>
            </a:r>
            <a:r>
              <a:rPr lang="zh-CN" altLang="en-US" sz="1400"/>
              <a:t>在原始图表图像上可视化这些像素级定位。然后</a:t>
            </a:r>
            <a:r>
              <a:rPr lang="zh-CN" altLang="en-US" sz="1400" b="1"/>
              <a:t>将编辑后的图像作为显式视觉反馈反馈到模型中</a:t>
            </a:r>
            <a:r>
              <a:rPr lang="zh-CN" altLang="en-US" sz="1400"/>
              <a:t>。通过观测自己先前生成的标记，该模型可以识别不精确的定位、遗漏或幻觉，并随后输出一组校正的像素级定位。这个</a:t>
            </a:r>
            <a:r>
              <a:rPr lang="en-US" altLang="zh-CN" sz="1400"/>
              <a:t>"</a:t>
            </a:r>
            <a:r>
              <a:rPr lang="zh-CN" altLang="en-US" sz="1400"/>
              <a:t>生成</a:t>
            </a:r>
            <a:r>
              <a:rPr lang="en-US" altLang="zh-CN" sz="1400"/>
              <a:t>-</a:t>
            </a:r>
            <a:r>
              <a:rPr lang="zh-CN" altLang="en-US" sz="1400"/>
              <a:t>反馈</a:t>
            </a:r>
            <a:r>
              <a:rPr lang="en-US" altLang="zh-CN" sz="1400"/>
              <a:t>-</a:t>
            </a:r>
            <a:r>
              <a:rPr lang="zh-CN" altLang="en-US" sz="1400"/>
              <a:t>修正</a:t>
            </a:r>
            <a:r>
              <a:rPr lang="en-US" altLang="zh-CN" sz="1400"/>
              <a:t>"</a:t>
            </a:r>
            <a:r>
              <a:rPr lang="zh-CN" altLang="en-US" sz="1400"/>
              <a:t>的循环可以迭代进行，直到模型表明可视化定位是正确的或预设的。</a:t>
            </a:r>
            <a:endParaRPr lang="zh-CN" altLang="en-US" sz="1400"/>
          </a:p>
          <a:p>
            <a:endParaRPr lang="zh-CN" altLang="en-US" sz="1400"/>
          </a:p>
        </p:txBody>
      </p:sp>
      <p:pic>
        <p:nvPicPr>
          <p:cNvPr id="4" name="图片 3"/>
          <p:cNvPicPr>
            <a:picLocks noChangeAspect="1"/>
          </p:cNvPicPr>
          <p:nvPr/>
        </p:nvPicPr>
        <p:blipFill>
          <a:blip r:embed="rId3"/>
          <a:stretch>
            <a:fillRect/>
          </a:stretch>
        </p:blipFill>
        <p:spPr>
          <a:xfrm>
            <a:off x="6782435" y="509905"/>
            <a:ext cx="5103495" cy="5893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800"/>
              <a:t>方法</a:t>
            </a:r>
            <a:r>
              <a:rPr lang="en-US" altLang="zh-CN" sz="2800"/>
              <a:t>——2.</a:t>
            </a:r>
            <a:r>
              <a:rPr lang="zh-CN" altLang="en-US" sz="2800"/>
              <a:t>解码</a:t>
            </a:r>
            <a:r>
              <a:rPr lang="zh-CN" altLang="en-US" sz="2800"/>
              <a:t>阶段</a:t>
            </a:r>
            <a:endParaRPr lang="zh-CN" altLang="en-US" sz="2800"/>
          </a:p>
        </p:txBody>
      </p:sp>
      <p:sp>
        <p:nvSpPr>
          <p:cNvPr id="3" name="内容占位符 2"/>
          <p:cNvSpPr>
            <a:spLocks noGrp="1"/>
          </p:cNvSpPr>
          <p:nvPr>
            <p:ph idx="1"/>
            <p:custDataLst>
              <p:tags r:id="rId2"/>
            </p:custDataLst>
          </p:nvPr>
        </p:nvSpPr>
        <p:spPr>
          <a:xfrm>
            <a:off x="608330" y="1490345"/>
            <a:ext cx="5487670" cy="5120640"/>
          </a:xfrm>
        </p:spPr>
        <p:txBody>
          <a:bodyPr>
            <a:noAutofit/>
          </a:bodyPr>
          <a:p>
            <a:r>
              <a:rPr lang="en-US" altLang="zh-CN" sz="1300"/>
              <a:t>ChartVSR</a:t>
            </a:r>
            <a:r>
              <a:rPr lang="zh-CN" altLang="en-US" sz="1300"/>
              <a:t>分为两个阶段：精化阶段和解码阶段。</a:t>
            </a:r>
            <a:endParaRPr lang="zh-CN" altLang="en-US" sz="1300"/>
          </a:p>
          <a:p>
            <a:endParaRPr lang="en-US" altLang="zh-CN" sz="1300"/>
          </a:p>
          <a:p>
            <a:r>
              <a:rPr lang="en-US" altLang="zh-CN" sz="1300" b="1"/>
              <a:t>- </a:t>
            </a:r>
            <a:r>
              <a:rPr lang="zh-CN" altLang="en-US" sz="1300" b="1"/>
              <a:t>解码阶段</a:t>
            </a:r>
            <a:r>
              <a:rPr lang="zh-CN" altLang="en-US" sz="1300"/>
              <a:t>：</a:t>
            </a:r>
            <a:endParaRPr lang="zh-CN" altLang="en-US" sz="1300"/>
          </a:p>
          <a:p>
            <a:r>
              <a:rPr lang="zh-CN" altLang="en-US" sz="1300"/>
              <a:t>模型接收</a:t>
            </a:r>
            <a:r>
              <a:rPr lang="zh-CN" altLang="en-US" sz="1300" b="1"/>
              <a:t>原始海图图像和最终的像素级定位集</a:t>
            </a:r>
            <a:r>
              <a:rPr lang="zh-CN" altLang="en-US" sz="1300"/>
              <a:t>（通过了模型本身验证的）作为输入。此时，模型的任务从</a:t>
            </a:r>
            <a:r>
              <a:rPr lang="en-US" altLang="zh-CN" sz="1300"/>
              <a:t>"</a:t>
            </a:r>
            <a:r>
              <a:rPr lang="zh-CN" altLang="en-US" sz="1300"/>
              <a:t>本地化</a:t>
            </a:r>
            <a:r>
              <a:rPr lang="en-US" altLang="zh-CN" sz="1300"/>
              <a:t>"</a:t>
            </a:r>
            <a:r>
              <a:rPr lang="zh-CN" altLang="en-US" sz="1300"/>
              <a:t>转向</a:t>
            </a:r>
            <a:r>
              <a:rPr lang="en-US" altLang="zh-CN" sz="1300"/>
              <a:t>"</a:t>
            </a:r>
            <a:r>
              <a:rPr lang="zh-CN" altLang="en-US" sz="1300"/>
              <a:t>解释</a:t>
            </a:r>
            <a:r>
              <a:rPr lang="en-US" altLang="zh-CN" sz="1300"/>
              <a:t>"</a:t>
            </a:r>
            <a:r>
              <a:rPr lang="zh-CN" altLang="en-US" sz="1300"/>
              <a:t>。</a:t>
            </a:r>
            <a:endParaRPr lang="zh-CN" altLang="en-US" sz="1300"/>
          </a:p>
          <a:p>
            <a:r>
              <a:rPr lang="en-US" altLang="zh-CN" sz="1300" b="1"/>
              <a:t>- </a:t>
            </a:r>
            <a:r>
              <a:rPr lang="zh-CN" altLang="en-US" sz="1300" b="1"/>
              <a:t>解析</a:t>
            </a:r>
            <a:r>
              <a:rPr lang="zh-CN" altLang="en-US" sz="1300"/>
              <a:t>：</a:t>
            </a:r>
            <a:endParaRPr lang="zh-CN" altLang="en-US" sz="1300"/>
          </a:p>
          <a:p>
            <a:r>
              <a:rPr lang="zh-CN" altLang="en-US" sz="1300"/>
              <a:t>模型将最终像素点与图表的视觉元素相关联。例如，如图所示，对于条形图上的一个数据点，模型利用其像素级</a:t>
            </a:r>
            <a:r>
              <a:rPr lang="en-US" altLang="zh-CN" sz="1300"/>
              <a:t>Localization [ 541</a:t>
            </a:r>
            <a:r>
              <a:rPr lang="zh-CN" altLang="en-US" sz="1300"/>
              <a:t>、</a:t>
            </a:r>
            <a:r>
              <a:rPr lang="en-US" altLang="zh-CN" sz="1300"/>
              <a:t>458 ]</a:t>
            </a:r>
            <a:r>
              <a:rPr lang="zh-CN" altLang="en-US" sz="1300"/>
              <a:t>来推断其在图坐标系</a:t>
            </a:r>
            <a:r>
              <a:rPr lang="en-US" altLang="zh-CN" sz="1300"/>
              <a:t>(</a:t>
            </a:r>
            <a:r>
              <a:rPr lang="zh-CN" altLang="en-US" sz="1300"/>
              <a:t>即图坐标</a:t>
            </a:r>
            <a:r>
              <a:rPr lang="en-US" altLang="zh-CN" sz="1300"/>
              <a:t>( 88.0, 8.9 )</a:t>
            </a:r>
            <a:r>
              <a:rPr lang="zh-CN" altLang="en-US" sz="1300"/>
              <a:t>内的值</a:t>
            </a:r>
            <a:r>
              <a:rPr lang="en-US" altLang="zh-CN" sz="1300"/>
              <a:t>)</a:t>
            </a:r>
            <a:r>
              <a:rPr lang="zh-CN" altLang="en-US" sz="1300"/>
              <a:t>，并将其与相应的图例标签相关联。</a:t>
            </a:r>
            <a:endParaRPr lang="zh-CN" altLang="en-US" sz="1300"/>
          </a:p>
          <a:p>
            <a:endParaRPr lang="zh-CN" altLang="en-US" sz="1300"/>
          </a:p>
          <a:p>
            <a:r>
              <a:rPr lang="en-US" altLang="zh-CN" sz="1300" b="1">
                <a:solidFill>
                  <a:srgbClr val="C00000"/>
                </a:solidFill>
              </a:rPr>
              <a:t>ChartVSR</a:t>
            </a:r>
            <a:r>
              <a:rPr lang="zh-CN" altLang="en-US" sz="1300" b="1">
                <a:solidFill>
                  <a:srgbClr val="C00000"/>
                </a:solidFill>
              </a:rPr>
              <a:t>通过解耦感知</a:t>
            </a:r>
            <a:r>
              <a:rPr lang="en-US" altLang="zh-CN" sz="1300" b="1">
                <a:solidFill>
                  <a:srgbClr val="C00000"/>
                </a:solidFill>
              </a:rPr>
              <a:t>(</a:t>
            </a:r>
            <a:r>
              <a:rPr lang="zh-CN" altLang="en-US" sz="1300" b="1">
                <a:solidFill>
                  <a:srgbClr val="C00000"/>
                </a:solidFill>
              </a:rPr>
              <a:t>本地化</a:t>
            </a:r>
            <a:r>
              <a:rPr lang="en-US" altLang="zh-CN" sz="1300" b="1">
                <a:solidFill>
                  <a:srgbClr val="C00000"/>
                </a:solidFill>
              </a:rPr>
              <a:t>)</a:t>
            </a:r>
            <a:r>
              <a:rPr lang="zh-CN" altLang="en-US" sz="1300" b="1">
                <a:solidFill>
                  <a:srgbClr val="C00000"/>
                </a:solidFill>
              </a:rPr>
              <a:t>和解析</a:t>
            </a:r>
            <a:r>
              <a:rPr lang="en-US" altLang="zh-CN" sz="1300" b="1">
                <a:solidFill>
                  <a:srgbClr val="C00000"/>
                </a:solidFill>
              </a:rPr>
              <a:t>(</a:t>
            </a:r>
            <a:r>
              <a:rPr lang="zh-CN" altLang="en-US" sz="1300" b="1">
                <a:solidFill>
                  <a:srgbClr val="C00000"/>
                </a:solidFill>
              </a:rPr>
              <a:t>解释</a:t>
            </a:r>
            <a:r>
              <a:rPr lang="en-US" altLang="zh-CN" sz="1300" b="1">
                <a:solidFill>
                  <a:srgbClr val="C00000"/>
                </a:solidFill>
              </a:rPr>
              <a:t>)</a:t>
            </a:r>
            <a:r>
              <a:rPr lang="zh-CN" altLang="en-US" sz="1300" b="1">
                <a:solidFill>
                  <a:srgbClr val="C00000"/>
                </a:solidFill>
              </a:rPr>
              <a:t>两个子任务，并以像素级局部化为桥梁</a:t>
            </a:r>
            <a:r>
              <a:rPr lang="zh-CN" altLang="en-US" sz="1300"/>
              <a:t>，有效缓解了数据错位、遗漏和数值偏差等常见错误。</a:t>
            </a:r>
            <a:endParaRPr lang="zh-CN" altLang="en-US" sz="1300"/>
          </a:p>
        </p:txBody>
      </p:sp>
      <p:pic>
        <p:nvPicPr>
          <p:cNvPr id="4" name="图片 3"/>
          <p:cNvPicPr>
            <a:picLocks noChangeAspect="1"/>
          </p:cNvPicPr>
          <p:nvPr/>
        </p:nvPicPr>
        <p:blipFill>
          <a:blip r:embed="rId3"/>
          <a:stretch>
            <a:fillRect/>
          </a:stretch>
        </p:blipFill>
        <p:spPr>
          <a:xfrm>
            <a:off x="6782435" y="509905"/>
            <a:ext cx="5103495" cy="5893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sz="2800">
                <a:sym typeface="+mn-ea"/>
              </a:rPr>
              <a:t>全自动图表生成引擎：参数无关通用绘图模板</a:t>
            </a:r>
            <a:r>
              <a:rPr lang="en-US" altLang="zh-CN" sz="2800">
                <a:sym typeface="+mn-ea"/>
              </a:rPr>
              <a:t> + </a:t>
            </a:r>
            <a:r>
              <a:rPr lang="zh-CN" altLang="en-US" sz="2800">
                <a:sym typeface="+mn-ea"/>
              </a:rPr>
              <a:t>混合配置生成器</a:t>
            </a:r>
            <a:endParaRPr lang="zh-CN" altLang="en-US" sz="2800"/>
          </a:p>
        </p:txBody>
      </p:sp>
      <p:sp>
        <p:nvSpPr>
          <p:cNvPr id="3" name="内容占位符 2"/>
          <p:cNvSpPr>
            <a:spLocks noGrp="1"/>
          </p:cNvSpPr>
          <p:nvPr>
            <p:ph idx="1"/>
            <p:custDataLst>
              <p:tags r:id="rId2"/>
            </p:custDataLst>
          </p:nvPr>
        </p:nvSpPr>
        <p:spPr/>
        <p:txBody>
          <a:bodyPr>
            <a:normAutofit/>
          </a:bodyPr>
          <a:p>
            <a:r>
              <a:rPr lang="zh-CN" altLang="en-US" sz="1300"/>
              <a:t>针对每一类图表，论文首先构建对应的</a:t>
            </a:r>
            <a:r>
              <a:rPr lang="zh-CN" altLang="en-US" sz="1300" b="1"/>
              <a:t>参数无关模板</a:t>
            </a:r>
            <a:r>
              <a:rPr lang="zh-CN" altLang="en-US" sz="1300"/>
              <a:t>。该模板是一套通用绘图脚本，可在生成图表图像的同时自动输出配套结构化标注。模板完整覆盖</a:t>
            </a:r>
            <a:r>
              <a:rPr lang="en-US" altLang="zh-CN" sz="1300"/>
              <a:t> Matplotlib </a:t>
            </a:r>
            <a:r>
              <a:rPr lang="zh-CN" altLang="en-US" sz="1300"/>
              <a:t>中对应图表类型的全部绘图可调参数。</a:t>
            </a:r>
            <a:r>
              <a:rPr lang="en-US" altLang="zh-CN" sz="1300"/>
              <a:t> </a:t>
            </a:r>
            <a:endParaRPr lang="en-US" altLang="zh-CN" sz="1300"/>
          </a:p>
          <a:p>
            <a:r>
              <a:rPr lang="zh-CN" altLang="en-US" sz="1300"/>
              <a:t>在模板基础上，论文设计</a:t>
            </a:r>
            <a:r>
              <a:rPr lang="zh-CN" altLang="en-US" sz="1300" b="1"/>
              <a:t>混合配置生成器</a:t>
            </a:r>
            <a:r>
              <a:rPr lang="zh-CN" altLang="en-US" sz="1300"/>
              <a:t>，自动生成大量差异化图表配置。生成器遍历</a:t>
            </a:r>
            <a:r>
              <a:rPr lang="en-US" altLang="zh-CN" sz="1300"/>
              <a:t> Matplotlib </a:t>
            </a:r>
            <a:r>
              <a:rPr lang="zh-CN" altLang="en-US" sz="1300"/>
              <a:t>完整可视化参数空间进行采样，覆盖配色方案、字体、布局等维度。针对标签、标题、数据点等图表元素，生成器融合真实文本数据与随机生成内容进行构造。该机制最大化图表风格多样性，规避现有数据集普遍存在的隐含固定规则问题，从而提升模型图表解析的泛化鲁棒性。</a:t>
            </a:r>
            <a:endParaRPr lang="zh-CN" altLang="en-US" sz="1300"/>
          </a:p>
          <a:p>
            <a:endParaRPr lang="zh-CN" altLang="en-US" sz="1300"/>
          </a:p>
          <a:p>
            <a:r>
              <a:rPr lang="zh-CN" altLang="en-US" sz="1300"/>
              <a:t>最初通过数据引擎生成的数据集中观察到一部分数据的视觉质量较差，因此手工标注了正反例，</a:t>
            </a:r>
            <a:r>
              <a:rPr lang="zh-CN" altLang="en-US" sz="1300" b="1"/>
              <a:t>微调了一个</a:t>
            </a:r>
            <a:r>
              <a:rPr lang="en-US" altLang="zh-CN" sz="1300" b="1"/>
              <a:t> Qwen2 - VL - 2B </a:t>
            </a:r>
            <a:r>
              <a:rPr lang="zh-CN" altLang="en-US" sz="1300" b="1"/>
              <a:t>模型作为数据筛选器</a:t>
            </a:r>
            <a:r>
              <a:rPr lang="zh-CN" altLang="en-US" sz="1300"/>
              <a:t>。然后将该模型应用于原始数据集，以舍弃低质量的图表。通过这个完整的流程，论文构建了一个包含大约</a:t>
            </a:r>
            <a:r>
              <a:rPr lang="en-US" altLang="zh-CN" sz="1300"/>
              <a:t> </a:t>
            </a:r>
            <a:r>
              <a:rPr lang="en-US" altLang="zh-CN" sz="1300" b="1"/>
              <a:t>800K </a:t>
            </a:r>
            <a:r>
              <a:rPr lang="zh-CN" altLang="en-US" sz="1300"/>
              <a:t>个样本的最终高质量数据集。</a:t>
            </a:r>
            <a:endParaRPr lang="zh-CN" altLang="en-US" sz="1300"/>
          </a:p>
        </p:txBody>
      </p:sp>
      <p:pic>
        <p:nvPicPr>
          <p:cNvPr id="4" name="图片 3"/>
          <p:cNvPicPr>
            <a:picLocks noChangeAspect="1"/>
          </p:cNvPicPr>
          <p:nvPr/>
        </p:nvPicPr>
        <p:blipFill>
          <a:blip r:embed="rId3"/>
          <a:stretch>
            <a:fillRect/>
          </a:stretch>
        </p:blipFill>
        <p:spPr>
          <a:xfrm>
            <a:off x="1183005" y="4368165"/>
            <a:ext cx="9608820" cy="2432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400"/>
              <a:t>数据引擎评估指标</a:t>
            </a:r>
            <a:r>
              <a:rPr lang="en-US" altLang="zh-CN" sz="2400"/>
              <a:t>*5</a:t>
            </a:r>
            <a:endParaRPr lang="en-US" altLang="zh-CN" sz="2400"/>
          </a:p>
        </p:txBody>
      </p:sp>
      <p:sp>
        <p:nvSpPr>
          <p:cNvPr id="3" name="内容占位符 2"/>
          <p:cNvSpPr>
            <a:spLocks noGrp="1"/>
          </p:cNvSpPr>
          <p:nvPr>
            <p:ph idx="1"/>
            <p:custDataLst>
              <p:tags r:id="rId2"/>
            </p:custDataLst>
          </p:nvPr>
        </p:nvSpPr>
        <p:spPr>
          <a:xfrm>
            <a:off x="304165" y="1189990"/>
            <a:ext cx="6935470" cy="4962525"/>
          </a:xfrm>
        </p:spPr>
        <p:txBody>
          <a:bodyPr>
            <a:noAutofit/>
          </a:bodyPr>
          <a:p>
            <a:r>
              <a:rPr lang="en-US" altLang="zh-CN" sz="1300" b="1"/>
              <a:t>Average Data Points per Chart (</a:t>
            </a:r>
            <a:r>
              <a:rPr lang="en-US" altLang="en-US" sz="1300" b="1"/>
              <a:t>↑</a:t>
            </a:r>
            <a:r>
              <a:rPr lang="en-US" altLang="zh-CN" sz="1300" b="1"/>
              <a:t>)</a:t>
            </a:r>
            <a:r>
              <a:rPr lang="zh-CN" altLang="en-US" sz="1300"/>
              <a:t>：衡量了图表的</a:t>
            </a:r>
            <a:r>
              <a:rPr lang="zh-CN" altLang="en-US" sz="1300" b="1"/>
              <a:t>平均视觉复杂度和信息密度</a:t>
            </a:r>
            <a:r>
              <a:rPr lang="zh-CN" altLang="en-US" sz="1300"/>
              <a:t>。更高的值表明该数据集包含更复杂的图表，具有更多的数据元素，这对图表解析模型提出了更大的挑战。</a:t>
            </a:r>
            <a:endParaRPr lang="zh-CN" altLang="en-US" sz="1300"/>
          </a:p>
          <a:p>
            <a:endParaRPr lang="zh-CN" altLang="en-US" sz="1300"/>
          </a:p>
          <a:p>
            <a:r>
              <a:rPr lang="en-US" altLang="zh-CN" sz="1300" b="1"/>
              <a:t>Unique Numerical Ratio (</a:t>
            </a:r>
            <a:r>
              <a:rPr lang="en-US" altLang="en-US" sz="1300" b="1"/>
              <a:t>↑</a:t>
            </a:r>
            <a:r>
              <a:rPr lang="en-US" altLang="zh-CN" sz="1300" b="1"/>
              <a:t>)</a:t>
            </a:r>
            <a:r>
              <a:rPr lang="zh-CN" altLang="en-US" sz="1300"/>
              <a:t>：该比率被计算为</a:t>
            </a:r>
            <a:r>
              <a:rPr lang="zh-CN" altLang="en-US" sz="1300" b="1"/>
              <a:t>唯一数值的数量除以整个数据集的数值总数</a:t>
            </a:r>
            <a:r>
              <a:rPr lang="zh-CN" altLang="en-US" sz="1300"/>
              <a:t>。它作为数据价值多样性的直接衡量指标。较低的比率意味着</a:t>
            </a:r>
            <a:r>
              <a:rPr lang="zh-CN" altLang="en-US" sz="1300" b="1"/>
              <a:t>较高的数据同质性和数值重复性</a:t>
            </a:r>
            <a:r>
              <a:rPr lang="zh-CN" altLang="en-US" sz="1300"/>
              <a:t>，这会导致模型过度拟合特定的数值模式。</a:t>
            </a:r>
            <a:r>
              <a:rPr lang="en-US" altLang="zh-CN" sz="1300"/>
              <a:t> </a:t>
            </a:r>
            <a:endParaRPr lang="en-US" altLang="zh-CN" sz="1300"/>
          </a:p>
          <a:p>
            <a:endParaRPr lang="zh-CN" altLang="en-US" sz="1300"/>
          </a:p>
          <a:p>
            <a:r>
              <a:rPr lang="en-US" altLang="zh-CN" sz="1300" b="1"/>
              <a:t>Average Absolute Correlation Coefficient (</a:t>
            </a:r>
            <a:r>
              <a:rPr lang="en-US" altLang="en-US" sz="1300" b="1"/>
              <a:t>↓</a:t>
            </a:r>
            <a:r>
              <a:rPr lang="en-US" altLang="zh-CN" sz="1300" b="1"/>
              <a:t>)</a:t>
            </a:r>
            <a:r>
              <a:rPr lang="zh-CN" altLang="en-US" sz="1300"/>
              <a:t>：为了衡量数据趋势的多样性，论文计算了</a:t>
            </a:r>
            <a:r>
              <a:rPr lang="zh-CN" altLang="en-US" sz="1300" b="1"/>
              <a:t>所有多系列图表的皮尔逊相关系数，并对其绝对值进行了平均。得分接近于</a:t>
            </a:r>
            <a:r>
              <a:rPr lang="en-US" altLang="zh-CN" sz="1300" b="1"/>
              <a:t>1.0</a:t>
            </a:r>
            <a:r>
              <a:rPr lang="zh-CN" altLang="en-US" sz="1300" b="1"/>
              <a:t>表示数据集以单调趋势</a:t>
            </a:r>
            <a:r>
              <a:rPr lang="en-US" altLang="zh-CN" sz="1300" b="1"/>
              <a:t>(</a:t>
            </a:r>
            <a:r>
              <a:rPr lang="zh-CN" altLang="en-US" sz="1300" b="1"/>
              <a:t>呈强正相关或负相关</a:t>
            </a:r>
            <a:r>
              <a:rPr lang="en-US" altLang="zh-CN" sz="1300" b="1"/>
              <a:t>)</a:t>
            </a:r>
            <a:r>
              <a:rPr lang="zh-CN" altLang="en-US" sz="1300" b="1"/>
              <a:t>为主，这是合成数据集中的常见问题</a:t>
            </a:r>
            <a:r>
              <a:rPr lang="zh-CN" altLang="en-US" sz="1300"/>
              <a:t>。通过我们的数据集，较低的得分意味着更丰富的数据关系，包括弱相关性、非线性模式和随机分布，从而防止模型向简单的线性趋势发展。</a:t>
            </a:r>
            <a:endParaRPr lang="zh-CN" altLang="en-US" sz="1300"/>
          </a:p>
          <a:p>
            <a:endParaRPr lang="zh-CN" altLang="en-US" sz="1300"/>
          </a:p>
          <a:p>
            <a:r>
              <a:rPr lang="en-US" altLang="zh-CN" sz="1300" b="1"/>
              <a:t>Average PMI of Top-K Label Pairs (</a:t>
            </a:r>
            <a:r>
              <a:rPr lang="en-US" altLang="en-US" sz="1300" b="1"/>
              <a:t>↓</a:t>
            </a:r>
            <a:r>
              <a:rPr lang="en-US" altLang="zh-CN" sz="1300" b="1"/>
              <a:t>)</a:t>
            </a:r>
            <a:r>
              <a:rPr lang="zh-CN" altLang="en-US" sz="1300"/>
              <a:t>：通过度量最频繁标签对之间的点互信息</a:t>
            </a:r>
            <a:r>
              <a:rPr lang="en-US" altLang="zh-CN" sz="1300"/>
              <a:t>( PMI )</a:t>
            </a:r>
            <a:r>
              <a:rPr lang="zh-CN" altLang="en-US" sz="1300"/>
              <a:t>来量化</a:t>
            </a:r>
            <a:r>
              <a:rPr lang="en-US" altLang="zh-CN" sz="1300"/>
              <a:t>"</a:t>
            </a:r>
            <a:r>
              <a:rPr lang="zh-CN" altLang="en-US" sz="1300"/>
              <a:t>隐含规律</a:t>
            </a:r>
            <a:r>
              <a:rPr lang="en-US" altLang="zh-CN" sz="1300"/>
              <a:t>"</a:t>
            </a:r>
            <a:r>
              <a:rPr lang="zh-CN" altLang="en-US" sz="1300"/>
              <a:t>的流行程度。</a:t>
            </a:r>
            <a:r>
              <a:rPr lang="zh-CN" altLang="en-US" sz="1300" b="1"/>
              <a:t>较高的</a:t>
            </a:r>
            <a:r>
              <a:rPr lang="en-US" altLang="zh-CN" sz="1300" b="1"/>
              <a:t>PMI</a:t>
            </a:r>
            <a:r>
              <a:rPr lang="zh-CN" altLang="en-US" sz="1300" b="1"/>
              <a:t>得分表明，某些标签</a:t>
            </a:r>
            <a:r>
              <a:rPr lang="en-US" altLang="zh-CN" sz="1300" b="1"/>
              <a:t>(</a:t>
            </a:r>
            <a:r>
              <a:rPr lang="zh-CN" altLang="en-US" sz="1300" b="1"/>
              <a:t>例如</a:t>
            </a:r>
            <a:r>
              <a:rPr lang="en-US" altLang="zh-CN" sz="1300" b="1"/>
              <a:t>, " 2020 "</a:t>
            </a:r>
            <a:r>
              <a:rPr lang="zh-CN" altLang="en-US" sz="1300" b="1"/>
              <a:t>和</a:t>
            </a:r>
            <a:r>
              <a:rPr lang="en-US" altLang="zh-CN" sz="1300" b="1"/>
              <a:t>" 2021 " ,</a:t>
            </a:r>
            <a:r>
              <a:rPr lang="zh-CN" altLang="en-US" sz="1300" b="1"/>
              <a:t>或者</a:t>
            </a:r>
            <a:r>
              <a:rPr lang="en-US" altLang="zh-CN" sz="1300" b="1"/>
              <a:t>"</a:t>
            </a:r>
            <a:r>
              <a:rPr lang="zh-CN" altLang="en-US" sz="1300" b="1"/>
              <a:t>美国</a:t>
            </a:r>
            <a:r>
              <a:rPr lang="en-US" altLang="zh-CN" sz="1300" b="1"/>
              <a:t>"</a:t>
            </a:r>
            <a:r>
              <a:rPr lang="zh-CN" altLang="en-US" sz="1300" b="1"/>
              <a:t>和</a:t>
            </a:r>
            <a:r>
              <a:rPr lang="en-US" altLang="zh-CN" sz="1300" b="1"/>
              <a:t>"</a:t>
            </a:r>
            <a:r>
              <a:rPr lang="zh-CN" altLang="en-US" sz="1300" b="1"/>
              <a:t>中国</a:t>
            </a:r>
            <a:r>
              <a:rPr lang="en-US" altLang="zh-CN" sz="1300" b="1"/>
              <a:t>")</a:t>
            </a:r>
            <a:r>
              <a:rPr lang="zh-CN" altLang="en-US" sz="1300" b="1"/>
              <a:t>的共现频率远远高于偶然性，产生了可预测的模式。最低的</a:t>
            </a:r>
            <a:r>
              <a:rPr lang="en-US" altLang="zh-CN" sz="1300" b="1"/>
              <a:t>PMI</a:t>
            </a:r>
            <a:r>
              <a:rPr lang="zh-CN" altLang="en-US" sz="1300" b="1"/>
              <a:t>，这表明在比较的数据集中，可预测的标签关联最少</a:t>
            </a:r>
            <a:r>
              <a:rPr lang="zh-CN" altLang="en-US" sz="1300"/>
              <a:t>。</a:t>
            </a:r>
            <a:endParaRPr lang="zh-CN" altLang="en-US" sz="1300"/>
          </a:p>
          <a:p>
            <a:pPr marL="0" indent="0">
              <a:buNone/>
            </a:pPr>
            <a:endParaRPr lang="zh-CN" altLang="en-US" sz="1300"/>
          </a:p>
        </p:txBody>
      </p:sp>
      <p:pic>
        <p:nvPicPr>
          <p:cNvPr id="4" name="图片 3"/>
          <p:cNvPicPr>
            <a:picLocks noChangeAspect="1"/>
          </p:cNvPicPr>
          <p:nvPr/>
        </p:nvPicPr>
        <p:blipFill>
          <a:blip r:embed="rId3"/>
          <a:stretch>
            <a:fillRect/>
          </a:stretch>
        </p:blipFill>
        <p:spPr>
          <a:xfrm>
            <a:off x="7092315" y="1190625"/>
            <a:ext cx="5143500" cy="2581275"/>
          </a:xfrm>
          <a:prstGeom prst="rect">
            <a:avLst/>
          </a:prstGeom>
        </p:spPr>
      </p:pic>
      <p:sp>
        <p:nvSpPr>
          <p:cNvPr id="5" name="文本框 4"/>
          <p:cNvSpPr txBox="1"/>
          <p:nvPr/>
        </p:nvSpPr>
        <p:spPr>
          <a:xfrm>
            <a:off x="7367905" y="4053840"/>
            <a:ext cx="4696460" cy="2792095"/>
          </a:xfrm>
          <a:prstGeom prst="rect">
            <a:avLst/>
          </a:prstGeom>
          <a:noFill/>
        </p:spPr>
        <p:txBody>
          <a:bodyPr wrap="square" rtlCol="0" anchor="t">
            <a:spAutoFit/>
          </a:bodyPr>
          <a:p>
            <a:pPr marL="285750" indent="-285750">
              <a:lnSpc>
                <a:spcPct val="150000"/>
              </a:lnSpc>
              <a:buFont typeface="Arial" panose="020B0604020202020204" pitchFamily="34" charset="0"/>
              <a:buChar char="•"/>
            </a:pPr>
            <a:r>
              <a:rPr lang="en-US" altLang="zh-CN" sz="1300" b="1">
                <a:solidFill>
                  <a:schemeClr val="tx1">
                    <a:lumMod val="75000"/>
                    <a:lumOff val="25000"/>
                  </a:schemeClr>
                </a:solidFill>
                <a:sym typeface="+mn-ea"/>
              </a:rPr>
              <a:t>User Study</a:t>
            </a:r>
            <a:r>
              <a:rPr lang="zh-CN" altLang="en-US" sz="1300">
                <a:solidFill>
                  <a:schemeClr val="tx1">
                    <a:lumMod val="75000"/>
                    <a:lumOff val="25000"/>
                  </a:schemeClr>
                </a:solidFill>
                <a:sym typeface="+mn-ea"/>
              </a:rPr>
              <a:t>：为了评估生成图表的视觉多样性和真实感，论文对</a:t>
            </a:r>
            <a:r>
              <a:rPr lang="en-US" altLang="zh-CN" sz="1300">
                <a:solidFill>
                  <a:schemeClr val="tx1">
                    <a:lumMod val="75000"/>
                    <a:lumOff val="25000"/>
                  </a:schemeClr>
                </a:solidFill>
                <a:sym typeface="+mn-ea"/>
              </a:rPr>
              <a:t>14</a:t>
            </a:r>
            <a:r>
              <a:rPr lang="zh-CN" altLang="en-US" sz="1300">
                <a:solidFill>
                  <a:schemeClr val="tx1">
                    <a:lumMod val="75000"/>
                    <a:lumOff val="25000"/>
                  </a:schemeClr>
                </a:solidFill>
                <a:sym typeface="+mn-ea"/>
              </a:rPr>
              <a:t>名志愿者进行了全面的用户研究。</a:t>
            </a:r>
            <a:r>
              <a:rPr lang="en-US" altLang="zh-CN" sz="1300">
                <a:solidFill>
                  <a:schemeClr val="tx1">
                    <a:lumMod val="75000"/>
                    <a:lumOff val="25000"/>
                  </a:schemeClr>
                </a:solidFill>
                <a:sym typeface="+mn-ea"/>
              </a:rPr>
              <a:t> </a:t>
            </a:r>
            <a:r>
              <a:rPr lang="zh-CN" altLang="en-US" sz="1300" b="1">
                <a:solidFill>
                  <a:schemeClr val="tx1">
                    <a:lumMod val="75000"/>
                    <a:lumOff val="25000"/>
                  </a:schemeClr>
                </a:solidFill>
                <a:sym typeface="+mn-ea"/>
              </a:rPr>
              <a:t>对于</a:t>
            </a:r>
            <a:r>
              <a:rPr lang="en-US" altLang="zh-CN" sz="1300" b="1">
                <a:solidFill>
                  <a:schemeClr val="tx1">
                    <a:lumMod val="75000"/>
                    <a:lumOff val="25000"/>
                  </a:schemeClr>
                </a:solidFill>
                <a:sym typeface="+mn-ea"/>
              </a:rPr>
              <a:t>4</a:t>
            </a:r>
            <a:r>
              <a:rPr lang="zh-CN" altLang="en-US" sz="1300" b="1">
                <a:solidFill>
                  <a:schemeClr val="tx1">
                    <a:lumMod val="75000"/>
                    <a:lumOff val="25000"/>
                  </a:schemeClr>
                </a:solidFill>
                <a:sym typeface="+mn-ea"/>
              </a:rPr>
              <a:t>个数据集</a:t>
            </a:r>
            <a:r>
              <a:rPr lang="en-US" altLang="zh-CN" sz="1300" b="1">
                <a:solidFill>
                  <a:schemeClr val="tx1">
                    <a:lumMod val="75000"/>
                    <a:lumOff val="25000"/>
                  </a:schemeClr>
                </a:solidFill>
                <a:sym typeface="+mn-ea"/>
              </a:rPr>
              <a:t>( Ours</a:t>
            </a:r>
            <a:r>
              <a:rPr lang="zh-CN" altLang="en-US" sz="1300" b="1">
                <a:solidFill>
                  <a:schemeClr val="tx1">
                    <a:lumMod val="75000"/>
                    <a:lumOff val="25000"/>
                  </a:schemeClr>
                </a:solidFill>
                <a:sym typeface="+mn-ea"/>
              </a:rPr>
              <a:t>、</a:t>
            </a:r>
            <a:r>
              <a:rPr lang="en-US" altLang="zh-CN" sz="1300" b="1">
                <a:solidFill>
                  <a:schemeClr val="tx1">
                    <a:lumMod val="75000"/>
                    <a:lumOff val="25000"/>
                  </a:schemeClr>
                </a:solidFill>
                <a:sym typeface="+mn-ea"/>
              </a:rPr>
              <a:t>Chart QA</a:t>
            </a:r>
            <a:r>
              <a:rPr lang="zh-CN" altLang="en-US" sz="1300" b="1">
                <a:solidFill>
                  <a:schemeClr val="tx1">
                    <a:lumMod val="75000"/>
                    <a:lumOff val="25000"/>
                  </a:schemeClr>
                </a:solidFill>
                <a:sym typeface="+mn-ea"/>
              </a:rPr>
              <a:t>、</a:t>
            </a:r>
            <a:r>
              <a:rPr lang="en-US" altLang="zh-CN" sz="1300" b="1">
                <a:solidFill>
                  <a:schemeClr val="tx1">
                    <a:lumMod val="75000"/>
                    <a:lumOff val="25000"/>
                  </a:schemeClr>
                </a:solidFill>
                <a:sym typeface="+mn-ea"/>
              </a:rPr>
              <a:t>Plot QA</a:t>
            </a:r>
            <a:r>
              <a:rPr lang="zh-CN" altLang="en-US" sz="1300" b="1">
                <a:solidFill>
                  <a:schemeClr val="tx1">
                    <a:lumMod val="75000"/>
                    <a:lumOff val="25000"/>
                  </a:schemeClr>
                </a:solidFill>
                <a:sym typeface="+mn-ea"/>
              </a:rPr>
              <a:t>、</a:t>
            </a:r>
            <a:r>
              <a:rPr lang="en-US" altLang="zh-CN" sz="1300" b="1">
                <a:solidFill>
                  <a:schemeClr val="tx1">
                    <a:lumMod val="75000"/>
                    <a:lumOff val="25000"/>
                  </a:schemeClr>
                </a:solidFill>
                <a:sym typeface="+mn-ea"/>
              </a:rPr>
              <a:t>Chart X)</a:t>
            </a:r>
            <a:r>
              <a:rPr lang="zh-CN" altLang="en-US" sz="1300" b="1">
                <a:solidFill>
                  <a:schemeClr val="tx1">
                    <a:lumMod val="75000"/>
                    <a:lumOff val="25000"/>
                  </a:schemeClr>
                </a:solidFill>
                <a:sym typeface="+mn-ea"/>
              </a:rPr>
              <a:t>中的每个数据集，随机选取</a:t>
            </a:r>
            <a:r>
              <a:rPr lang="en-US" altLang="zh-CN" sz="1300" b="1">
                <a:solidFill>
                  <a:schemeClr val="tx1">
                    <a:lumMod val="75000"/>
                    <a:lumOff val="25000"/>
                  </a:schemeClr>
                </a:solidFill>
                <a:sym typeface="+mn-ea"/>
              </a:rPr>
              <a:t>16</a:t>
            </a:r>
            <a:r>
              <a:rPr lang="zh-CN" altLang="en-US" sz="1300" b="1">
                <a:solidFill>
                  <a:schemeClr val="tx1">
                    <a:lumMod val="75000"/>
                    <a:lumOff val="25000"/>
                  </a:schemeClr>
                </a:solidFill>
                <a:sym typeface="+mn-ea"/>
              </a:rPr>
              <a:t>张海图图像，并将其编译成单个</a:t>
            </a:r>
            <a:r>
              <a:rPr lang="en-US" altLang="zh-CN" sz="1300" b="1">
                <a:solidFill>
                  <a:schemeClr val="tx1">
                    <a:lumMod val="75000"/>
                    <a:lumOff val="25000"/>
                  </a:schemeClr>
                </a:solidFill>
                <a:sym typeface="+mn-ea"/>
              </a:rPr>
              <a:t>4x4</a:t>
            </a:r>
            <a:r>
              <a:rPr lang="zh-CN" altLang="en-US" sz="1300" b="1">
                <a:solidFill>
                  <a:schemeClr val="tx1">
                    <a:lumMod val="75000"/>
                    <a:lumOff val="25000"/>
                  </a:schemeClr>
                </a:solidFill>
                <a:sym typeface="+mn-ea"/>
              </a:rPr>
              <a:t>网格。在呈现给一名志愿者的</a:t>
            </a:r>
            <a:r>
              <a:rPr lang="en-US" altLang="zh-CN" sz="1300" b="1">
                <a:solidFill>
                  <a:schemeClr val="tx1">
                    <a:lumMod val="75000"/>
                    <a:lumOff val="25000"/>
                  </a:schemeClr>
                </a:solidFill>
                <a:sym typeface="+mn-ea"/>
              </a:rPr>
              <a:t>50</a:t>
            </a:r>
            <a:r>
              <a:rPr lang="zh-CN" altLang="en-US" sz="1300" b="1">
                <a:solidFill>
                  <a:schemeClr val="tx1">
                    <a:lumMod val="75000"/>
                    <a:lumOff val="25000"/>
                  </a:schemeClr>
                </a:solidFill>
                <a:sym typeface="+mn-ea"/>
              </a:rPr>
              <a:t>次试验中，每一次试验都展示了并排的四个网格。然后，志愿者被要求在</a:t>
            </a:r>
            <a:r>
              <a:rPr lang="en-US" altLang="zh-CN" sz="1300" b="1">
                <a:solidFill>
                  <a:schemeClr val="tx1">
                    <a:lumMod val="75000"/>
                    <a:lumOff val="25000"/>
                  </a:schemeClr>
                </a:solidFill>
                <a:sym typeface="+mn-ea"/>
              </a:rPr>
              <a:t>4</a:t>
            </a:r>
            <a:r>
              <a:rPr lang="zh-CN" altLang="en-US" sz="1300" b="1">
                <a:solidFill>
                  <a:schemeClr val="tx1">
                    <a:lumMod val="75000"/>
                    <a:lumOff val="25000"/>
                  </a:schemeClr>
                </a:solidFill>
                <a:sym typeface="+mn-ea"/>
              </a:rPr>
              <a:t>点李克特量表</a:t>
            </a:r>
            <a:r>
              <a:rPr lang="en-US" altLang="zh-CN" sz="1300" b="1">
                <a:solidFill>
                  <a:schemeClr val="tx1">
                    <a:lumMod val="75000"/>
                    <a:lumOff val="25000"/>
                  </a:schemeClr>
                </a:solidFill>
                <a:sym typeface="+mn-ea"/>
              </a:rPr>
              <a:t>( 1</a:t>
            </a:r>
            <a:r>
              <a:rPr lang="zh-CN" altLang="en-US" sz="1300" b="1">
                <a:solidFill>
                  <a:schemeClr val="tx1">
                    <a:lumMod val="75000"/>
                    <a:lumOff val="25000"/>
                  </a:schemeClr>
                </a:solidFill>
                <a:sym typeface="+mn-ea"/>
              </a:rPr>
              <a:t>分</a:t>
            </a:r>
            <a:r>
              <a:rPr lang="en-US" altLang="zh-CN" sz="1300" b="1">
                <a:solidFill>
                  <a:schemeClr val="tx1">
                    <a:lumMod val="75000"/>
                    <a:lumOff val="25000"/>
                  </a:schemeClr>
                </a:solidFill>
                <a:sym typeface="+mn-ea"/>
              </a:rPr>
              <a:t>:</a:t>
            </a:r>
            <a:r>
              <a:rPr lang="zh-CN" altLang="en-US" sz="1300" b="1">
                <a:solidFill>
                  <a:schemeClr val="tx1">
                    <a:lumMod val="75000"/>
                    <a:lumOff val="25000"/>
                  </a:schemeClr>
                </a:solidFill>
                <a:sym typeface="+mn-ea"/>
              </a:rPr>
              <a:t>差</a:t>
            </a:r>
            <a:r>
              <a:rPr lang="en-US" altLang="zh-CN" sz="1300" b="1">
                <a:solidFill>
                  <a:schemeClr val="tx1">
                    <a:lumMod val="75000"/>
                    <a:lumOff val="25000"/>
                  </a:schemeClr>
                </a:solidFill>
                <a:sym typeface="+mn-ea"/>
              </a:rPr>
              <a:t>, 2</a:t>
            </a:r>
            <a:r>
              <a:rPr lang="zh-CN" altLang="en-US" sz="1300" b="1">
                <a:solidFill>
                  <a:schemeClr val="tx1">
                    <a:lumMod val="75000"/>
                    <a:lumOff val="25000"/>
                  </a:schemeClr>
                </a:solidFill>
                <a:sym typeface="+mn-ea"/>
              </a:rPr>
              <a:t>分</a:t>
            </a:r>
            <a:r>
              <a:rPr lang="en-US" altLang="zh-CN" sz="1300" b="1">
                <a:solidFill>
                  <a:schemeClr val="tx1">
                    <a:lumMod val="75000"/>
                    <a:lumOff val="25000"/>
                  </a:schemeClr>
                </a:solidFill>
                <a:sym typeface="+mn-ea"/>
              </a:rPr>
              <a:t>:</a:t>
            </a:r>
            <a:r>
              <a:rPr lang="zh-CN" altLang="en-US" sz="1300" b="1">
                <a:solidFill>
                  <a:schemeClr val="tx1">
                    <a:lumMod val="75000"/>
                    <a:lumOff val="25000"/>
                  </a:schemeClr>
                </a:solidFill>
                <a:sym typeface="+mn-ea"/>
              </a:rPr>
              <a:t>一般</a:t>
            </a:r>
            <a:r>
              <a:rPr lang="en-US" altLang="zh-CN" sz="1300" b="1">
                <a:solidFill>
                  <a:schemeClr val="tx1">
                    <a:lumMod val="75000"/>
                    <a:lumOff val="25000"/>
                  </a:schemeClr>
                </a:solidFill>
                <a:sym typeface="+mn-ea"/>
              </a:rPr>
              <a:t>, 3</a:t>
            </a:r>
            <a:r>
              <a:rPr lang="zh-CN" altLang="en-US" sz="1300" b="1">
                <a:solidFill>
                  <a:schemeClr val="tx1">
                    <a:lumMod val="75000"/>
                    <a:lumOff val="25000"/>
                  </a:schemeClr>
                </a:solidFill>
                <a:sym typeface="+mn-ea"/>
              </a:rPr>
              <a:t>分</a:t>
            </a:r>
            <a:r>
              <a:rPr lang="en-US" altLang="zh-CN" sz="1300" b="1">
                <a:solidFill>
                  <a:schemeClr val="tx1">
                    <a:lumMod val="75000"/>
                    <a:lumOff val="25000"/>
                  </a:schemeClr>
                </a:solidFill>
                <a:sym typeface="+mn-ea"/>
              </a:rPr>
              <a:t>:</a:t>
            </a:r>
            <a:r>
              <a:rPr lang="zh-CN" altLang="en-US" sz="1300" b="1">
                <a:solidFill>
                  <a:schemeClr val="tx1">
                    <a:lumMod val="75000"/>
                    <a:lumOff val="25000"/>
                  </a:schemeClr>
                </a:solidFill>
                <a:sym typeface="+mn-ea"/>
              </a:rPr>
              <a:t>好</a:t>
            </a:r>
            <a:r>
              <a:rPr lang="en-US" altLang="zh-CN" sz="1300" b="1">
                <a:solidFill>
                  <a:schemeClr val="tx1">
                    <a:lumMod val="75000"/>
                    <a:lumOff val="25000"/>
                  </a:schemeClr>
                </a:solidFill>
                <a:sym typeface="+mn-ea"/>
              </a:rPr>
              <a:t>, 4</a:t>
            </a:r>
            <a:r>
              <a:rPr lang="zh-CN" altLang="en-US" sz="1300" b="1">
                <a:solidFill>
                  <a:schemeClr val="tx1">
                    <a:lumMod val="75000"/>
                    <a:lumOff val="25000"/>
                  </a:schemeClr>
                </a:solidFill>
                <a:sym typeface="+mn-ea"/>
              </a:rPr>
              <a:t>分</a:t>
            </a:r>
            <a:r>
              <a:rPr lang="en-US" altLang="zh-CN" sz="1300" b="1">
                <a:solidFill>
                  <a:schemeClr val="tx1">
                    <a:lumMod val="75000"/>
                    <a:lumOff val="25000"/>
                  </a:schemeClr>
                </a:solidFill>
                <a:sym typeface="+mn-ea"/>
              </a:rPr>
              <a:t>:</a:t>
            </a:r>
            <a:r>
              <a:rPr lang="zh-CN" altLang="en-US" sz="1300" b="1">
                <a:solidFill>
                  <a:schemeClr val="tx1">
                    <a:lumMod val="75000"/>
                    <a:lumOff val="25000"/>
                  </a:schemeClr>
                </a:solidFill>
                <a:sym typeface="+mn-ea"/>
              </a:rPr>
              <a:t>优秀</a:t>
            </a:r>
            <a:r>
              <a:rPr lang="en-US" altLang="zh-CN" sz="1300" b="1">
                <a:solidFill>
                  <a:schemeClr val="tx1">
                    <a:lumMod val="75000"/>
                    <a:lumOff val="25000"/>
                  </a:schemeClr>
                </a:solidFill>
                <a:sym typeface="+mn-ea"/>
              </a:rPr>
              <a:t>)</a:t>
            </a:r>
            <a:r>
              <a:rPr lang="zh-CN" altLang="en-US" sz="1300" b="1">
                <a:solidFill>
                  <a:schemeClr val="tx1">
                    <a:lumMod val="75000"/>
                    <a:lumOff val="25000"/>
                  </a:schemeClr>
                </a:solidFill>
                <a:sym typeface="+mn-ea"/>
              </a:rPr>
              <a:t>上对每个网格的整体风格多样性和视觉质量进行评分。</a:t>
            </a:r>
            <a:r>
              <a:rPr lang="zh-CN" altLang="en-US" sz="1300">
                <a:solidFill>
                  <a:schemeClr val="tx1">
                    <a:lumMod val="75000"/>
                    <a:lumOff val="25000"/>
                  </a:schemeClr>
                </a:solidFill>
                <a:sym typeface="+mn-ea"/>
              </a:rPr>
              <a:t>在每个试验中网格的顺序是随机的，以防止位置偏倚。</a:t>
            </a:r>
            <a:endParaRPr lang="zh-CN" altLang="en-US" sz="1300">
              <a:solidFill>
                <a:schemeClr val="tx1">
                  <a:lumMod val="75000"/>
                  <a:lumOff val="25000"/>
                </a:schemeClr>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800">
                <a:sym typeface="+mn-ea"/>
              </a:rPr>
              <a:t>训练数据格式</a:t>
            </a:r>
            <a:endParaRPr lang="zh-CN" altLang="en-US" sz="2800">
              <a:sym typeface="+mn-ea"/>
            </a:endParaRPr>
          </a:p>
        </p:txBody>
      </p:sp>
      <p:sp>
        <p:nvSpPr>
          <p:cNvPr id="3" name="内容占位符 2"/>
          <p:cNvSpPr>
            <a:spLocks noGrp="1"/>
          </p:cNvSpPr>
          <p:nvPr>
            <p:ph idx="1"/>
            <p:custDataLst>
              <p:tags r:id="rId2"/>
            </p:custDataLst>
          </p:nvPr>
        </p:nvSpPr>
        <p:spPr/>
        <p:txBody>
          <a:bodyPr/>
          <a:p>
            <a:r>
              <a:rPr lang="zh-CN" altLang="en-US"/>
              <a:t>论文格式设计与</a:t>
            </a:r>
            <a:r>
              <a:rPr lang="en-US" altLang="zh-CN"/>
              <a:t>ChartVSR</a:t>
            </a:r>
            <a:r>
              <a:rPr lang="zh-CN" altLang="en-US"/>
              <a:t>的两个阶段对齐，分阶段训练模型</a:t>
            </a:r>
            <a:endParaRPr lang="zh-CN" altLang="en-US"/>
          </a:p>
          <a:p>
            <a:endParaRPr lang="zh-CN" altLang="en-US"/>
          </a:p>
          <a:p>
            <a:r>
              <a:rPr lang="en-US" altLang="zh-CN"/>
              <a:t>1. </a:t>
            </a:r>
            <a:r>
              <a:rPr lang="zh-CN" altLang="en-US"/>
              <a:t>精化阶段：构造了三种类型的训练样本：</a:t>
            </a:r>
            <a:endParaRPr lang="zh-CN" altLang="en-US"/>
          </a:p>
          <a:p>
            <a:pPr lvl="1"/>
            <a:r>
              <a:rPr lang="zh-CN" altLang="en-US"/>
              <a:t>从头开始生成位置</a:t>
            </a:r>
            <a:endParaRPr lang="zh-CN" altLang="en-US"/>
          </a:p>
          <a:p>
            <a:pPr lvl="1"/>
            <a:r>
              <a:rPr lang="zh-CN" altLang="en-US"/>
              <a:t>纠正错误的标记</a:t>
            </a:r>
            <a:r>
              <a:rPr lang="en-US" altLang="zh-CN"/>
              <a:t>( e.g. ,</a:t>
            </a:r>
            <a:r>
              <a:rPr lang="zh-CN" altLang="en-US"/>
              <a:t>缺失、移位或幻觉</a:t>
            </a:r>
            <a:r>
              <a:rPr lang="en-US" altLang="zh-CN"/>
              <a:t>)</a:t>
            </a:r>
            <a:endParaRPr lang="en-US" altLang="zh-CN"/>
          </a:p>
          <a:p>
            <a:pPr lvl="1"/>
            <a:r>
              <a:rPr lang="zh-CN" altLang="en-US"/>
              <a:t>确认正确的标记以终止精化循环</a:t>
            </a:r>
            <a:endParaRPr lang="zh-CN" altLang="en-US"/>
          </a:p>
          <a:p>
            <a:endParaRPr lang="zh-CN" altLang="en-US"/>
          </a:p>
          <a:p>
            <a:r>
              <a:rPr lang="en-US" altLang="zh-CN"/>
              <a:t>2. </a:t>
            </a:r>
            <a:r>
              <a:rPr lang="zh-CN" altLang="en-US"/>
              <a:t>解码阶段：</a:t>
            </a:r>
            <a:endParaRPr lang="zh-CN" altLang="en-US"/>
          </a:p>
          <a:p>
            <a:pPr lvl="1"/>
            <a:r>
              <a:rPr lang="zh-CN" altLang="en-US"/>
              <a:t>目标是在给定精确的视觉锚点的情况下，训练模型解析结构化数据。训练样本由原始海图图像和一组经过验证的精确像素级坐标组成。该模型的任务是将海图解析为包含数值和元数据的结构化</a:t>
            </a:r>
            <a:r>
              <a:rPr lang="en-US" altLang="zh-CN"/>
              <a:t>JSON</a:t>
            </a:r>
            <a:r>
              <a:rPr lang="zh-CN" altLang="en-US"/>
              <a:t>对象，由这些精确的视觉锚点引导。</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benchmark</a:t>
            </a:r>
            <a:endParaRPr lang="en-US" altLang="zh-CN"/>
          </a:p>
        </p:txBody>
      </p:sp>
      <p:sp>
        <p:nvSpPr>
          <p:cNvPr id="3" name="内容占位符 2"/>
          <p:cNvSpPr>
            <a:spLocks noGrp="1"/>
          </p:cNvSpPr>
          <p:nvPr>
            <p:ph idx="1"/>
            <p:custDataLst>
              <p:tags r:id="rId2"/>
            </p:custDataLst>
          </p:nvPr>
        </p:nvSpPr>
        <p:spPr/>
        <p:txBody>
          <a:bodyPr>
            <a:normAutofit fontScale="90000"/>
          </a:bodyPr>
          <a:p>
            <a:r>
              <a:rPr lang="zh-CN" altLang="en-US"/>
              <a:t>现有基准虽然现有的很多基准都与图表相关，但大多集中在图表问答任务上。仅有少数</a:t>
            </a:r>
            <a:r>
              <a:rPr lang="zh-CN" altLang="en-US" b="1">
                <a:solidFill>
                  <a:schemeClr val="tx1">
                    <a:lumMod val="75000"/>
                    <a:lumOff val="25000"/>
                  </a:schemeClr>
                </a:solidFill>
              </a:rPr>
              <a:t>包含完全注释的语法分析图表结构</a:t>
            </a:r>
            <a:r>
              <a:rPr lang="zh-CN" altLang="en-US"/>
              <a:t>，如</a:t>
            </a:r>
            <a:r>
              <a:rPr lang="en-US" altLang="zh-CN" b="1">
                <a:solidFill>
                  <a:srgbClr val="C00000"/>
                </a:solidFill>
              </a:rPr>
              <a:t>ChartQA - SE</a:t>
            </a:r>
            <a:r>
              <a:rPr lang="en-US" altLang="zh-CN" b="1"/>
              <a:t> </a:t>
            </a:r>
            <a:r>
              <a:rPr lang="en-US" altLang="zh-CN"/>
              <a:t>( Chen et al , 2024 ; Masry et al , 2022)</a:t>
            </a:r>
            <a:r>
              <a:rPr lang="zh-CN" altLang="en-US"/>
              <a:t>、</a:t>
            </a:r>
            <a:r>
              <a:rPr lang="en-US" altLang="zh-CN" b="1">
                <a:solidFill>
                  <a:srgbClr val="C00000"/>
                </a:solidFill>
              </a:rPr>
              <a:t>PlotQA - SE</a:t>
            </a:r>
            <a:r>
              <a:rPr lang="en-US" altLang="zh-CN"/>
              <a:t> ( Chen et al , 2024 ;</a:t>
            </a:r>
            <a:r>
              <a:rPr lang="zh-CN" altLang="en-US"/>
              <a:t>美沙尼等</a:t>
            </a:r>
            <a:r>
              <a:rPr lang="en-US" altLang="zh-CN"/>
              <a:t>, 2020)</a:t>
            </a:r>
            <a:r>
              <a:rPr lang="zh-CN" altLang="en-US"/>
              <a:t>和</a:t>
            </a:r>
            <a:r>
              <a:rPr lang="en-US" altLang="zh-CN" b="1">
                <a:solidFill>
                  <a:srgbClr val="C00000"/>
                </a:solidFill>
              </a:rPr>
              <a:t>ChartX - SE</a:t>
            </a:r>
            <a:r>
              <a:rPr lang="en-US" altLang="zh-CN"/>
              <a:t> ( Chen et al , 2024 ; Xia et al , 2024)</a:t>
            </a:r>
            <a:r>
              <a:rPr lang="zh-CN" altLang="en-US"/>
              <a:t>，适用于评价海图解析。</a:t>
            </a:r>
            <a:r>
              <a:rPr lang="en-US" altLang="zh-CN"/>
              <a:t>ChartQA - SE</a:t>
            </a:r>
            <a:r>
              <a:rPr lang="zh-CN" altLang="en-US"/>
              <a:t>包含了具有自然布局和视觉设计的真实世界图表；</a:t>
            </a:r>
            <a:r>
              <a:rPr lang="en-US" altLang="zh-CN"/>
              <a:t>PlotQA - SE</a:t>
            </a:r>
            <a:r>
              <a:rPr lang="zh-CN" altLang="en-US"/>
              <a:t>由从真实世界数据合成的图表组成；和</a:t>
            </a:r>
            <a:r>
              <a:rPr lang="en-US" altLang="zh-CN"/>
              <a:t>Chart X - SE</a:t>
            </a:r>
            <a:r>
              <a:rPr lang="zh-CN" altLang="en-US"/>
              <a:t>是完全合成的，使用</a:t>
            </a:r>
            <a:r>
              <a:rPr lang="en-US" altLang="zh-CN"/>
              <a:t>Matplotlib</a:t>
            </a:r>
            <a:r>
              <a:rPr lang="zh-CN" altLang="en-US"/>
              <a:t>渲染。</a:t>
            </a:r>
            <a:r>
              <a:rPr lang="en-US" altLang="zh-CN"/>
              <a:t>3</a:t>
            </a:r>
            <a:r>
              <a:rPr lang="zh-CN" altLang="en-US"/>
              <a:t>个基准均由图表问答数据集转换而来，部分基准在图表图像上有明确的数字标注。</a:t>
            </a:r>
            <a:endParaRPr lang="zh-CN" altLang="en-US"/>
          </a:p>
          <a:p>
            <a:r>
              <a:rPr lang="en-US" altLang="zh-CN" b="1">
                <a:solidFill>
                  <a:srgbClr val="C00000"/>
                </a:solidFill>
              </a:rPr>
              <a:t>ChartQA - SE - Clean</a:t>
            </a:r>
            <a:r>
              <a:rPr lang="zh-CN" altLang="en-US" b="1">
                <a:solidFill>
                  <a:srgbClr val="C00000"/>
                </a:solidFill>
              </a:rPr>
              <a:t>（</a:t>
            </a:r>
            <a:r>
              <a:rPr lang="en-US" altLang="zh-CN" b="1">
                <a:solidFill>
                  <a:srgbClr val="C00000"/>
                </a:solidFill>
              </a:rPr>
              <a:t>1509-100</a:t>
            </a:r>
            <a:r>
              <a:rPr lang="zh-CN" altLang="en-US" b="1">
                <a:solidFill>
                  <a:srgbClr val="C00000"/>
                </a:solidFill>
              </a:rPr>
              <a:t>）</a:t>
            </a:r>
            <a:r>
              <a:rPr lang="zh-CN" altLang="en-US"/>
              <a:t>。</a:t>
            </a:r>
            <a:endParaRPr lang="zh-CN" altLang="en-US"/>
          </a:p>
          <a:p>
            <a:r>
              <a:rPr lang="zh-CN" altLang="en-US"/>
              <a:t>贡献：</a:t>
            </a:r>
            <a:endParaRPr lang="zh-CN" altLang="en-US"/>
          </a:p>
          <a:p>
            <a:r>
              <a:rPr lang="zh-CN" altLang="en-US"/>
              <a:t>为了解决现有基准的局限性，我们引入</a:t>
            </a:r>
            <a:r>
              <a:rPr lang="en-US" altLang="zh-CN" b="1"/>
              <a:t>Chart P-Bench</a:t>
            </a:r>
            <a:r>
              <a:rPr lang="zh-CN" altLang="en-US"/>
              <a:t>，这是一个新的、极具挑战性的图表解析基准。我们</a:t>
            </a:r>
            <a:r>
              <a:rPr lang="zh-CN" altLang="en-US" b="1"/>
              <a:t>从多个来源对</a:t>
            </a:r>
            <a:r>
              <a:rPr lang="en-US" altLang="zh-CN" b="1"/>
              <a:t>1200</a:t>
            </a:r>
            <a:r>
              <a:rPr lang="zh-CN" altLang="en-US" b="1"/>
              <a:t>张高质量海图图像进行了人工筛选、筛选、标注和清洗</a:t>
            </a:r>
            <a:r>
              <a:rPr lang="zh-CN" altLang="en-US"/>
              <a:t>。该基准具有高难度和可视化信息密度的特点，</a:t>
            </a:r>
            <a:r>
              <a:rPr lang="zh-CN" altLang="en-US" b="1"/>
              <a:t>平均每个图表包含</a:t>
            </a:r>
            <a:r>
              <a:rPr lang="en-US" altLang="zh-CN" b="1"/>
              <a:t>20</a:t>
            </a:r>
            <a:r>
              <a:rPr lang="zh-CN" altLang="en-US" b="1"/>
              <a:t>多个数据点</a:t>
            </a:r>
            <a:r>
              <a:rPr lang="zh-CN" altLang="en-US"/>
              <a:t>。与现有数据集不同，</a:t>
            </a:r>
            <a:r>
              <a:rPr lang="en-US" altLang="zh-CN"/>
              <a:t>ChartP - Bench</a:t>
            </a:r>
            <a:r>
              <a:rPr lang="zh-CN" altLang="en-US"/>
              <a:t>进行了严格的质量控制，以确保没有注释错误，并避免文体同质性和隐含规律性等问题。</a:t>
            </a:r>
            <a:r>
              <a:rPr lang="zh-CN" altLang="en-US" b="1">
                <a:solidFill>
                  <a:srgbClr val="C00000"/>
                </a:solidFill>
              </a:rPr>
              <a:t>（通过手动选择和注释来自多个数据源的复杂图表，完成完整像素级标注（线条掩码、坐标、数值</a:t>
            </a:r>
            <a:r>
              <a:rPr lang="en-US" altLang="zh-CN" b="1">
                <a:solidFill>
                  <a:srgbClr val="C00000"/>
                </a:solidFill>
              </a:rPr>
              <a:t> JSON</a:t>
            </a:r>
            <a:r>
              <a:rPr lang="zh-CN" altLang="en-US" b="1">
                <a:solidFill>
                  <a:srgbClr val="C00000"/>
                </a:solidFill>
              </a:rPr>
              <a:t>、指代问答标签））</a:t>
            </a:r>
            <a:endParaRPr lang="zh-CN" altLang="en-US" b="1">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metric——</a:t>
            </a:r>
            <a:r>
              <a:rPr lang="en-US" altLang="zh-CN">
                <a:sym typeface="+mn-ea"/>
              </a:rPr>
              <a:t>SCRM</a:t>
            </a:r>
            <a:endParaRPr lang="en-US" altLang="zh-CN"/>
          </a:p>
        </p:txBody>
      </p:sp>
      <p:sp>
        <p:nvSpPr>
          <p:cNvPr id="3" name="内容占位符 2"/>
          <p:cNvSpPr>
            <a:spLocks noGrp="1"/>
          </p:cNvSpPr>
          <p:nvPr>
            <p:ph idx="1"/>
            <p:custDataLst>
              <p:tags r:id="rId2"/>
            </p:custDataLst>
          </p:nvPr>
        </p:nvSpPr>
        <p:spPr>
          <a:xfrm>
            <a:off x="608330" y="1490345"/>
            <a:ext cx="10968990" cy="5113020"/>
          </a:xfrm>
        </p:spPr>
        <p:txBody>
          <a:bodyPr>
            <a:normAutofit fontScale="90000" lnSpcReduction="10000"/>
          </a:bodyPr>
          <a:p>
            <a:r>
              <a:rPr lang="en-US" altLang="zh-CN"/>
              <a:t>SCRM </a:t>
            </a:r>
            <a:r>
              <a:rPr lang="zh-CN" altLang="en-US"/>
              <a:t>的对比基础不是框</a:t>
            </a:r>
            <a:r>
              <a:rPr lang="en-US" altLang="zh-CN"/>
              <a:t> / </a:t>
            </a:r>
            <a:r>
              <a:rPr lang="zh-CN" altLang="en-US"/>
              <a:t>掩码，而是图表三元组，</a:t>
            </a:r>
            <a:endParaRPr lang="zh-CN" altLang="en-US"/>
          </a:p>
          <a:p>
            <a:pPr lvl="1"/>
            <a:r>
              <a:rPr lang="zh-CN" altLang="en-US"/>
              <a:t>标准格式：</a:t>
            </a:r>
            <a:r>
              <a:rPr lang="en-US" altLang="zh-CN"/>
              <a:t> (Referring Text, X Value, Y Value)</a:t>
            </a:r>
            <a:endParaRPr lang="en-US" altLang="zh-CN"/>
          </a:p>
          <a:p>
            <a:pPr lvl="1"/>
            <a:r>
              <a:rPr lang="en-US" altLang="zh-CN"/>
              <a:t>  - Referring Text</a:t>
            </a:r>
            <a:r>
              <a:rPr lang="zh-CN" altLang="en-US"/>
              <a:t>：指代文本（图例名称，如</a:t>
            </a:r>
            <a:r>
              <a:rPr lang="en-US" altLang="zh-CN"/>
              <a:t> “2024 </a:t>
            </a:r>
            <a:r>
              <a:rPr lang="zh-CN" altLang="en-US"/>
              <a:t>年营收</a:t>
            </a:r>
            <a:r>
              <a:rPr lang="en-US" altLang="zh-CN"/>
              <a:t>”</a:t>
            </a:r>
            <a:r>
              <a:rPr lang="zh-CN" altLang="en-US"/>
              <a:t>）</a:t>
            </a:r>
            <a:endParaRPr lang="zh-CN" altLang="en-US"/>
          </a:p>
          <a:p>
            <a:pPr lvl="1"/>
            <a:r>
              <a:rPr lang="en-US" altLang="zh-CN"/>
              <a:t>  - X Value</a:t>
            </a:r>
            <a:r>
              <a:rPr lang="zh-CN" altLang="en-US"/>
              <a:t>：该数据点横轴逻辑数值</a:t>
            </a:r>
            <a:endParaRPr lang="zh-CN" altLang="en-US"/>
          </a:p>
          <a:p>
            <a:pPr lvl="1"/>
            <a:r>
              <a:rPr lang="en-US" altLang="zh-CN"/>
              <a:t>  - Y Value</a:t>
            </a:r>
            <a:r>
              <a:rPr lang="zh-CN" altLang="en-US"/>
              <a:t>：该数据点纵轴逻辑数值</a:t>
            </a:r>
            <a:endParaRPr lang="zh-CN" altLang="en-US"/>
          </a:p>
          <a:p>
            <a:r>
              <a:rPr lang="en-US" altLang="zh-CN"/>
              <a:t>SCRM</a:t>
            </a:r>
            <a:r>
              <a:rPr lang="zh-CN" altLang="en-US"/>
              <a:t>的计算流程</a:t>
            </a:r>
            <a:endParaRPr lang="zh-CN" altLang="en-US"/>
          </a:p>
          <a:p>
            <a:pPr lvl="1"/>
            <a:r>
              <a:rPr lang="en-US" altLang="zh-CN"/>
              <a:t>  1. </a:t>
            </a:r>
            <a:r>
              <a:rPr lang="zh-CN" altLang="en-US"/>
              <a:t>输入：图表原图</a:t>
            </a:r>
            <a:r>
              <a:rPr lang="en-US" altLang="zh-CN"/>
              <a:t> + </a:t>
            </a:r>
            <a:r>
              <a:rPr lang="zh-CN" altLang="en-US"/>
              <a:t>模型输出三元组集合</a:t>
            </a:r>
            <a:r>
              <a:rPr lang="en-US" altLang="zh-CN"/>
              <a:t> P + </a:t>
            </a:r>
            <a:r>
              <a:rPr lang="zh-CN" altLang="en-US"/>
              <a:t>真值三元组集合</a:t>
            </a:r>
            <a:r>
              <a:rPr lang="en-US" altLang="zh-CN"/>
              <a:t> G</a:t>
            </a:r>
            <a:r>
              <a:rPr lang="zh-CN" altLang="en-US"/>
              <a:t>；</a:t>
            </a:r>
            <a:endParaRPr lang="zh-CN" altLang="en-US"/>
          </a:p>
          <a:p>
            <a:pPr lvl="1"/>
            <a:r>
              <a:rPr lang="en-US" altLang="zh-CN"/>
              <a:t>  2. </a:t>
            </a:r>
            <a:r>
              <a:rPr lang="zh-CN" altLang="en-US"/>
              <a:t>逐条匹配：对每一组</a:t>
            </a:r>
            <a:r>
              <a:rPr lang="en-US" altLang="zh-CN"/>
              <a:t> (P,G) </a:t>
            </a:r>
            <a:r>
              <a:rPr lang="zh-CN" altLang="en-US"/>
              <a:t>三元组，先算文本相似度，再算</a:t>
            </a:r>
            <a:r>
              <a:rPr lang="en-US" altLang="zh-CN"/>
              <a:t> XY </a:t>
            </a:r>
            <a:r>
              <a:rPr lang="zh-CN" altLang="en-US"/>
              <a:t>数值相对误差；</a:t>
            </a:r>
            <a:endParaRPr lang="zh-CN" altLang="en-US"/>
          </a:p>
          <a:p>
            <a:pPr lvl="1"/>
            <a:r>
              <a:rPr lang="en-US" altLang="zh-CN"/>
              <a:t>  3. </a:t>
            </a:r>
            <a:r>
              <a:rPr lang="zh-CN" altLang="en-US"/>
              <a:t>筛选匹配对：只有同时满足文本相似度</a:t>
            </a:r>
            <a:r>
              <a:rPr lang="en-US" altLang="zh-CN"/>
              <a:t>≥Jthr</a:t>
            </a:r>
            <a:r>
              <a:rPr lang="zh-CN" altLang="en-US"/>
              <a:t>、</a:t>
            </a:r>
            <a:r>
              <a:rPr lang="en-US" altLang="zh-CN"/>
              <a:t>xy</a:t>
            </a:r>
            <a:r>
              <a:rPr lang="zh-CN" altLang="en-US"/>
              <a:t>的相对数值误差</a:t>
            </a:r>
            <a:r>
              <a:rPr lang="en-US" altLang="zh-CN"/>
              <a:t>≤ethr</a:t>
            </a:r>
            <a:r>
              <a:rPr lang="zh-CN" altLang="en-US"/>
              <a:t>的三元组才算匹配成功；</a:t>
            </a:r>
            <a:endParaRPr lang="zh-CN" altLang="en-US"/>
          </a:p>
          <a:p>
            <a:pPr lvl="1"/>
            <a:r>
              <a:rPr lang="en-US" altLang="zh-CN"/>
              <a:t>  4. </a:t>
            </a:r>
            <a:r>
              <a:rPr lang="zh-CN" altLang="en-US"/>
              <a:t>计算该图三元组</a:t>
            </a:r>
            <a:r>
              <a:rPr lang="en-US" altLang="zh-CN"/>
              <a:t> IoU</a:t>
            </a:r>
            <a:r>
              <a:rPr lang="zh-CN" altLang="en-US"/>
              <a:t>（不是像素</a:t>
            </a:r>
            <a:r>
              <a:rPr lang="en-US" altLang="zh-CN"/>
              <a:t> IoU</a:t>
            </a:r>
            <a:r>
              <a:rPr lang="zh-CN" altLang="en-US"/>
              <a:t>，是「数据三元组集合层面的交并比」）；</a:t>
            </a:r>
            <a:endParaRPr lang="zh-CN" altLang="en-US"/>
          </a:p>
          <a:p>
            <a:pPr lvl="1"/>
            <a:r>
              <a:rPr lang="en-US" altLang="zh-CN"/>
              <a:t>  5. </a:t>
            </a:r>
            <a:r>
              <a:rPr lang="zh-CN" altLang="en-US"/>
              <a:t>遍历全部</a:t>
            </a:r>
            <a:r>
              <a:rPr lang="en-US" altLang="zh-CN"/>
              <a:t> IoU </a:t>
            </a:r>
            <a:r>
              <a:rPr lang="zh-CN" altLang="en-US"/>
              <a:t>阈值，分别计算</a:t>
            </a:r>
            <a:r>
              <a:rPr lang="en-US" altLang="zh-CN"/>
              <a:t> Precision</a:t>
            </a:r>
            <a:r>
              <a:rPr lang="zh-CN" altLang="en-US"/>
              <a:t>；</a:t>
            </a:r>
            <a:endParaRPr lang="zh-CN" altLang="en-US"/>
          </a:p>
          <a:p>
            <a:pPr lvl="1"/>
            <a:r>
              <a:rPr lang="en-US" altLang="zh-CN"/>
              <a:t>  6. </a:t>
            </a:r>
            <a:r>
              <a:rPr lang="zh-CN" altLang="en-US"/>
              <a:t>所有</a:t>
            </a:r>
            <a:r>
              <a:rPr lang="en-US" altLang="zh-CN"/>
              <a:t> Precision </a:t>
            </a:r>
            <a:r>
              <a:rPr lang="zh-CN" altLang="en-US"/>
              <a:t>取平均，得到单张图</a:t>
            </a:r>
            <a:r>
              <a:rPr lang="en-US" altLang="zh-CN"/>
              <a:t> SCRM-AP</a:t>
            </a:r>
            <a:r>
              <a:rPr lang="zh-CN" altLang="en-US"/>
              <a:t>；</a:t>
            </a:r>
            <a:endParaRPr lang="zh-CN" altLang="en-US"/>
          </a:p>
          <a:p>
            <a:pPr lvl="1"/>
            <a:r>
              <a:rPr lang="en-US" altLang="zh-CN"/>
              <a:t>  7. </a:t>
            </a:r>
            <a:r>
              <a:rPr lang="zh-CN" altLang="en-US"/>
              <a:t>数据集所有图表的</a:t>
            </a:r>
            <a:r>
              <a:rPr lang="en-US" altLang="zh-CN"/>
              <a:t> AP </a:t>
            </a:r>
            <a:r>
              <a:rPr lang="zh-CN" altLang="en-US"/>
              <a:t>取平均，得到整套数据集最终</a:t>
            </a:r>
            <a:r>
              <a:rPr lang="en-US" altLang="zh-CN"/>
              <a:t> SCRM </a:t>
            </a:r>
            <a:r>
              <a:rPr lang="zh-CN" altLang="en-US"/>
              <a:t>指标。</a:t>
            </a:r>
            <a:endParaRPr lang="zh-CN" altLang="en-US"/>
          </a:p>
          <a:p>
            <a:pPr lvl="1"/>
            <a:endParaRPr lang="zh-CN" altLang="en-US"/>
          </a:p>
          <a:p>
            <a:pPr marL="457200" lvl="1" indent="0">
              <a:buNone/>
            </a:pPr>
            <a:r>
              <a:rPr lang="zh-CN" altLang="en-US">
                <a:solidFill>
                  <a:srgbClr val="FF0000"/>
                </a:solidFill>
              </a:rPr>
              <a:t>像素</a:t>
            </a:r>
            <a:r>
              <a:rPr lang="en-US" altLang="zh-CN">
                <a:solidFill>
                  <a:srgbClr val="FF0000"/>
                </a:solidFill>
              </a:rPr>
              <a:t> IoU </a:t>
            </a:r>
            <a:r>
              <a:rPr lang="zh-CN" altLang="en-US">
                <a:solidFill>
                  <a:srgbClr val="FF0000"/>
                </a:solidFill>
              </a:rPr>
              <a:t>无关：哪怕两条曲线掩码像素完全重合，只要文字</a:t>
            </a:r>
            <a:r>
              <a:rPr lang="en-US" altLang="zh-CN">
                <a:solidFill>
                  <a:srgbClr val="FF0000"/>
                </a:solidFill>
              </a:rPr>
              <a:t> / </a:t>
            </a:r>
            <a:r>
              <a:rPr lang="zh-CN" altLang="en-US">
                <a:solidFill>
                  <a:srgbClr val="FF0000"/>
                </a:solidFill>
              </a:rPr>
              <a:t>数值不匹配，</a:t>
            </a:r>
            <a:r>
              <a:rPr lang="en-US" altLang="zh-CN">
                <a:solidFill>
                  <a:srgbClr val="FF0000"/>
                </a:solidFill>
              </a:rPr>
              <a:t>SCRM </a:t>
            </a:r>
            <a:r>
              <a:rPr lang="zh-CN" altLang="en-US">
                <a:solidFill>
                  <a:srgbClr val="FF0000"/>
                </a:solidFill>
              </a:rPr>
              <a:t>的</a:t>
            </a:r>
            <a:r>
              <a:rPr lang="en-US" altLang="zh-CN">
                <a:solidFill>
                  <a:srgbClr val="FF0000"/>
                </a:solidFill>
              </a:rPr>
              <a:t> IoU </a:t>
            </a:r>
            <a:r>
              <a:rPr lang="zh-CN" altLang="en-US">
                <a:solidFill>
                  <a:srgbClr val="FF0000"/>
                </a:solidFill>
              </a:rPr>
              <a:t>依然会很低。</a:t>
            </a:r>
            <a:endParaRPr lang="zh-CN" altLang="en-US">
              <a:solidFill>
                <a:srgbClr val="FF0000"/>
              </a:solidFill>
            </a:endParaRPr>
          </a:p>
        </p:txBody>
      </p:sp>
      <p:pic>
        <p:nvPicPr>
          <p:cNvPr id="4" name="图片 3"/>
          <p:cNvPicPr>
            <a:picLocks noChangeAspect="1"/>
          </p:cNvPicPr>
          <p:nvPr/>
        </p:nvPicPr>
        <p:blipFill>
          <a:blip r:embed="rId3"/>
          <a:stretch>
            <a:fillRect/>
          </a:stretch>
        </p:blipFill>
        <p:spPr>
          <a:xfrm>
            <a:off x="6549390" y="71120"/>
            <a:ext cx="5671185" cy="22409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a:t>
            </a:r>
            <a:endParaRPr lang="zh-CN" altLang="en-US"/>
          </a:p>
        </p:txBody>
      </p:sp>
      <p:sp>
        <p:nvSpPr>
          <p:cNvPr id="3" name="内容占位符 2"/>
          <p:cNvSpPr>
            <a:spLocks noGrp="1"/>
          </p:cNvSpPr>
          <p:nvPr>
            <p:ph idx="1"/>
            <p:custDataLst>
              <p:tags r:id="rId2"/>
            </p:custDataLst>
          </p:nvPr>
        </p:nvSpPr>
        <p:spPr>
          <a:xfrm>
            <a:off x="608330" y="1599565"/>
            <a:ext cx="3806825" cy="5057775"/>
          </a:xfrm>
        </p:spPr>
        <p:txBody>
          <a:bodyPr>
            <a:normAutofit/>
          </a:bodyPr>
          <a:p>
            <a:r>
              <a:rPr lang="zh-CN" altLang="en-US" sz="1600"/>
              <a:t>在</a:t>
            </a:r>
            <a:r>
              <a:rPr lang="en-US" altLang="zh-CN" sz="1600"/>
              <a:t> ChartP-Bench </a:t>
            </a:r>
            <a:r>
              <a:rPr lang="zh-CN" altLang="en-US" sz="1600"/>
              <a:t>的</a:t>
            </a:r>
            <a:r>
              <a:rPr lang="en-US" altLang="zh-CN" sz="1600"/>
              <a:t> Easy </a:t>
            </a:r>
            <a:r>
              <a:rPr lang="zh-CN" altLang="en-US" sz="1600"/>
              <a:t>子集和</a:t>
            </a:r>
            <a:r>
              <a:rPr lang="en-US" altLang="zh-CN" sz="1600"/>
              <a:t> Hard </a:t>
            </a:r>
            <a:r>
              <a:rPr lang="zh-CN" altLang="en-US" sz="1600"/>
              <a:t>子集上，</a:t>
            </a:r>
            <a:r>
              <a:rPr lang="en-US" altLang="zh-CN" sz="1600"/>
              <a:t>ChartVSR </a:t>
            </a:r>
            <a:r>
              <a:rPr lang="zh-CN" altLang="en-US" sz="1600"/>
              <a:t>都明显优于所有竞争模型，包括最强的</a:t>
            </a:r>
            <a:r>
              <a:rPr lang="en-US" altLang="zh-CN" sz="1600"/>
              <a:t> Gemini </a:t>
            </a:r>
            <a:r>
              <a:rPr lang="zh-CN" altLang="en-US" sz="1600"/>
              <a:t>模型。由于</a:t>
            </a:r>
            <a:r>
              <a:rPr lang="en-US" altLang="zh-CN" sz="1600"/>
              <a:t> ChartVSR </a:t>
            </a:r>
            <a:r>
              <a:rPr lang="zh-CN" altLang="en-US" sz="1600"/>
              <a:t>是专门为图表解析而设计的专用模型，其性能有望超越</a:t>
            </a:r>
            <a:r>
              <a:rPr lang="en-US" altLang="zh-CN" sz="1600"/>
              <a:t> Gemini </a:t>
            </a:r>
            <a:r>
              <a:rPr lang="zh-CN" altLang="en-US" sz="1600"/>
              <a:t>等通用模型。</a:t>
            </a:r>
            <a:endParaRPr lang="zh-CN" altLang="en-US" sz="1600"/>
          </a:p>
          <a:p>
            <a:endParaRPr lang="zh-CN" altLang="en-US" sz="1600"/>
          </a:p>
          <a:p>
            <a:r>
              <a:rPr lang="en-US" altLang="zh-CN" sz="1600"/>
              <a:t>  - Easy</a:t>
            </a:r>
            <a:r>
              <a:rPr lang="zh-CN" altLang="en-US" sz="1600"/>
              <a:t>：数据点</a:t>
            </a:r>
            <a:r>
              <a:rPr lang="en-US" altLang="zh-CN" sz="1600"/>
              <a:t>≤18</a:t>
            </a:r>
            <a:r>
              <a:rPr lang="zh-CN" altLang="en-US" sz="1600"/>
              <a:t>、线条少、布局规整简单图表；</a:t>
            </a:r>
            <a:endParaRPr lang="zh-CN" altLang="en-US" sz="1600"/>
          </a:p>
          <a:p>
            <a:r>
              <a:rPr lang="en-US" altLang="zh-CN" sz="1600"/>
              <a:t>  - Hard</a:t>
            </a:r>
            <a:r>
              <a:rPr lang="zh-CN" altLang="en-US" sz="1600"/>
              <a:t>：数据点</a:t>
            </a:r>
            <a:r>
              <a:rPr lang="en-US" altLang="zh-CN" sz="1600"/>
              <a:t> &gt; 18</a:t>
            </a:r>
            <a:r>
              <a:rPr lang="zh-CN" altLang="en-US" sz="1600"/>
              <a:t>、多线条交叉、浅色细曲线、多层图例，是真实图表核心难点；</a:t>
            </a:r>
            <a:endParaRPr lang="zh-CN" altLang="en-US" sz="1600"/>
          </a:p>
        </p:txBody>
      </p:sp>
      <p:pic>
        <p:nvPicPr>
          <p:cNvPr id="4" name="图片 3"/>
          <p:cNvPicPr>
            <a:picLocks noChangeAspect="1"/>
          </p:cNvPicPr>
          <p:nvPr/>
        </p:nvPicPr>
        <p:blipFill>
          <a:blip r:embed="rId3"/>
          <a:stretch>
            <a:fillRect/>
          </a:stretch>
        </p:blipFill>
        <p:spPr>
          <a:xfrm>
            <a:off x="4415790" y="246380"/>
            <a:ext cx="7715250" cy="63627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消融</a:t>
            </a:r>
            <a:endParaRPr lang="zh-CN" altLang="en-US"/>
          </a:p>
        </p:txBody>
      </p:sp>
      <p:sp>
        <p:nvSpPr>
          <p:cNvPr id="3" name="内容占位符 2"/>
          <p:cNvSpPr>
            <a:spLocks noGrp="1"/>
          </p:cNvSpPr>
          <p:nvPr>
            <p:ph idx="1"/>
            <p:custDataLst>
              <p:tags r:id="rId2"/>
            </p:custDataLst>
          </p:nvPr>
        </p:nvSpPr>
        <p:spPr/>
        <p:txBody>
          <a:bodyPr/>
          <a:p>
            <a:r>
              <a:rPr lang="en-US" altLang="zh-CN"/>
              <a:t>  - w/o VSR &amp; w/o Pixel</a:t>
            </a:r>
            <a:r>
              <a:rPr lang="zh-CN" altLang="en-US"/>
              <a:t>：无迭代细化模块</a:t>
            </a:r>
            <a:r>
              <a:rPr lang="en-US" altLang="zh-CN"/>
              <a:t> + </a:t>
            </a:r>
            <a:r>
              <a:rPr lang="zh-CN" altLang="en-US"/>
              <a:t>无像素级视觉定位分支（最简基线，仅做全局图文问答）：即直接让</a:t>
            </a:r>
            <a:r>
              <a:rPr lang="en-US" altLang="zh-CN"/>
              <a:t>Qwen2.5-VL-3B</a:t>
            </a:r>
            <a:r>
              <a:rPr lang="zh-CN" altLang="en-US"/>
              <a:t>回答真实值</a:t>
            </a:r>
            <a:endParaRPr lang="zh-CN" altLang="en-US"/>
          </a:p>
          <a:p>
            <a:r>
              <a:rPr lang="en-US" altLang="zh-CN"/>
              <a:t>  - w/o VSR</a:t>
            </a:r>
            <a:r>
              <a:rPr lang="zh-CN" altLang="en-US"/>
              <a:t>：无迭代细化模块，但保留像素级线条分割分支：即先让</a:t>
            </a:r>
            <a:r>
              <a:rPr lang="en-US" altLang="zh-CN"/>
              <a:t>Qwen2.5-VL-3B</a:t>
            </a:r>
            <a:r>
              <a:rPr lang="zh-CN" altLang="en-US"/>
              <a:t>返回像素坐标，然后和原图一起喂给微调后的解码器，解析为包含数值和元数据的结构化</a:t>
            </a:r>
            <a:r>
              <a:rPr lang="en-US" altLang="zh-CN"/>
              <a:t>JSON</a:t>
            </a:r>
            <a:r>
              <a:rPr lang="zh-CN" altLang="en-US"/>
              <a:t>对象。</a:t>
            </a:r>
            <a:endParaRPr lang="zh-CN" altLang="en-US"/>
          </a:p>
        </p:txBody>
      </p:sp>
      <p:pic>
        <p:nvPicPr>
          <p:cNvPr id="4" name="图片 3"/>
          <p:cNvPicPr>
            <a:picLocks noChangeAspect="1"/>
          </p:cNvPicPr>
          <p:nvPr/>
        </p:nvPicPr>
        <p:blipFill>
          <a:blip r:embed="rId3"/>
          <a:stretch>
            <a:fillRect/>
          </a:stretch>
        </p:blipFill>
        <p:spPr>
          <a:xfrm>
            <a:off x="1172210" y="3365500"/>
            <a:ext cx="9918065" cy="29235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VSR</a:t>
            </a:r>
            <a:r>
              <a:rPr lang="zh-CN" altLang="en-US"/>
              <a:t>分析</a:t>
            </a:r>
            <a:endParaRPr lang="zh-CN" altLang="en-US"/>
          </a:p>
        </p:txBody>
      </p:sp>
      <p:sp>
        <p:nvSpPr>
          <p:cNvPr id="3" name="内容占位符 2"/>
          <p:cNvSpPr>
            <a:spLocks noGrp="1"/>
          </p:cNvSpPr>
          <p:nvPr>
            <p:ph idx="1"/>
            <p:custDataLst>
              <p:tags r:id="rId2"/>
            </p:custDataLst>
          </p:nvPr>
        </p:nvSpPr>
        <p:spPr>
          <a:xfrm>
            <a:off x="608330" y="4422775"/>
            <a:ext cx="10968990" cy="2105025"/>
          </a:xfrm>
        </p:spPr>
        <p:txBody>
          <a:bodyPr>
            <a:noAutofit/>
          </a:bodyPr>
          <a:p>
            <a:r>
              <a:rPr lang="en-US" altLang="zh-CN" sz="1400"/>
              <a:t>VSR </a:t>
            </a:r>
            <a:r>
              <a:rPr lang="zh-CN" altLang="en-US" sz="1400"/>
              <a:t>迭代细化的纠错能力存在收益递减特征：第一轮迭代修正缺陷的效果最强，</a:t>
            </a:r>
            <a:r>
              <a:rPr lang="zh-CN" altLang="en-US" sz="1400" b="1"/>
              <a:t>第</a:t>
            </a:r>
            <a:r>
              <a:rPr lang="en-US" altLang="zh-CN" sz="1400" b="1"/>
              <a:t> 2</a:t>
            </a:r>
            <a:r>
              <a:rPr lang="zh-CN" altLang="en-US" sz="1400" b="1"/>
              <a:t>、</a:t>
            </a:r>
            <a:r>
              <a:rPr lang="en-US" altLang="zh-CN" sz="1400" b="1"/>
              <a:t>3 </a:t>
            </a:r>
            <a:r>
              <a:rPr lang="zh-CN" altLang="en-US" sz="1400" b="1"/>
              <a:t>轮迭代能带来的优化效果大幅缩水</a:t>
            </a:r>
            <a:r>
              <a:rPr lang="zh-CN" altLang="en-US" sz="1400"/>
              <a:t>。论文认为：根源不是迭代轮次不足，而是</a:t>
            </a:r>
            <a:r>
              <a:rPr lang="zh-CN" altLang="en-US" sz="1400" b="1">
                <a:solidFill>
                  <a:srgbClr val="FF0000"/>
                </a:solidFill>
              </a:rPr>
              <a:t>模型本身视觉感知存在固有短板：</a:t>
            </a:r>
            <a:r>
              <a:rPr lang="en-US" altLang="zh-CN" sz="1400" b="1">
                <a:solidFill>
                  <a:srgbClr val="FF0000"/>
                </a:solidFill>
              </a:rPr>
              <a:t> </a:t>
            </a:r>
            <a:r>
              <a:rPr lang="zh-CN" altLang="en-US" sz="1400" b="1">
                <a:solidFill>
                  <a:srgbClr val="FF0000"/>
                </a:solidFill>
              </a:rPr>
              <a:t>这类缺陷属于极端难样本（多条曲线完全重叠、极细刻度、色块完全遮挡线条、极端失衡坐标轴），仅靠重复迭代无法让模型自主修正，存在认知盲区</a:t>
            </a:r>
            <a:r>
              <a:rPr lang="zh-CN" altLang="en-US" sz="1400"/>
              <a:t>。</a:t>
            </a:r>
            <a:endParaRPr lang="zh-CN" altLang="en-US" sz="1400"/>
          </a:p>
          <a:p>
            <a:r>
              <a:rPr lang="en-US" altLang="zh-CN" sz="1400"/>
              <a:t>VSR</a:t>
            </a:r>
            <a:r>
              <a:rPr lang="zh-CN" altLang="en-US" sz="1400"/>
              <a:t>以增加推理开销为代价来提高性能。</a:t>
            </a:r>
            <a:r>
              <a:rPr lang="en-US" altLang="zh-CN" sz="1400"/>
              <a:t>VSR</a:t>
            </a:r>
            <a:r>
              <a:rPr lang="zh-CN" altLang="en-US" sz="1400"/>
              <a:t>范式引入了额外的前向推理调用。基线模型只需要一次呼叫，而</a:t>
            </a:r>
            <a:r>
              <a:rPr lang="en-US" altLang="zh-CN" sz="1400"/>
              <a:t>VSR</a:t>
            </a:r>
            <a:r>
              <a:rPr lang="zh-CN" altLang="en-US" sz="1400"/>
              <a:t>至少需要三个</a:t>
            </a:r>
            <a:r>
              <a:rPr lang="en-US" altLang="zh-CN" sz="1400"/>
              <a:t>(</a:t>
            </a:r>
            <a:r>
              <a:rPr lang="zh-CN" altLang="en-US" sz="1400"/>
              <a:t>一个用于初始定位</a:t>
            </a:r>
            <a:r>
              <a:rPr lang="en-US" altLang="zh-CN" sz="1400"/>
              <a:t>,</a:t>
            </a:r>
            <a:r>
              <a:rPr lang="zh-CN" altLang="en-US" sz="1400"/>
              <a:t>一个用于视觉反馈确认</a:t>
            </a:r>
            <a:r>
              <a:rPr lang="en-US" altLang="zh-CN" sz="1400"/>
              <a:t>,</a:t>
            </a:r>
            <a:r>
              <a:rPr lang="zh-CN" altLang="en-US" sz="1400"/>
              <a:t>一个用于最终解码</a:t>
            </a:r>
            <a:r>
              <a:rPr lang="en-US" altLang="zh-CN" sz="1400"/>
              <a:t>)</a:t>
            </a:r>
            <a:r>
              <a:rPr lang="zh-CN" altLang="en-US" sz="1400"/>
              <a:t>。这是一种有意的权衡，类似于最近</a:t>
            </a:r>
            <a:r>
              <a:rPr lang="en-US" altLang="zh-CN" sz="1400"/>
              <a:t>"</a:t>
            </a:r>
            <a:r>
              <a:rPr lang="zh-CN" altLang="en-US" sz="1400"/>
              <a:t>思考</a:t>
            </a:r>
            <a:r>
              <a:rPr lang="en-US" altLang="zh-CN" sz="1400"/>
              <a:t>"</a:t>
            </a:r>
            <a:r>
              <a:rPr lang="zh-CN" altLang="en-US" sz="1400"/>
              <a:t>的大型语言模型</a:t>
            </a:r>
            <a:r>
              <a:rPr lang="en-US" altLang="zh-CN" sz="1400"/>
              <a:t>(</a:t>
            </a:r>
            <a:r>
              <a:rPr lang="zh-CN" altLang="en-US" sz="1400"/>
              <a:t>如</a:t>
            </a:r>
            <a:r>
              <a:rPr lang="en-US" altLang="zh-CN" sz="1400"/>
              <a:t>OpenAI o1</a:t>
            </a:r>
            <a:r>
              <a:rPr lang="zh-CN" altLang="en-US" sz="1400"/>
              <a:t>和</a:t>
            </a:r>
            <a:r>
              <a:rPr lang="en-US" altLang="zh-CN" sz="1400"/>
              <a:t>Gemini 2.5 Pro )</a:t>
            </a:r>
            <a:r>
              <a:rPr lang="zh-CN" altLang="en-US" sz="1400"/>
              <a:t>所采用的策略，在推理过程中投入更多的计算资源进行推敲和精化，以达到更高的准确性和可靠性。</a:t>
            </a:r>
            <a:endParaRPr lang="zh-CN" altLang="en-US" sz="1400"/>
          </a:p>
        </p:txBody>
      </p:sp>
      <p:pic>
        <p:nvPicPr>
          <p:cNvPr id="4" name="图片 3"/>
          <p:cNvPicPr>
            <a:picLocks noChangeAspect="1"/>
          </p:cNvPicPr>
          <p:nvPr/>
        </p:nvPicPr>
        <p:blipFill>
          <a:blip r:embed="rId3"/>
          <a:stretch>
            <a:fillRect/>
          </a:stretch>
        </p:blipFill>
        <p:spPr>
          <a:xfrm>
            <a:off x="1353820" y="1313815"/>
            <a:ext cx="8558530" cy="29794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VSR</a:t>
            </a:r>
            <a:r>
              <a:rPr lang="zh-CN" altLang="en-US"/>
              <a:t>的</a:t>
            </a:r>
            <a:r>
              <a:rPr lang="zh-CN" altLang="en-US"/>
              <a:t>通用能力</a:t>
            </a:r>
            <a:endParaRPr lang="zh-CN" altLang="en-US"/>
          </a:p>
        </p:txBody>
      </p:sp>
      <p:sp>
        <p:nvSpPr>
          <p:cNvPr id="3" name="内容占位符 2"/>
          <p:cNvSpPr>
            <a:spLocks noGrp="1"/>
          </p:cNvSpPr>
          <p:nvPr>
            <p:ph idx="1"/>
            <p:custDataLst>
              <p:tags r:id="rId2"/>
            </p:custDataLst>
          </p:nvPr>
        </p:nvSpPr>
        <p:spPr/>
        <p:txBody>
          <a:bodyPr/>
          <a:p>
            <a:r>
              <a:rPr lang="en-US" altLang="zh-CN"/>
              <a:t>VSR</a:t>
            </a:r>
            <a:r>
              <a:rPr lang="zh-CN" altLang="en-US"/>
              <a:t>是一种通用的视觉反馈范式，其应用范围已经超出了图表解析的范畴。</a:t>
            </a:r>
            <a:endParaRPr lang="zh-CN" altLang="en-US"/>
          </a:p>
          <a:p>
            <a:r>
              <a:rPr lang="en-US" altLang="zh-CN"/>
              <a:t>VSR</a:t>
            </a:r>
            <a:r>
              <a:rPr lang="zh-CN" altLang="en-US"/>
              <a:t>可以无缝地适应其他需要高保真视觉感知的任务，如</a:t>
            </a:r>
            <a:r>
              <a:rPr lang="zh-CN" altLang="en-US" b="1"/>
              <a:t>视觉计数和视觉定位</a:t>
            </a:r>
            <a:r>
              <a:rPr lang="zh-CN" altLang="en-US"/>
              <a:t>。</a:t>
            </a:r>
            <a:endParaRPr lang="zh-CN" altLang="en-US"/>
          </a:p>
          <a:p>
            <a:endParaRPr lang="zh-CN" altLang="en-US"/>
          </a:p>
          <a:p>
            <a:r>
              <a:rPr lang="zh-CN" altLang="en-US"/>
              <a:t>对于视觉计数，一个模型可以首先为所有目标对象输出像素级的定位结果。然后将这些定位在原始图像上进行可视化并反馈到模型中，使其有机会检查遗漏或多余计数等错误，然后改进其答案。</a:t>
            </a:r>
            <a:endParaRPr lang="zh-CN" altLang="en-US"/>
          </a:p>
          <a:p>
            <a:r>
              <a:rPr lang="zh-CN" altLang="en-US"/>
              <a:t>对视觉定位，因为任务的本地输出是像素坐标中的边界框。</a:t>
            </a:r>
            <a:r>
              <a:rPr lang="en-US" altLang="zh-CN"/>
              <a:t> </a:t>
            </a:r>
            <a:r>
              <a:rPr lang="zh-CN" altLang="en-US"/>
              <a:t>预测的包围盒可以直接绘制到图像上并返回到模型中，使其能够自我评估其定位是否准确，以及该包围盒是否需要进行位置或尺度的调整。在以视觉为中心的任务中，</a:t>
            </a:r>
            <a:r>
              <a:rPr lang="en-US" altLang="zh-CN"/>
              <a:t>VSR</a:t>
            </a:r>
            <a:r>
              <a:rPr lang="zh-CN" altLang="en-US"/>
              <a:t>作为自我矫正的通用工具具有巨大的潜力。</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未来</a:t>
            </a:r>
            <a:endParaRPr lang="zh-CN" altLang="en-US"/>
          </a:p>
        </p:txBody>
      </p:sp>
      <p:sp>
        <p:nvSpPr>
          <p:cNvPr id="3" name="内容占位符 2"/>
          <p:cNvSpPr>
            <a:spLocks noGrp="1"/>
          </p:cNvSpPr>
          <p:nvPr>
            <p:ph idx="1"/>
            <p:custDataLst>
              <p:tags r:id="rId2"/>
            </p:custDataLst>
          </p:nvPr>
        </p:nvSpPr>
        <p:spPr/>
        <p:txBody>
          <a:bodyPr/>
          <a:p>
            <a:r>
              <a:rPr lang="en-US" altLang="zh-CN"/>
              <a:t>Bootstrapping </a:t>
            </a:r>
            <a:r>
              <a:rPr lang="zh-CN" altLang="en-US"/>
              <a:t>自举训练策略：使用训练好的模型进行大规模推理，收集精化失败的案例，并将这些硬案例添加到训练数据中进行迭代微调。这可以潜在地增强模型在以后的回合中解决复杂错误的能力。</a:t>
            </a:r>
            <a:endParaRPr lang="zh-CN" altLang="en-US"/>
          </a:p>
          <a:p>
            <a:pPr lvl="1"/>
            <a:r>
              <a:rPr lang="en-US" altLang="zh-CN"/>
              <a:t>  1. </a:t>
            </a:r>
            <a:r>
              <a:rPr lang="zh-CN" altLang="en-US"/>
              <a:t>用当前训练完成的</a:t>
            </a:r>
            <a:r>
              <a:rPr lang="en-US" altLang="zh-CN"/>
              <a:t> ChartVSR </a:t>
            </a:r>
            <a:r>
              <a:rPr lang="zh-CN" altLang="en-US"/>
              <a:t>模型批量推理海量数据集；</a:t>
            </a:r>
            <a:endParaRPr lang="zh-CN" altLang="en-US"/>
          </a:p>
          <a:p>
            <a:pPr lvl="1"/>
            <a:r>
              <a:rPr lang="en-US" altLang="zh-CN"/>
              <a:t>  2. </a:t>
            </a:r>
            <a:r>
              <a:rPr lang="zh-CN" altLang="en-US"/>
              <a:t>专门收集迭代多轮仍无法修正的高难度坏样本；</a:t>
            </a:r>
            <a:endParaRPr lang="zh-CN" altLang="en-US"/>
          </a:p>
          <a:p>
            <a:pPr lvl="1"/>
            <a:r>
              <a:rPr lang="en-US" altLang="zh-CN"/>
              <a:t>  3. </a:t>
            </a:r>
            <a:r>
              <a:rPr lang="zh-CN" altLang="en-US"/>
              <a:t>将这类困难样本补充进训练集，二次微调模型；</a:t>
            </a:r>
            <a:endParaRPr lang="zh-CN" altLang="en-US"/>
          </a:p>
          <a:p>
            <a:pPr lvl="1"/>
            <a:r>
              <a:rPr lang="en-US" altLang="zh-CN"/>
              <a:t>  4. </a:t>
            </a:r>
            <a:r>
              <a:rPr lang="zh-CN" altLang="en-US"/>
              <a:t>预期收益：模型学习极端复杂图表特征，提升后续迭代轮次处理顽固缺陷的能力。</a:t>
            </a:r>
            <a:endParaRPr lang="zh-CN" altLang="en-US"/>
          </a:p>
          <a:p>
            <a:pPr marL="457200" lvl="1" indent="0">
              <a:buNone/>
            </a:pPr>
            <a:endParaRPr lang="zh-CN" altLang="en-US"/>
          </a:p>
          <a:p>
            <a:r>
              <a:rPr lang="zh-CN" altLang="en-US"/>
              <a:t>论文认为，</a:t>
            </a:r>
            <a:r>
              <a:rPr lang="en-US" altLang="zh-CN"/>
              <a:t>VSR</a:t>
            </a:r>
            <a:r>
              <a:rPr lang="zh-CN" altLang="en-US"/>
              <a:t>范式在其他需要精确视觉感知的任务中具有很大的潜力，例如视觉计数和视觉定位。未来的工作还可以探索提高精化过程效率的方法，或者利用精化失败作为迭代模型改进的硬缺陷。</a:t>
            </a: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5422</Words>
  <Application>WPS 演示</Application>
  <PresentationFormat>宽屏</PresentationFormat>
  <Paragraphs>142</Paragraphs>
  <Slides>17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宋体</vt:lpstr>
      <vt:lpstr>Wingdings</vt:lpstr>
      <vt:lpstr>Wingdings</vt:lpstr>
      <vt:lpstr>微软雅黑</vt:lpstr>
      <vt:lpstr>Arial Unicode MS</vt:lpstr>
      <vt:lpstr>Calibri</vt:lpstr>
      <vt:lpstr>WPS</vt:lpstr>
      <vt:lpstr>PowerPoint 演示文稿</vt:lpstr>
      <vt:lpstr>背景</vt:lpstr>
      <vt:lpstr>bad case</vt:lpstr>
      <vt:lpstr>bad case</vt:lpstr>
      <vt:lpstr>贡献</vt:lpstr>
      <vt:lpstr>方法——1.精细化阶段</vt:lpstr>
      <vt:lpstr>方法——2.解码阶段</vt:lpstr>
      <vt:lpstr>全自动图表生成引擎：参数无关通用绘图模板 + 混合配置生成器</vt:lpstr>
      <vt:lpstr>数据引擎评估指标*5</vt:lpstr>
      <vt:lpstr>训练数据格式</vt:lpstr>
      <vt:lpstr>benchmark</vt:lpstr>
      <vt:lpstr>metric——SCRM</vt:lpstr>
      <vt:lpstr>实验</vt:lpstr>
      <vt:lpstr>消融</vt:lpstr>
      <vt:lpstr>VSR分析</vt:lpstr>
      <vt:lpstr>VSR的通用能力</vt:lpstr>
      <vt:lpstr>未来</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七</cp:lastModifiedBy>
  <cp:revision>157</cp:revision>
  <dcterms:created xsi:type="dcterms:W3CDTF">2019-06-19T02:08:00Z</dcterms:created>
  <dcterms:modified xsi:type="dcterms:W3CDTF">2026-08-13T08:41:18Z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EF70419619A04984A8AB3BD435285156_11</vt:lpwstr>
  </property>
</Properties>
</file>